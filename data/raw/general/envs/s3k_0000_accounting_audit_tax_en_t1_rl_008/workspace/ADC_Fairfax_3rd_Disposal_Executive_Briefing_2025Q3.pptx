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2B2D42"/>
                </a:solidFill>
                <a:latin typeface="Aptos"/>
              </a:rPr>
              <a:t>2025 Taxable Gain Recognized ($ millions)</a:t>
            </a:r>
          </a:p>
        </c:rich>
      </c:tx>
      <c:layout/>
      <c:overlay val="0"/>
    </c:title>
    <c:autoTitleDeleted val="0"/>
    <c:plotArea>
      <c:barChart>
        <c:barDir val="bar"/>
        <c:grouping val="stacked"/>
        <c:ser>
          <c:idx val="0"/>
          <c:order val="0"/>
          <c:tx>
            <c:strRef>
              <c:f>Sheet1!$B$1</c:f>
              <c:strCache>
                <c:ptCount val="1"/>
                <c:pt idx="0">
                  <c:v>Ordinary / §751</c:v>
                </c:pt>
              </c:strCache>
            </c:strRef>
          </c:tx>
          <c:spPr>
            <a:solidFill>
              <a:srgbClr val="EF233C"/>
            </a:solidFill>
            <a:ln>
              <a:solidFill>
                <a:srgbClr val="EF233C"/>
              </a:solidFill>
            </a:ln>
          </c:spPr>
          <c:dLbls>
            <c:numFmt formatCode="0.0" sourceLinked="0"/>
            <c:txPr>
              <a:bodyPr/>
              <a:lstStyle/>
              <a:p>
                <a:pPr>
                  <a:defRPr sz="800" b="1">
                    <a:solidFill>
                      <a:srgbClr val="FFFFFF"/>
                    </a:solidFill>
                    <a:latin typeface="Aptos"/>
                  </a:defRPr>
                </a:pPr>
              </a:p>
            </c:txPr>
            <c:dLblPos val="inEnd"/>
            <c:showLegendKey val="0"/>
            <c:showVal val="0"/>
            <c:showCatName val="0"/>
            <c:showSerName val="0"/>
            <c:showPercent val="0"/>
            <c:showBubbleSize val="0"/>
            <c:showLeaderLines val="1"/>
          </c:dLbls>
          <c:cat>
            <c:strRef>
              <c:f>Sheet1!$A$2:$A$4</c:f>
              <c:strCache>
                <c:ptCount val="3"/>
                <c:pt idx="0">
                  <c:v>Direct Asset Sale</c:v>
                </c:pt>
                <c:pt idx="1">
                  <c:v>Partnership-Interest Transfer</c:v>
                </c:pt>
                <c:pt idx="2">
                  <c:v>Installment Asset Sale</c:v>
                </c:pt>
              </c:strCache>
            </c:strRef>
          </c:cat>
          <c:val>
            <c:numRef>
              <c:f>Sheet1!$B$2:$B$4</c:f>
              <c:numCache>
                <c:formatCode>General</c:formatCode>
                <c:ptCount val="3"/>
                <c:pt idx="0">
                  <c:v>1.28644</c:v>
                </c:pt>
                <c:pt idx="1">
                  <c:v>1.01176</c:v>
                </c:pt>
                <c:pt idx="2">
                  <c:v>1.28644</c:v>
                </c:pt>
              </c:numCache>
            </c:numRef>
          </c:val>
        </c:ser>
        <c:ser>
          <c:idx val="1"/>
          <c:order val="1"/>
          <c:tx>
            <c:strRef>
              <c:f>Sheet1!$C$1</c:f>
              <c:strCache>
                <c:ptCount val="1"/>
                <c:pt idx="0">
                  <c:v>Unrecaptured §1250</c:v>
                </c:pt>
              </c:strCache>
            </c:strRef>
          </c:tx>
          <c:spPr>
            <a:solidFill>
              <a:srgbClr val="8D99AE"/>
            </a:solidFill>
            <a:ln>
              <a:solidFill>
                <a:srgbClr val="8D99AE"/>
              </a:solidFill>
            </a:ln>
          </c:spPr>
          <c:dLbls>
            <c:numFmt formatCode="0.0" sourceLinked="0"/>
            <c:txPr>
              <a:bodyPr/>
              <a:lstStyle/>
              <a:p>
                <a:pPr>
                  <a:defRPr sz="800" b="1">
                    <a:solidFill>
                      <a:srgbClr val="FFFFFF"/>
                    </a:solidFill>
                    <a:latin typeface="Aptos"/>
                  </a:defRPr>
                </a:pPr>
              </a:p>
            </c:txPr>
            <c:dLblPos val="inEnd"/>
            <c:showLegendKey val="0"/>
            <c:showVal val="0"/>
            <c:showCatName val="0"/>
            <c:showSerName val="0"/>
            <c:showPercent val="0"/>
            <c:showBubbleSize val="0"/>
            <c:showLeaderLines val="1"/>
          </c:dLbls>
          <c:cat>
            <c:strRef>
              <c:f>Sheet1!$A$2:$A$4</c:f>
              <c:strCache>
                <c:ptCount val="3"/>
                <c:pt idx="0">
                  <c:v>Direct Asset Sale</c:v>
                </c:pt>
                <c:pt idx="1">
                  <c:v>Partnership-Interest Transfer</c:v>
                </c:pt>
                <c:pt idx="2">
                  <c:v>Installment Asset Sale</c:v>
                </c:pt>
              </c:strCache>
            </c:strRef>
          </c:cat>
          <c:val>
            <c:numRef>
              <c:f>Sheet1!$C$2:$C$4</c:f>
              <c:numCache>
                <c:formatCode>General</c:formatCode>
                <c:ptCount val="3"/>
                <c:pt idx="0">
                  <c:v>4.967815</c:v>
                </c:pt>
                <c:pt idx="1">
                  <c:v>0</c:v>
                </c:pt>
                <c:pt idx="2">
                  <c:v>0</c:v>
                </c:pt>
              </c:numCache>
            </c:numRef>
          </c:val>
        </c:ser>
        <c:ser>
          <c:idx val="2"/>
          <c:order val="2"/>
          <c:tx>
            <c:strRef>
              <c:f>Sheet1!$D$1</c:f>
              <c:strCache>
                <c:ptCount val="1"/>
                <c:pt idx="0">
                  <c:v>Residual §1231 / §741</c:v>
                </c:pt>
              </c:strCache>
            </c:strRef>
          </c:tx>
          <c:spPr>
            <a:solidFill>
              <a:srgbClr val="2B2D42"/>
            </a:solidFill>
            <a:ln>
              <a:solidFill>
                <a:srgbClr val="2B2D42"/>
              </a:solidFill>
            </a:ln>
          </c:spPr>
          <c:dLbls>
            <c:numFmt formatCode="0.0" sourceLinked="0"/>
            <c:txPr>
              <a:bodyPr/>
              <a:lstStyle/>
              <a:p>
                <a:pPr>
                  <a:defRPr sz="800" b="1">
                    <a:solidFill>
                      <a:srgbClr val="FFFFFF"/>
                    </a:solidFill>
                    <a:latin typeface="Aptos"/>
                  </a:defRPr>
                </a:pPr>
              </a:p>
            </c:txPr>
            <c:dLblPos val="inEnd"/>
            <c:showLegendKey val="0"/>
            <c:showVal val="0"/>
            <c:showCatName val="0"/>
            <c:showSerName val="0"/>
            <c:showPercent val="0"/>
            <c:showBubbleSize val="0"/>
            <c:showLeaderLines val="1"/>
          </c:dLbls>
          <c:cat>
            <c:strRef>
              <c:f>Sheet1!$A$2:$A$4</c:f>
              <c:strCache>
                <c:ptCount val="3"/>
                <c:pt idx="0">
                  <c:v>Direct Asset Sale</c:v>
                </c:pt>
                <c:pt idx="1">
                  <c:v>Partnership-Interest Transfer</c:v>
                </c:pt>
                <c:pt idx="2">
                  <c:v>Installment Asset Sale</c:v>
                </c:pt>
              </c:strCache>
            </c:strRef>
          </c:cat>
          <c:val>
            <c:numRef>
              <c:f>Sheet1!$D$2:$D$4</c:f>
              <c:numCache>
                <c:formatCode>General</c:formatCode>
                <c:ptCount val="3"/>
                <c:pt idx="0">
                  <c:v>8.56708</c:v>
                </c:pt>
                <c:pt idx="1">
                  <c:v>14.459672</c:v>
                </c:pt>
                <c:pt idx="2">
                  <c:v>0</c:v>
                </c:pt>
              </c:numCache>
            </c:numRef>
          </c:val>
        </c:ser>
        <c:ser>
          <c:idx val="3"/>
          <c:order val="3"/>
          <c:tx>
            <c:strRef>
              <c:f>Sheet1!$E$1</c:f>
              <c:strCache>
                <c:ptCount val="1"/>
                <c:pt idx="0">
                  <c:v>Eligible installment gain</c:v>
                </c:pt>
              </c:strCache>
            </c:strRef>
          </c:tx>
          <c:spPr>
            <a:solidFill>
              <a:srgbClr val="D90429"/>
            </a:solidFill>
            <a:ln>
              <a:solidFill>
                <a:srgbClr val="D90429"/>
              </a:solidFill>
            </a:ln>
          </c:spPr>
          <c:dLbls>
            <c:numFmt formatCode="0.0" sourceLinked="0"/>
            <c:txPr>
              <a:bodyPr/>
              <a:lstStyle/>
              <a:p>
                <a:pPr>
                  <a:defRPr sz="800" b="1">
                    <a:solidFill>
                      <a:srgbClr val="FFFFFF"/>
                    </a:solidFill>
                    <a:latin typeface="Aptos"/>
                  </a:defRPr>
                </a:pPr>
              </a:p>
            </c:txPr>
            <c:dLblPos val="inEnd"/>
            <c:showLegendKey val="0"/>
            <c:showVal val="0"/>
            <c:showCatName val="0"/>
            <c:showSerName val="0"/>
            <c:showPercent val="0"/>
            <c:showBubbleSize val="0"/>
            <c:showLeaderLines val="1"/>
          </c:dLbls>
          <c:cat>
            <c:strRef>
              <c:f>Sheet1!$A$2:$A$4</c:f>
              <c:strCache>
                <c:ptCount val="3"/>
                <c:pt idx="0">
                  <c:v>Direct Asset Sale</c:v>
                </c:pt>
                <c:pt idx="1">
                  <c:v>Partnership-Interest Transfer</c:v>
                </c:pt>
                <c:pt idx="2">
                  <c:v>Installment Asset Sale</c:v>
                </c:pt>
              </c:strCache>
            </c:strRef>
          </c:cat>
          <c:val>
            <c:numRef>
              <c:f>Sheet1!$E$2:$E$4</c:f>
              <c:numCache>
                <c:formatCode>General</c:formatCode>
                <c:ptCount val="3"/>
                <c:pt idx="0">
                  <c:v>0</c:v>
                </c:pt>
                <c:pt idx="1">
                  <c:v>0</c:v>
                </c:pt>
                <c:pt idx="2">
                  <c:v>3.38372375</c:v>
                </c:pt>
              </c:numCache>
            </c:numRef>
          </c:val>
        </c:ser>
        <c:overlap val="100"/>
        <c:axId val="-2068027336"/>
        <c:axId val="-2113994440"/>
      </c:barChart>
      <c:catAx>
        <c:axId val="-2068027336"/>
        <c:scaling>
          <c:orientation val="minMax"/>
        </c:scaling>
        <c:delete val="0"/>
        <c:axPos val="l"/>
        <c:majorTickMark val="out"/>
        <c:minorTickMark val="none"/>
        <c:tickLblPos val="nextTo"/>
        <c:spPr>
          <a:ln>
            <a:solidFill>
              <a:srgbClr val="CDD4DA"/>
            </a:solidFill>
          </a:ln>
        </c:spPr>
        <c:txPr>
          <a:bodyPr/>
          <a:lstStyle/>
          <a:p>
            <a:pPr>
              <a:defRPr sz="900">
                <a:solidFill>
                  <a:srgbClr val="202230"/>
                </a:solidFill>
                <a:latin typeface="Aptos"/>
              </a:defRPr>
            </a:pPr>
          </a:p>
        </c:txPr>
        <c:crossAx val="-2113994440"/>
        <c:crosses val="autoZero"/>
        <c:auto val="1"/>
        <c:lblAlgn val="ctr"/>
        <c:lblOffset val="100"/>
        <c:noMultiLvlLbl val="0"/>
      </c:catAx>
      <c:valAx>
        <c:axId val="-2113994440"/>
        <c:scaling>
          <c:max val="18.0"/>
          <c:min val="0.0"/>
        </c:scaling>
        <c:delete val="0"/>
        <c:axPos val="b"/>
        <c:majorGridlines>
          <c:spPr>
            <a:ln>
              <a:solidFill>
                <a:srgbClr val="CDD4DA"/>
              </a:solidFill>
            </a:ln>
          </c:spPr>
        </c:majorGridlines>
        <c:majorTickMark val="out"/>
        <c:minorTickMark val="none"/>
        <c:tickLblPos val="nextTo"/>
        <c:spPr>
          <a:ln>
            <a:solidFill>
              <a:srgbClr val="CDD4DA"/>
            </a:solidFill>
          </a:ln>
        </c:spPr>
        <c:txPr>
          <a:bodyPr/>
          <a:lstStyle/>
          <a:p>
            <a:pPr>
              <a:defRPr sz="800">
                <a:solidFill>
                  <a:srgbClr val="60697A"/>
                </a:solidFill>
                <a:latin typeface="Aptos"/>
              </a:defRPr>
            </a:pPr>
          </a:p>
        </c:txPr>
        <c:crossAx val="-2068027336"/>
        <c:crosses val="autoZero"/>
        <c:majorUnit val="5.0"/>
      </c:valAx>
    </c:plotArea>
    <c:legend>
      <c:legendPos val="b"/>
      <c:overlay val="0"/>
      <c:txPr>
        <a:bodyPr/>
        <a:lstStyle/>
        <a:p>
          <a:pPr>
            <a:defRPr sz="800">
              <a:latin typeface="Aptos"/>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2B2D42"/>
                </a:solidFill>
                <a:latin typeface="Aptos"/>
              </a:rPr>
              <a:t>Modeled Principal and Eligible Gain Recognition by Tax Year ($ millions)</a:t>
            </a:r>
          </a:p>
        </c:rich>
      </c:tx>
      <c:layout/>
      <c:overlay val="0"/>
    </c:title>
    <c:autoTitleDeleted val="0"/>
    <c:plotArea>
      <c:barChart>
        <c:barDir val="col"/>
        <c:grouping val="clustered"/>
        <c:ser>
          <c:idx val="0"/>
          <c:order val="0"/>
          <c:tx>
            <c:strRef>
              <c:f>Sheet1!$B$1</c:f>
              <c:strCache>
                <c:ptCount val="1"/>
                <c:pt idx="0">
                  <c:v>Principal receipts</c:v>
                </c:pt>
              </c:strCache>
            </c:strRef>
          </c:tx>
          <c:spPr>
            <a:solidFill>
              <a:srgbClr val="8D99AE"/>
            </a:solidFill>
            <a:ln>
              <a:solidFill>
                <a:srgbClr val="8D99AE"/>
              </a:solidFill>
            </a:ln>
          </c:spPr>
          <c:dLbls>
            <c:numFmt formatCode="0.0" sourceLinked="0"/>
            <c:txPr>
              <a:bodyPr/>
              <a:lstStyle/>
              <a:p>
                <a:pPr>
                  <a:defRPr sz="800" b="1">
                    <a:solidFill>
                      <a:srgbClr val="2B2D42"/>
                    </a:solidFill>
                    <a:latin typeface="Aptos"/>
                  </a:defRPr>
                </a:pPr>
              </a:p>
            </c:txPr>
            <c:dLblPos val="outEnd"/>
            <c:showLegendKey val="0"/>
            <c:showVal val="0"/>
            <c:showCatName val="0"/>
            <c:showSerName val="0"/>
            <c:showPercent val="0"/>
            <c:showBubbleSize val="0"/>
            <c:showLeaderLines val="1"/>
          </c:dLbls>
          <c:cat>
            <c:strRef>
              <c:f>Sheet1!$A$2:$A$6</c:f>
              <c:strCache>
                <c:ptCount val="5"/>
                <c:pt idx="0">
                  <c:v>2025</c:v>
                </c:pt>
                <c:pt idx="1">
                  <c:v>2026</c:v>
                </c:pt>
                <c:pt idx="2">
                  <c:v>2027</c:v>
                </c:pt>
                <c:pt idx="3">
                  <c:v>2028</c:v>
                </c:pt>
                <c:pt idx="4">
                  <c:v>2029</c:v>
                </c:pt>
              </c:strCache>
            </c:strRef>
          </c:cat>
          <c:val>
            <c:numRef>
              <c:f>Sheet1!$B$2:$B$6</c:f>
              <c:numCache>
                <c:formatCode>General</c:formatCode>
                <c:ptCount val="5"/>
                <c:pt idx="0">
                  <c:v>7.18375</c:v>
                </c:pt>
                <c:pt idx="1">
                  <c:v>5.3878125</c:v>
                </c:pt>
                <c:pt idx="2">
                  <c:v>5.3878125</c:v>
                </c:pt>
                <c:pt idx="3">
                  <c:v>5.3878125</c:v>
                </c:pt>
                <c:pt idx="4">
                  <c:v>5.3878125</c:v>
                </c:pt>
              </c:numCache>
            </c:numRef>
          </c:val>
        </c:ser>
        <c:ser>
          <c:idx val="1"/>
          <c:order val="1"/>
          <c:tx>
            <c:strRef>
              <c:f>Sheet1!$C$1</c:f>
              <c:strCache>
                <c:ptCount val="1"/>
                <c:pt idx="0">
                  <c:v>Eligible gain recognized</c:v>
                </c:pt>
              </c:strCache>
            </c:strRef>
          </c:tx>
          <c:spPr>
            <a:solidFill>
              <a:srgbClr val="D90429"/>
            </a:solidFill>
            <a:ln>
              <a:solidFill>
                <a:srgbClr val="D90429"/>
              </a:solidFill>
            </a:ln>
          </c:spPr>
          <c:dLbls>
            <c:numFmt formatCode="0.0" sourceLinked="0"/>
            <c:txPr>
              <a:bodyPr/>
              <a:lstStyle/>
              <a:p>
                <a:pPr>
                  <a:defRPr sz="800" b="1">
                    <a:solidFill>
                      <a:srgbClr val="2B2D42"/>
                    </a:solidFill>
                    <a:latin typeface="Aptos"/>
                  </a:defRPr>
                </a:pPr>
              </a:p>
            </c:txPr>
            <c:dLblPos val="outEnd"/>
            <c:showLegendKey val="0"/>
            <c:showVal val="0"/>
            <c:showCatName val="0"/>
            <c:showSerName val="0"/>
            <c:showPercent val="0"/>
            <c:showBubbleSize val="0"/>
            <c:showLeaderLines val="1"/>
          </c:dLbls>
          <c:cat>
            <c:strRef>
              <c:f>Sheet1!$A$2:$A$6</c:f>
              <c:strCache>
                <c:ptCount val="5"/>
                <c:pt idx="0">
                  <c:v>2025</c:v>
                </c:pt>
                <c:pt idx="1">
                  <c:v>2026</c:v>
                </c:pt>
                <c:pt idx="2">
                  <c:v>2027</c:v>
                </c:pt>
                <c:pt idx="3">
                  <c:v>2028</c:v>
                </c:pt>
                <c:pt idx="4">
                  <c:v>2029</c:v>
                </c:pt>
              </c:strCache>
            </c:strRef>
          </c:cat>
          <c:val>
            <c:numRef>
              <c:f>Sheet1!$C$2:$C$6</c:f>
              <c:numCache>
                <c:formatCode>General</c:formatCode>
                <c:ptCount val="5"/>
                <c:pt idx="0">
                  <c:v>3.38372375</c:v>
                </c:pt>
                <c:pt idx="1">
                  <c:v>2.53779281</c:v>
                </c:pt>
                <c:pt idx="2">
                  <c:v>2.53779281</c:v>
                </c:pt>
                <c:pt idx="3">
                  <c:v>2.53779281</c:v>
                </c:pt>
                <c:pt idx="4">
                  <c:v>2.53779282</c:v>
                </c:pt>
              </c:numCache>
            </c:numRef>
          </c:val>
        </c:ser>
        <c:axId val="-2068027336"/>
        <c:axId val="-2113994440"/>
      </c:barChart>
      <c:catAx>
        <c:axId val="-2068027336"/>
        <c:scaling>
          <c:orientation val="minMax"/>
        </c:scaling>
        <c:delete val="0"/>
        <c:axPos val="b"/>
        <c:majorTickMark val="out"/>
        <c:minorTickMark val="none"/>
        <c:tickLblPos val="nextTo"/>
        <c:spPr>
          <a:ln>
            <a:solidFill>
              <a:srgbClr val="CDD4DA"/>
            </a:solidFill>
          </a:ln>
        </c:spPr>
        <c:txPr>
          <a:bodyPr/>
          <a:lstStyle/>
          <a:p>
            <a:pPr>
              <a:defRPr sz="900">
                <a:solidFill>
                  <a:srgbClr val="202230"/>
                </a:solidFill>
                <a:latin typeface="Aptos"/>
              </a:defRPr>
            </a:pPr>
          </a:p>
        </c:txPr>
        <c:crossAx val="-2113994440"/>
        <c:crosses val="autoZero"/>
        <c:auto val="1"/>
        <c:lblAlgn val="ctr"/>
        <c:lblOffset val="100"/>
        <c:noMultiLvlLbl val="0"/>
      </c:catAx>
      <c:valAx>
        <c:axId val="-2113994440"/>
        <c:scaling/>
        <c:delete val="0"/>
        <c:axPos val="l"/>
        <c:majorGridlines>
          <c:spPr>
            <a:ln>
              <a:solidFill>
                <a:srgbClr val="CDD4DA"/>
              </a:solidFill>
            </a:ln>
          </c:spPr>
        </c:majorGridlines>
        <c:majorTickMark val="out"/>
        <c:minorTickMark val="none"/>
        <c:tickLblPos val="nextTo"/>
        <c:spPr>
          <a:ln>
            <a:solidFill>
              <a:srgbClr val="CDD4DA"/>
            </a:solidFill>
          </a:ln>
        </c:spPr>
        <c:txPr>
          <a:bodyPr/>
          <a:lstStyle/>
          <a:p>
            <a:pPr>
              <a:defRPr sz="800">
                <a:solidFill>
                  <a:srgbClr val="60697A"/>
                </a:solidFill>
                <a:latin typeface="Aptos"/>
              </a:defRPr>
            </a:pPr>
          </a:p>
        </c:txPr>
        <c:crossAx val="-2068027336"/>
        <c:crosses val="autoZero"/>
      </c:valAx>
    </c:plotArea>
    <c:legend>
      <c:legendPos val="b"/>
      <c:overlay val="0"/>
      <c:txPr>
        <a:bodyPr/>
        <a:lstStyle/>
        <a:p>
          <a:pPr>
            <a:defRPr sz="800">
              <a:latin typeface="Aptos"/>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2B2D42"/>
                </a:solidFill>
                <a:latin typeface="Aptos"/>
              </a:rPr>
              <a:t>Weighted Structure Score (100 = Best)</a:t>
            </a:r>
          </a:p>
        </c:rich>
      </c:tx>
      <c:layout/>
      <c:overlay val="0"/>
    </c:title>
    <c:autoTitleDeleted val="0"/>
    <c:plotArea>
      <c:barChart>
        <c:barDir val="bar"/>
        <c:grouping val="clustered"/>
        <c:ser>
          <c:idx val="0"/>
          <c:order val="0"/>
          <c:tx>
            <c:strRef>
              <c:f>Sheet1!$B$1</c:f>
              <c:strCache>
                <c:ptCount val="1"/>
                <c:pt idx="0">
                  <c:v>Weighted score</c:v>
                </c:pt>
              </c:strCache>
            </c:strRef>
          </c:tx>
          <c:spPr>
            <a:solidFill>
              <a:srgbClr val="D90429"/>
            </a:solidFill>
            <a:ln>
              <a:solidFill>
                <a:srgbClr val="D90429"/>
              </a:solidFill>
            </a:ln>
          </c:spPr>
          <c:dLbls>
            <c:numFmt formatCode="0" sourceLinked="0"/>
            <c:txPr>
              <a:bodyPr/>
              <a:lstStyle/>
              <a:p>
                <a:pPr>
                  <a:defRPr sz="800" b="1">
                    <a:solidFill>
                      <a:srgbClr val="2B2D42"/>
                    </a:solidFill>
                    <a:latin typeface="Aptos"/>
                  </a:defRPr>
                </a:pPr>
              </a:p>
            </c:txPr>
            <c:dLblPos val="inEnd"/>
            <c:showLegendKey val="0"/>
            <c:showVal val="0"/>
            <c:showCatName val="0"/>
            <c:showSerName val="0"/>
            <c:showPercent val="0"/>
            <c:showBubbleSize val="0"/>
            <c:showLeaderLines val="1"/>
          </c:dLbls>
          <c:cat>
            <c:strRef>
              <c:f>Sheet1!$A$2:$A$4</c:f>
              <c:strCache>
                <c:ptCount val="3"/>
                <c:pt idx="0">
                  <c:v>Installment Asset Sale</c:v>
                </c:pt>
                <c:pt idx="1">
                  <c:v>Direct Asset Sale</c:v>
                </c:pt>
                <c:pt idx="2">
                  <c:v>Partnership-Interest Transfer</c:v>
                </c:pt>
              </c:strCache>
            </c:strRef>
          </c:cat>
          <c:val>
            <c:numRef>
              <c:f>Sheet1!$B$2:$B$4</c:f>
              <c:numCache>
                <c:formatCode>General</c:formatCode>
                <c:ptCount val="3"/>
                <c:pt idx="0">
                  <c:v>78</c:v>
                </c:pt>
                <c:pt idx="1">
                  <c:v>72</c:v>
                </c:pt>
                <c:pt idx="2">
                  <c:v>49</c:v>
                </c:pt>
              </c:numCache>
            </c:numRef>
          </c:val>
        </c:ser>
        <c:axId val="-2068027336"/>
        <c:axId val="-2113994440"/>
      </c:barChart>
      <c:catAx>
        <c:axId val="-2068027336"/>
        <c:scaling>
          <c:orientation val="minMax"/>
        </c:scaling>
        <c:delete val="0"/>
        <c:axPos val="l"/>
        <c:majorTickMark val="out"/>
        <c:minorTickMark val="none"/>
        <c:tickLblPos val="nextTo"/>
        <c:spPr>
          <a:ln>
            <a:solidFill>
              <a:srgbClr val="CDD4DA"/>
            </a:solidFill>
          </a:ln>
        </c:spPr>
        <c:txPr>
          <a:bodyPr/>
          <a:lstStyle/>
          <a:p>
            <a:pPr>
              <a:defRPr sz="900">
                <a:solidFill>
                  <a:srgbClr val="202230"/>
                </a:solidFill>
                <a:latin typeface="Aptos"/>
              </a:defRPr>
            </a:pPr>
          </a:p>
        </c:txPr>
        <c:crossAx val="-2113994440"/>
        <c:crosses val="autoZero"/>
        <c:auto val="1"/>
        <c:lblAlgn val="ctr"/>
        <c:lblOffset val="100"/>
        <c:noMultiLvlLbl val="0"/>
      </c:catAx>
      <c:valAx>
        <c:axId val="-2113994440"/>
        <c:scaling>
          <c:max val="100.0"/>
          <c:min val="0.0"/>
        </c:scaling>
        <c:delete val="0"/>
        <c:axPos val="b"/>
        <c:majorGridlines>
          <c:spPr>
            <a:ln>
              <a:solidFill>
                <a:srgbClr val="CDD4DA"/>
              </a:solidFill>
            </a:ln>
          </c:spPr>
        </c:majorGridlines>
        <c:majorTickMark val="out"/>
        <c:minorTickMark val="none"/>
        <c:tickLblPos val="nextTo"/>
        <c:spPr>
          <a:ln>
            <a:solidFill>
              <a:srgbClr val="CDD4DA"/>
            </a:solidFill>
          </a:ln>
        </c:spPr>
        <c:txPr>
          <a:bodyPr/>
          <a:lstStyle/>
          <a:p>
            <a:pPr>
              <a:defRPr sz="800">
                <a:solidFill>
                  <a:srgbClr val="60697A"/>
                </a:solidFill>
                <a:latin typeface="Aptos"/>
              </a:defRPr>
            </a:pPr>
          </a:p>
        </c:txPr>
        <c:crossAx val="-2068027336"/>
        <c:crosses val="autoZero"/>
        <c:majorUnit val="2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decision requested: authorize negotiation of the installment asset-sale structure while preserving the all-cash asset sale as the executable fallback.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discussion focused on year-of-sale recognition, cash-tax timing, documentary transfer tax, credit exposure, and execution certainty.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page. The comparison holds headline consideration constant so that differences reflect tax structure rather than price.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basis schedule reflects depreciation allowed or allowable. Final basis remains subject to fixed-asset ledger tie-out, but the open items are not expected to alter the structure ranking.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68% reduction compares recognized gain, not estimated tax expense. Interest on the seller note is excluded from gain and reported separately as earned.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the fallback because it offers full proceeds at closing, no collection risk, and the simplest federal and California reporting path.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describe the equity structure as eliminating recapture. Section 751 can recharacterize gain attributable to hot assets, and the Los Angeles declaration specifically asks when more than 50% ownership control was obtained.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installment sale requires at least one payment after the tax year of sale. The method cannot defer the modeled recapture amount. California withholding on principal payments must be released by FTB approval or performed compliantly.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countywide rate is $1.10 per $1,000 and the City of Los Angeles adds $4.50 per $1,000. Existing liens remaining would reduce the measure, but none are assumed in this model.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installment score assumes commercially acceptable collateral and buyer solvency. If those conditions fail, the direct sale becomes the preferred executable structure.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approved recommendation verbatim. Authority does not extend to an unsecured seller note or to material weakening of payment covenants without returning to the Investment Committee.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DF2F4"/>
        </a:solidFill>
        <a:effectLst/>
      </p:bgPr>
    </p:bg>
    <p:spTree>
      <p:nvGrpSpPr>
        <p:cNvPr id="1" name=""/>
        <p:cNvGrpSpPr/>
        <p:nvPr/>
      </p:nvGrpSpPr>
      <p:grpSpPr/>
      <p:sp>
        <p:nvSpPr>
          <p:cNvPr id="2" name="Rectangle 1"/>
          <p:cNvSpPr/>
          <p:nvPr/>
        </p:nvSpPr>
        <p:spPr>
          <a:xfrm>
            <a:off x="0" y="0"/>
            <a:ext cx="4800600" cy="6858000"/>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00600" y="0"/>
            <a:ext cx="100584" cy="6858000"/>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502920"/>
            <a:ext cx="777240" cy="310896"/>
          </a:xfrm>
          <a:prstGeom prst="rect">
            <a:avLst/>
          </a:prstGeom>
          <a:noFill/>
        </p:spPr>
        <p:txBody>
          <a:bodyPr wrap="square" lIns="0" rIns="0" tIns="0" bIns="0" anchor="t">
            <a:spAutoFit/>
          </a:bodyPr>
          <a:lstStyle/>
          <a:p>
            <a:pPr algn="l">
              <a:spcAft>
                <a:spcPts val="0"/>
              </a:spcAft>
            </a:pPr>
            <a:r>
              <a:rPr sz="1800" b="1" i="0">
                <a:solidFill>
                  <a:srgbClr val="FFFFFF"/>
                </a:solidFill>
                <a:latin typeface="Aptos Display Semibold"/>
              </a:rPr>
              <a:t>ADC</a:t>
            </a:r>
          </a:p>
        </p:txBody>
      </p:sp>
      <p:sp>
        <p:nvSpPr>
          <p:cNvPr id="5" name="TextBox 4"/>
          <p:cNvSpPr txBox="1"/>
          <p:nvPr/>
        </p:nvSpPr>
        <p:spPr>
          <a:xfrm>
            <a:off x="1417320" y="557784"/>
            <a:ext cx="2651760" cy="201168"/>
          </a:xfrm>
          <a:prstGeom prst="rect">
            <a:avLst/>
          </a:prstGeom>
          <a:noFill/>
        </p:spPr>
        <p:txBody>
          <a:bodyPr wrap="square" lIns="0" rIns="0" tIns="0" bIns="0" anchor="t">
            <a:spAutoFit/>
          </a:bodyPr>
          <a:lstStyle/>
          <a:p>
            <a:pPr algn="l">
              <a:spcAft>
                <a:spcPts val="0"/>
              </a:spcAft>
            </a:pPr>
            <a:r>
              <a:rPr sz="950" b="1" i="0">
                <a:solidFill>
                  <a:srgbClr val="EDF2F4"/>
                </a:solidFill>
                <a:latin typeface="Aptos"/>
              </a:rPr>
              <a:t>AGREE REALTY CORPORATION</a:t>
            </a:r>
          </a:p>
        </p:txBody>
      </p:sp>
      <p:sp>
        <p:nvSpPr>
          <p:cNvPr id="6" name="TextBox 5"/>
          <p:cNvSpPr txBox="1"/>
          <p:nvPr/>
        </p:nvSpPr>
        <p:spPr>
          <a:xfrm>
            <a:off x="566928" y="1463040"/>
            <a:ext cx="3657600" cy="1938528"/>
          </a:xfrm>
          <a:prstGeom prst="rect">
            <a:avLst/>
          </a:prstGeom>
          <a:noFill/>
        </p:spPr>
        <p:txBody>
          <a:bodyPr wrap="square" lIns="0" rIns="0" tIns="0" bIns="0" anchor="t">
            <a:spAutoFit/>
          </a:bodyPr>
          <a:lstStyle/>
          <a:p>
            <a:pPr algn="l">
              <a:spcAft>
                <a:spcPts val="0"/>
              </a:spcAft>
            </a:pPr>
            <a:r>
              <a:rPr sz="3100" b="1" i="0">
                <a:solidFill>
                  <a:srgbClr val="FFFFFF"/>
                </a:solidFill>
                <a:latin typeface="Aptos Display Semibold"/>
              </a:rPr>
              <a:t>Fairfax &amp; 3rd
Disposition Tax
Structuring</a:t>
            </a:r>
          </a:p>
        </p:txBody>
      </p:sp>
      <p:sp>
        <p:nvSpPr>
          <p:cNvPr id="7" name="TextBox 6"/>
          <p:cNvSpPr txBox="1"/>
          <p:nvPr/>
        </p:nvSpPr>
        <p:spPr>
          <a:xfrm>
            <a:off x="594360" y="3694176"/>
            <a:ext cx="3383280" cy="274320"/>
          </a:xfrm>
          <a:prstGeom prst="rect">
            <a:avLst/>
          </a:prstGeom>
          <a:noFill/>
        </p:spPr>
        <p:txBody>
          <a:bodyPr wrap="square" lIns="0" rIns="0" tIns="0" bIns="0" anchor="t">
            <a:spAutoFit/>
          </a:bodyPr>
          <a:lstStyle/>
          <a:p>
            <a:pPr algn="l">
              <a:spcAft>
                <a:spcPts val="0"/>
              </a:spcAft>
            </a:pPr>
            <a:r>
              <a:rPr sz="1400" b="1" i="0">
                <a:solidFill>
                  <a:srgbClr val="EDF2F4"/>
                </a:solidFill>
                <a:latin typeface="Aptos"/>
              </a:rPr>
              <a:t>Investment Committee briefing</a:t>
            </a:r>
          </a:p>
        </p:txBody>
      </p:sp>
      <p:sp>
        <p:nvSpPr>
          <p:cNvPr id="8" name="TextBox 7"/>
          <p:cNvSpPr txBox="1"/>
          <p:nvPr/>
        </p:nvSpPr>
        <p:spPr>
          <a:xfrm>
            <a:off x="594360" y="6153912"/>
            <a:ext cx="3703320" cy="201168"/>
          </a:xfrm>
          <a:prstGeom prst="rect">
            <a:avLst/>
          </a:prstGeom>
          <a:noFill/>
        </p:spPr>
        <p:txBody>
          <a:bodyPr wrap="square" lIns="0" rIns="0" tIns="0" bIns="0" anchor="t">
            <a:spAutoFit/>
          </a:bodyPr>
          <a:lstStyle/>
          <a:p>
            <a:pPr algn="l">
              <a:spcAft>
                <a:spcPts val="0"/>
              </a:spcAft>
            </a:pPr>
            <a:r>
              <a:rPr sz="819" b="1" i="0">
                <a:solidFill>
                  <a:srgbClr val="EDF2F4"/>
                </a:solidFill>
                <a:latin typeface="Aptos"/>
              </a:rPr>
              <a:t>Privileged &amp; Confidential — Tax Planning Draft</a:t>
            </a:r>
          </a:p>
        </p:txBody>
      </p:sp>
      <p:sp>
        <p:nvSpPr>
          <p:cNvPr id="9" name="TextBox 8"/>
          <p:cNvSpPr txBox="1"/>
          <p:nvPr/>
        </p:nvSpPr>
        <p:spPr>
          <a:xfrm>
            <a:off x="5440680" y="1005840"/>
            <a:ext cx="5120640" cy="228600"/>
          </a:xfrm>
          <a:prstGeom prst="rect">
            <a:avLst/>
          </a:prstGeom>
          <a:noFill/>
        </p:spPr>
        <p:txBody>
          <a:bodyPr wrap="square" lIns="0" rIns="0" tIns="0" bIns="0" anchor="t">
            <a:spAutoFit/>
          </a:bodyPr>
          <a:lstStyle/>
          <a:p>
            <a:pPr algn="l">
              <a:spcAft>
                <a:spcPts val="0"/>
              </a:spcAft>
            </a:pPr>
            <a:r>
              <a:rPr sz="1000" b="1" i="0">
                <a:solidFill>
                  <a:srgbClr val="D90429"/>
                </a:solidFill>
                <a:latin typeface="Aptos"/>
              </a:rPr>
              <a:t>LOS ANGELES, CALIFORNIA</a:t>
            </a:r>
          </a:p>
        </p:txBody>
      </p:sp>
      <p:sp>
        <p:nvSpPr>
          <p:cNvPr id="10" name="TextBox 9"/>
          <p:cNvSpPr txBox="1"/>
          <p:nvPr/>
        </p:nvSpPr>
        <p:spPr>
          <a:xfrm>
            <a:off x="5440680" y="1389888"/>
            <a:ext cx="5669280" cy="960120"/>
          </a:xfrm>
          <a:prstGeom prst="rect">
            <a:avLst/>
          </a:prstGeom>
          <a:noFill/>
        </p:spPr>
        <p:txBody>
          <a:bodyPr wrap="square" lIns="0" rIns="0" tIns="0" bIns="0" anchor="t">
            <a:spAutoFit/>
          </a:bodyPr>
          <a:lstStyle/>
          <a:p>
            <a:pPr algn="l">
              <a:spcAft>
                <a:spcPts val="0"/>
              </a:spcAft>
            </a:pPr>
            <a:r>
              <a:rPr sz="2700" b="1" i="0">
                <a:solidFill>
                  <a:srgbClr val="2B2D42"/>
                </a:solidFill>
                <a:latin typeface="Aptos Display Semibold"/>
              </a:rPr>
              <a:t>Authorize negotiation of the
installment asset-sale structure</a:t>
            </a:r>
          </a:p>
        </p:txBody>
      </p:sp>
      <p:sp>
        <p:nvSpPr>
          <p:cNvPr id="11" name="TextBox 10"/>
          <p:cNvSpPr txBox="1"/>
          <p:nvPr/>
        </p:nvSpPr>
        <p:spPr>
          <a:xfrm>
            <a:off x="5468112" y="2542032"/>
            <a:ext cx="5212080" cy="566928"/>
          </a:xfrm>
          <a:prstGeom prst="rect">
            <a:avLst/>
          </a:prstGeom>
          <a:noFill/>
        </p:spPr>
        <p:txBody>
          <a:bodyPr wrap="square" lIns="0" rIns="0" tIns="0" bIns="0" anchor="t">
            <a:spAutoFit/>
          </a:bodyPr>
          <a:lstStyle/>
          <a:p>
            <a:pPr algn="l">
              <a:spcAft>
                <a:spcPts val="0"/>
              </a:spcAft>
            </a:pPr>
            <a:r>
              <a:rPr sz="1500" b="0" i="0">
                <a:solidFill>
                  <a:srgbClr val="60697A"/>
                </a:solidFill>
                <a:latin typeface="Aptos"/>
              </a:rPr>
              <a:t>Preserve the all-cash direct asset sale as the executable fallback.</a:t>
            </a:r>
          </a:p>
        </p:txBody>
      </p:sp>
      <p:sp>
        <p:nvSpPr>
          <p:cNvPr id="12" name="Rounded Rectangle 11"/>
          <p:cNvSpPr/>
          <p:nvPr/>
        </p:nvSpPr>
        <p:spPr>
          <a:xfrm>
            <a:off x="5440680" y="3429000"/>
            <a:ext cx="2423160" cy="1261872"/>
          </a:xfrm>
          <a:prstGeom prst="roundRect">
            <a:avLst>
              <a:gd name="adj" fmla="val 8000"/>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40680" y="3429000"/>
            <a:ext cx="64008" cy="1261872"/>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23560" y="3575304"/>
            <a:ext cx="2103120" cy="210312"/>
          </a:xfrm>
          <a:prstGeom prst="rect">
            <a:avLst/>
          </a:prstGeom>
          <a:noFill/>
        </p:spPr>
        <p:txBody>
          <a:bodyPr wrap="square" lIns="0" rIns="0" tIns="0" bIns="0" anchor="t">
            <a:spAutoFit/>
          </a:bodyPr>
          <a:lstStyle/>
          <a:p>
            <a:pPr algn="l">
              <a:spcAft>
                <a:spcPts val="0"/>
              </a:spcAft>
            </a:pPr>
            <a:r>
              <a:rPr sz="869" b="1" i="0">
                <a:solidFill>
                  <a:srgbClr val="60697A"/>
                </a:solidFill>
                <a:latin typeface="Aptos"/>
              </a:rPr>
              <a:t>PROPOSED CLOSING</a:t>
            </a:r>
          </a:p>
        </p:txBody>
      </p:sp>
      <p:sp>
        <p:nvSpPr>
          <p:cNvPr id="15" name="TextBox 14"/>
          <p:cNvSpPr txBox="1"/>
          <p:nvPr/>
        </p:nvSpPr>
        <p:spPr>
          <a:xfrm>
            <a:off x="5623560" y="3867912"/>
            <a:ext cx="2103120" cy="402336"/>
          </a:xfrm>
          <a:prstGeom prst="rect">
            <a:avLst/>
          </a:prstGeom>
          <a:noFill/>
        </p:spPr>
        <p:txBody>
          <a:bodyPr wrap="square" lIns="0" rIns="0" tIns="0" bIns="0" anchor="t">
            <a:spAutoFit/>
          </a:bodyPr>
          <a:lstStyle/>
          <a:p>
            <a:pPr algn="l">
              <a:spcAft>
                <a:spcPts val="0"/>
              </a:spcAft>
            </a:pPr>
            <a:r>
              <a:rPr sz="2300" b="1" i="0">
                <a:solidFill>
                  <a:srgbClr val="2B2D42"/>
                </a:solidFill>
                <a:latin typeface="Aptos Display Semibold"/>
              </a:rPr>
              <a:t>Sep. 30, 2025</a:t>
            </a:r>
          </a:p>
        </p:txBody>
      </p:sp>
      <p:sp>
        <p:nvSpPr>
          <p:cNvPr id="16" name="TextBox 15"/>
          <p:cNvSpPr txBox="1"/>
          <p:nvPr/>
        </p:nvSpPr>
        <p:spPr>
          <a:xfrm>
            <a:off x="5623560" y="4379976"/>
            <a:ext cx="2103120" cy="192024"/>
          </a:xfrm>
          <a:prstGeom prst="rect">
            <a:avLst/>
          </a:prstGeom>
          <a:noFill/>
        </p:spPr>
        <p:txBody>
          <a:bodyPr wrap="square" lIns="0" rIns="0" tIns="0" bIns="0" anchor="t">
            <a:spAutoFit/>
          </a:bodyPr>
          <a:lstStyle/>
          <a:p>
            <a:pPr algn="l">
              <a:spcAft>
                <a:spcPts val="0"/>
              </a:spcAft>
            </a:pPr>
            <a:r>
              <a:rPr sz="819" b="0" i="0">
                <a:solidFill>
                  <a:srgbClr val="60697A"/>
                </a:solidFill>
                <a:latin typeface="Aptos"/>
              </a:rPr>
              <a:t>2025-Q3 planning period</a:t>
            </a:r>
          </a:p>
        </p:txBody>
      </p:sp>
      <p:sp>
        <p:nvSpPr>
          <p:cNvPr id="17" name="Rounded Rectangle 16"/>
          <p:cNvSpPr/>
          <p:nvPr/>
        </p:nvSpPr>
        <p:spPr>
          <a:xfrm>
            <a:off x="8092440" y="3429000"/>
            <a:ext cx="2423160" cy="1261872"/>
          </a:xfrm>
          <a:prstGeom prst="roundRect">
            <a:avLst>
              <a:gd name="adj" fmla="val 8000"/>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3429000"/>
            <a:ext cx="64008" cy="1261872"/>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19" y="3575304"/>
            <a:ext cx="2103120" cy="210312"/>
          </a:xfrm>
          <a:prstGeom prst="rect">
            <a:avLst/>
          </a:prstGeom>
          <a:noFill/>
        </p:spPr>
        <p:txBody>
          <a:bodyPr wrap="square" lIns="0" rIns="0" tIns="0" bIns="0" anchor="t">
            <a:spAutoFit/>
          </a:bodyPr>
          <a:lstStyle/>
          <a:p>
            <a:pPr algn="l">
              <a:spcAft>
                <a:spcPts val="0"/>
              </a:spcAft>
            </a:pPr>
            <a:r>
              <a:rPr sz="869" b="1" i="0">
                <a:solidFill>
                  <a:srgbClr val="60697A"/>
                </a:solidFill>
                <a:latin typeface="Aptos"/>
              </a:rPr>
              <a:t>HEADLINE CONSIDERATION</a:t>
            </a:r>
          </a:p>
        </p:txBody>
      </p:sp>
      <p:sp>
        <p:nvSpPr>
          <p:cNvPr id="20" name="TextBox 19"/>
          <p:cNvSpPr txBox="1"/>
          <p:nvPr/>
        </p:nvSpPr>
        <p:spPr>
          <a:xfrm>
            <a:off x="8275319" y="3867912"/>
            <a:ext cx="2103120" cy="402336"/>
          </a:xfrm>
          <a:prstGeom prst="rect">
            <a:avLst/>
          </a:prstGeom>
          <a:noFill/>
        </p:spPr>
        <p:txBody>
          <a:bodyPr wrap="square" lIns="0" rIns="0" tIns="0" bIns="0" anchor="t">
            <a:spAutoFit/>
          </a:bodyPr>
          <a:lstStyle/>
          <a:p>
            <a:pPr algn="l">
              <a:spcAft>
                <a:spcPts val="0"/>
              </a:spcAft>
            </a:pPr>
            <a:r>
              <a:rPr sz="2300" b="1" i="0">
                <a:solidFill>
                  <a:srgbClr val="2B2D42"/>
                </a:solidFill>
                <a:latin typeface="Aptos Display Semibold"/>
              </a:rPr>
              <a:t>$28.735M</a:t>
            </a:r>
          </a:p>
        </p:txBody>
      </p:sp>
      <p:sp>
        <p:nvSpPr>
          <p:cNvPr id="21" name="TextBox 20"/>
          <p:cNvSpPr txBox="1"/>
          <p:nvPr/>
        </p:nvSpPr>
        <p:spPr>
          <a:xfrm>
            <a:off x="8275319" y="4379976"/>
            <a:ext cx="2103120" cy="192024"/>
          </a:xfrm>
          <a:prstGeom prst="rect">
            <a:avLst/>
          </a:prstGeom>
          <a:noFill/>
        </p:spPr>
        <p:txBody>
          <a:bodyPr wrap="square" lIns="0" rIns="0" tIns="0" bIns="0" anchor="t">
            <a:spAutoFit/>
          </a:bodyPr>
          <a:lstStyle/>
          <a:p>
            <a:pPr algn="l">
              <a:spcAft>
                <a:spcPts val="0"/>
              </a:spcAft>
            </a:pPr>
            <a:r>
              <a:rPr sz="819" b="0" i="0">
                <a:solidFill>
                  <a:srgbClr val="60697A"/>
                </a:solidFill>
                <a:latin typeface="Aptos"/>
              </a:rPr>
              <a:t>Common economics case</a:t>
            </a:r>
          </a:p>
        </p:txBody>
      </p:sp>
      <p:sp>
        <p:nvSpPr>
          <p:cNvPr id="22" name="TextBox 21"/>
          <p:cNvSpPr txBox="1"/>
          <p:nvPr/>
        </p:nvSpPr>
        <p:spPr>
          <a:xfrm>
            <a:off x="5468112" y="5212080"/>
            <a:ext cx="2743200" cy="256032"/>
          </a:xfrm>
          <a:prstGeom prst="rect">
            <a:avLst/>
          </a:prstGeom>
          <a:noFill/>
        </p:spPr>
        <p:txBody>
          <a:bodyPr wrap="square" lIns="0" rIns="0" tIns="0" bIns="0" anchor="t">
            <a:spAutoFit/>
          </a:bodyPr>
          <a:lstStyle/>
          <a:p>
            <a:pPr algn="l">
              <a:spcAft>
                <a:spcPts val="0"/>
              </a:spcAft>
            </a:pPr>
            <a:r>
              <a:rPr sz="1200" b="1" i="0">
                <a:solidFill>
                  <a:srgbClr val="202230"/>
                </a:solidFill>
                <a:latin typeface="Aptos"/>
              </a:rPr>
              <a:t>September 18, 2025</a:t>
            </a:r>
          </a:p>
        </p:txBody>
      </p:sp>
      <p:sp>
        <p:nvSpPr>
          <p:cNvPr id="23" name="TextBox 22"/>
          <p:cNvSpPr txBox="1"/>
          <p:nvPr/>
        </p:nvSpPr>
        <p:spPr>
          <a:xfrm>
            <a:off x="5468112" y="5577840"/>
            <a:ext cx="4114800" cy="228600"/>
          </a:xfrm>
          <a:prstGeom prst="rect">
            <a:avLst/>
          </a:prstGeom>
          <a:noFill/>
        </p:spPr>
        <p:txBody>
          <a:bodyPr wrap="square" lIns="0" rIns="0" tIns="0" bIns="0" anchor="t">
            <a:spAutoFit/>
          </a:bodyPr>
          <a:lstStyle/>
          <a:p>
            <a:pPr algn="l">
              <a:spcAft>
                <a:spcPts val="0"/>
              </a:spcAft>
            </a:pPr>
            <a:r>
              <a:rPr sz="1050" b="0" i="0">
                <a:solidFill>
                  <a:srgbClr val="60697A"/>
                </a:solidFill>
                <a:latin typeface="Aptos"/>
              </a:rPr>
              <a:t>Agree Realty Corporation | NYSE: ADC</a:t>
            </a:r>
          </a:p>
        </p:txBody>
      </p:sp>
      <p:sp>
        <p:nvSpPr>
          <p:cNvPr id="24" name="TextBox 23"/>
          <p:cNvSpPr txBox="1"/>
          <p:nvPr/>
        </p:nvSpPr>
        <p:spPr>
          <a:xfrm>
            <a:off x="11137392" y="6291072"/>
            <a:ext cx="502920" cy="182880"/>
          </a:xfrm>
          <a:prstGeom prst="rect">
            <a:avLst/>
          </a:prstGeom>
          <a:noFill/>
        </p:spPr>
        <p:txBody>
          <a:bodyPr wrap="square" lIns="0" rIns="0" tIns="0" bIns="0" anchor="t">
            <a:spAutoFit/>
          </a:bodyPr>
          <a:lstStyle/>
          <a:p>
            <a:pPr algn="r">
              <a:spcAft>
                <a:spcPts val="0"/>
              </a:spcAft>
            </a:pPr>
            <a:r>
              <a:rPr sz="900" b="1" i="0">
                <a:solidFill>
                  <a:srgbClr val="2B2D42"/>
                </a:solidFill>
                <a:latin typeface="Aptos"/>
              </a:rPr>
              <a:t>01</a:t>
            </a:r>
          </a:p>
        </p:txBody>
      </p:sp>
      <p:pic>
        <p:nvPicPr>
          <p:cNvPr id="25" name="Picture 24" descr="image.png"/>
          <p:cNvPicPr>
            <a:picLocks noChangeAspect="1"/>
          </p:cNvPicPr>
          <p:nvPr/>
        </p:nvPicPr>
        <p:blipFill>
          <a:blip r:embed="rId2"/>
          <a:stretch>
            <a:fillRect/>
          </a:stretch>
        </p:blipFill>
        <p:spPr>
          <a:xfrm>
            <a:off x="10652760" y="493776"/>
            <a:ext cx="960120" cy="356616"/>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50292"/>
            <a:ext cx="594360" cy="228600"/>
          </a:xfrm>
          <a:prstGeom prst="rect">
            <a:avLst/>
          </a:prstGeom>
          <a:noFill/>
        </p:spPr>
        <p:txBody>
          <a:bodyPr wrap="square" lIns="0" rIns="0" tIns="0" bIns="0" anchor="t">
            <a:spAutoFit/>
          </a:bodyPr>
          <a:lstStyle/>
          <a:p>
            <a:pPr algn="l">
              <a:spcAft>
                <a:spcPts val="0"/>
              </a:spcAft>
            </a:pPr>
            <a:r>
              <a:rPr sz="1300" b="1" i="0">
                <a:solidFill>
                  <a:srgbClr val="FFFFFF"/>
                </a:solidFill>
                <a:latin typeface="Aptos Display Semibold"/>
              </a:rPr>
              <a:t>ADC</a:t>
            </a:r>
          </a:p>
        </p:txBody>
      </p:sp>
      <p:sp>
        <p:nvSpPr>
          <p:cNvPr id="4" name="Rectangle 3"/>
          <p:cNvSpPr/>
          <p:nvPr/>
        </p:nvSpPr>
        <p:spPr>
          <a:xfrm>
            <a:off x="1005840" y="105156"/>
            <a:ext cx="16459" cy="155448"/>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64008"/>
            <a:ext cx="2103120" cy="201168"/>
          </a:xfrm>
          <a:prstGeom prst="rect">
            <a:avLst/>
          </a:prstGeom>
          <a:noFill/>
        </p:spPr>
        <p:txBody>
          <a:bodyPr wrap="square" lIns="0" rIns="0" tIns="0" bIns="0" anchor="t">
            <a:spAutoFit/>
          </a:bodyPr>
          <a:lstStyle/>
          <a:p>
            <a:pPr algn="l">
              <a:spcAft>
                <a:spcPts val="0"/>
              </a:spcAft>
            </a:pPr>
            <a:r>
              <a:rPr sz="850" b="1" i="0">
                <a:solidFill>
                  <a:srgbClr val="EDF2F4"/>
                </a:solidFill>
                <a:latin typeface="Aptos"/>
              </a:rPr>
              <a:t>BRIEFING MAP</a:t>
            </a:r>
          </a:p>
        </p:txBody>
      </p:sp>
      <p:sp>
        <p:nvSpPr>
          <p:cNvPr id="6" name="TextBox 5"/>
          <p:cNvSpPr txBox="1"/>
          <p:nvPr/>
        </p:nvSpPr>
        <p:spPr>
          <a:xfrm>
            <a:off x="7680960" y="68580"/>
            <a:ext cx="4069080" cy="192024"/>
          </a:xfrm>
          <a:prstGeom prst="rect">
            <a:avLst/>
          </a:prstGeom>
          <a:noFill/>
        </p:spPr>
        <p:txBody>
          <a:bodyPr wrap="square" lIns="0" rIns="0" tIns="0" bIns="0" anchor="t">
            <a:spAutoFit/>
          </a:bodyPr>
          <a:lstStyle/>
          <a:p>
            <a:pPr algn="r">
              <a:spcAft>
                <a:spcPts val="0"/>
              </a:spcAft>
            </a:pPr>
            <a:r>
              <a:rPr sz="810" b="1" i="0">
                <a:solidFill>
                  <a:srgbClr val="EDF2F4"/>
                </a:solidFill>
                <a:latin typeface="Aptos"/>
              </a:rPr>
              <a:t>PRIVILEGED &amp; CONFIDENTIAL — TAX PLANNING DRAFT</a:t>
            </a:r>
          </a:p>
        </p:txBody>
      </p:sp>
      <p:sp>
        <p:nvSpPr>
          <p:cNvPr id="7" name="Rectangle 6"/>
          <p:cNvSpPr/>
          <p:nvPr/>
        </p:nvSpPr>
        <p:spPr>
          <a:xfrm>
            <a:off x="0" y="6547104"/>
            <a:ext cx="12191695" cy="310896"/>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6624828"/>
            <a:ext cx="9052560" cy="128016"/>
          </a:xfrm>
          <a:prstGeom prst="rect">
            <a:avLst/>
          </a:prstGeom>
          <a:noFill/>
        </p:spPr>
        <p:txBody>
          <a:bodyPr wrap="square" lIns="0" rIns="0" tIns="0" bIns="0" anchor="t">
            <a:spAutoFit/>
          </a:bodyPr>
          <a:lstStyle/>
          <a:p>
            <a:pPr algn="l">
              <a:spcAft>
                <a:spcPts val="0"/>
              </a:spcAft>
            </a:pPr>
            <a:r>
              <a:rPr sz="720" b="0" i="0">
                <a:solidFill>
                  <a:srgbClr val="EDF2F4"/>
                </a:solidFill>
                <a:latin typeface="Aptos"/>
              </a:rPr>
              <a:t>Internal tax model v7 | 2025-Q3 planning scenario</a:t>
            </a:r>
          </a:p>
        </p:txBody>
      </p:sp>
      <p:sp>
        <p:nvSpPr>
          <p:cNvPr id="9" name="TextBox 8"/>
          <p:cNvSpPr txBox="1"/>
          <p:nvPr/>
        </p:nvSpPr>
        <p:spPr>
          <a:xfrm>
            <a:off x="11201400" y="6597396"/>
            <a:ext cx="566928" cy="164592"/>
          </a:xfrm>
          <a:prstGeom prst="rect">
            <a:avLst/>
          </a:prstGeom>
          <a:noFill/>
        </p:spPr>
        <p:txBody>
          <a:bodyPr wrap="square" lIns="0" rIns="0" tIns="0" bIns="0" anchor="t">
            <a:spAutoFit/>
          </a:bodyPr>
          <a:lstStyle/>
          <a:p>
            <a:pPr algn="r">
              <a:spcAft>
                <a:spcPts val="0"/>
              </a:spcAft>
            </a:pPr>
            <a:r>
              <a:rPr sz="900" b="1" i="0">
                <a:solidFill>
                  <a:srgbClr val="FFFFFF"/>
                </a:solidFill>
                <a:latin typeface="Aptos"/>
              </a:rPr>
              <a:t>02</a:t>
            </a:r>
          </a:p>
        </p:txBody>
      </p:sp>
      <p:sp>
        <p:nvSpPr>
          <p:cNvPr id="10" name="TextBox 9"/>
          <p:cNvSpPr txBox="1"/>
          <p:nvPr/>
        </p:nvSpPr>
        <p:spPr>
          <a:xfrm>
            <a:off x="475488" y="566928"/>
            <a:ext cx="10972800" cy="502920"/>
          </a:xfrm>
          <a:prstGeom prst="rect">
            <a:avLst/>
          </a:prstGeom>
          <a:noFill/>
        </p:spPr>
        <p:txBody>
          <a:bodyPr wrap="square" lIns="0" rIns="0" tIns="0" bIns="0" anchor="t">
            <a:spAutoFit/>
          </a:bodyPr>
          <a:lstStyle/>
          <a:p>
            <a:pPr algn="l">
              <a:spcAft>
                <a:spcPts val="0"/>
              </a:spcAft>
            </a:pPr>
            <a:r>
              <a:rPr sz="2700" b="1" i="0">
                <a:solidFill>
                  <a:srgbClr val="2B2D42"/>
                </a:solidFill>
                <a:latin typeface="Aptos Display Semibold"/>
              </a:rPr>
              <a:t>Decision Path</a:t>
            </a:r>
          </a:p>
        </p:txBody>
      </p:sp>
      <p:sp>
        <p:nvSpPr>
          <p:cNvPr id="11" name="TextBox 10"/>
          <p:cNvSpPr txBox="1"/>
          <p:nvPr/>
        </p:nvSpPr>
        <p:spPr>
          <a:xfrm>
            <a:off x="502920" y="1143000"/>
            <a:ext cx="8961120" cy="310896"/>
          </a:xfrm>
          <a:prstGeom prst="rect">
            <a:avLst/>
          </a:prstGeom>
          <a:noFill/>
        </p:spPr>
        <p:txBody>
          <a:bodyPr wrap="square" lIns="0" rIns="0" tIns="0" bIns="0" anchor="t">
            <a:spAutoFit/>
          </a:bodyPr>
          <a:lstStyle/>
          <a:p>
            <a:pPr algn="l">
              <a:spcAft>
                <a:spcPts val="0"/>
              </a:spcAft>
            </a:pPr>
            <a:r>
              <a:rPr sz="1250" b="0" i="0">
                <a:solidFill>
                  <a:srgbClr val="60697A"/>
                </a:solidFill>
                <a:latin typeface="Aptos"/>
              </a:rPr>
              <a:t>Four questions move the committee from common economics to executable authority.</a:t>
            </a:r>
          </a:p>
        </p:txBody>
      </p:sp>
      <p:sp>
        <p:nvSpPr>
          <p:cNvPr id="12" name="Rounded Rectangle 11"/>
          <p:cNvSpPr/>
          <p:nvPr/>
        </p:nvSpPr>
        <p:spPr>
          <a:xfrm>
            <a:off x="566928" y="1691640"/>
            <a:ext cx="10972800" cy="786384"/>
          </a:xfrm>
          <a:prstGeom prst="roundRect">
            <a:avLst>
              <a:gd name="adj" fmla="val 8000"/>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6928" y="1691640"/>
            <a:ext cx="694944" cy="786384"/>
          </a:xfrm>
          <a:prstGeom prst="roundRect">
            <a:avLst>
              <a:gd name="adj" fmla="val 8000"/>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 y="1874520"/>
            <a:ext cx="475488" cy="274320"/>
          </a:xfrm>
          <a:prstGeom prst="rect">
            <a:avLst/>
          </a:prstGeom>
          <a:noFill/>
        </p:spPr>
        <p:txBody>
          <a:bodyPr wrap="square" lIns="0" rIns="0" tIns="0" bIns="0" anchor="t">
            <a:spAutoFit/>
          </a:bodyPr>
          <a:lstStyle/>
          <a:p>
            <a:pPr algn="ctr">
              <a:spcAft>
                <a:spcPts val="0"/>
              </a:spcAft>
            </a:pPr>
            <a:r>
              <a:rPr sz="1500" b="1" i="0">
                <a:solidFill>
                  <a:srgbClr val="FFFFFF"/>
                </a:solidFill>
                <a:latin typeface="Aptos Display Semibold"/>
              </a:rPr>
              <a:t>01</a:t>
            </a:r>
          </a:p>
        </p:txBody>
      </p:sp>
      <p:sp>
        <p:nvSpPr>
          <p:cNvPr id="15" name="TextBox 14"/>
          <p:cNvSpPr txBox="1"/>
          <p:nvPr/>
        </p:nvSpPr>
        <p:spPr>
          <a:xfrm>
            <a:off x="1508760" y="1819656"/>
            <a:ext cx="4572000" cy="256032"/>
          </a:xfrm>
          <a:prstGeom prst="rect">
            <a:avLst/>
          </a:prstGeom>
          <a:noFill/>
        </p:spPr>
        <p:txBody>
          <a:bodyPr wrap="square" lIns="0" rIns="0" tIns="0" bIns="0" anchor="t">
            <a:spAutoFit/>
          </a:bodyPr>
          <a:lstStyle/>
          <a:p>
            <a:pPr algn="l">
              <a:spcAft>
                <a:spcPts val="0"/>
              </a:spcAft>
            </a:pPr>
            <a:r>
              <a:rPr sz="1400" b="1" i="0">
                <a:solidFill>
                  <a:srgbClr val="2B2D42"/>
                </a:solidFill>
                <a:latin typeface="Aptos"/>
              </a:rPr>
              <a:t>Transaction perimeter and tax basis</a:t>
            </a:r>
          </a:p>
        </p:txBody>
      </p:sp>
      <p:sp>
        <p:nvSpPr>
          <p:cNvPr id="16" name="TextBox 15"/>
          <p:cNvSpPr txBox="1"/>
          <p:nvPr/>
        </p:nvSpPr>
        <p:spPr>
          <a:xfrm>
            <a:off x="5897880" y="1847088"/>
            <a:ext cx="5257800" cy="237744"/>
          </a:xfrm>
          <a:prstGeom prst="rect">
            <a:avLst/>
          </a:prstGeom>
          <a:noFill/>
        </p:spPr>
        <p:txBody>
          <a:bodyPr wrap="square" lIns="0" rIns="0" tIns="0" bIns="0" anchor="t">
            <a:spAutoFit/>
          </a:bodyPr>
          <a:lstStyle/>
          <a:p>
            <a:pPr algn="l">
              <a:spcAft>
                <a:spcPts val="0"/>
              </a:spcAft>
            </a:pPr>
            <a:r>
              <a:rPr sz="1050" b="0" i="0">
                <a:solidFill>
                  <a:srgbClr val="60697A"/>
                </a:solidFill>
                <a:latin typeface="Aptos"/>
              </a:rPr>
              <a:t>Fix the economics and reconcile adjusted basis.</a:t>
            </a:r>
          </a:p>
        </p:txBody>
      </p:sp>
      <p:sp>
        <p:nvSpPr>
          <p:cNvPr id="17" name="Rounded Rectangle 16"/>
          <p:cNvSpPr/>
          <p:nvPr/>
        </p:nvSpPr>
        <p:spPr>
          <a:xfrm>
            <a:off x="566928" y="2715768"/>
            <a:ext cx="10972800" cy="786384"/>
          </a:xfrm>
          <a:prstGeom prst="roundRect">
            <a:avLst>
              <a:gd name="adj" fmla="val 8000"/>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6928" y="2715768"/>
            <a:ext cx="694944" cy="786384"/>
          </a:xfrm>
          <a:prstGeom prst="roundRect">
            <a:avLst>
              <a:gd name="adj" fmla="val 8000"/>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2898648"/>
            <a:ext cx="475488" cy="274320"/>
          </a:xfrm>
          <a:prstGeom prst="rect">
            <a:avLst/>
          </a:prstGeom>
          <a:noFill/>
        </p:spPr>
        <p:txBody>
          <a:bodyPr wrap="square" lIns="0" rIns="0" tIns="0" bIns="0" anchor="t">
            <a:spAutoFit/>
          </a:bodyPr>
          <a:lstStyle/>
          <a:p>
            <a:pPr algn="ctr">
              <a:spcAft>
                <a:spcPts val="0"/>
              </a:spcAft>
            </a:pPr>
            <a:r>
              <a:rPr sz="1500" b="1" i="0">
                <a:solidFill>
                  <a:srgbClr val="FFFFFF"/>
                </a:solidFill>
                <a:latin typeface="Aptos Display Semibold"/>
              </a:rPr>
              <a:t>02</a:t>
            </a:r>
          </a:p>
        </p:txBody>
      </p:sp>
      <p:sp>
        <p:nvSpPr>
          <p:cNvPr id="20" name="TextBox 19"/>
          <p:cNvSpPr txBox="1"/>
          <p:nvPr/>
        </p:nvSpPr>
        <p:spPr>
          <a:xfrm>
            <a:off x="1508760" y="2843784"/>
            <a:ext cx="4572000" cy="256032"/>
          </a:xfrm>
          <a:prstGeom prst="rect">
            <a:avLst/>
          </a:prstGeom>
          <a:noFill/>
        </p:spPr>
        <p:txBody>
          <a:bodyPr wrap="square" lIns="0" rIns="0" tIns="0" bIns="0" anchor="t">
            <a:spAutoFit/>
          </a:bodyPr>
          <a:lstStyle/>
          <a:p>
            <a:pPr algn="l">
              <a:spcAft>
                <a:spcPts val="0"/>
              </a:spcAft>
            </a:pPr>
            <a:r>
              <a:rPr sz="1400" b="1" i="0">
                <a:solidFill>
                  <a:srgbClr val="2B2D42"/>
                </a:solidFill>
                <a:latin typeface="Aptos"/>
              </a:rPr>
              <a:t>Three-structure comparison</a:t>
            </a:r>
          </a:p>
        </p:txBody>
      </p:sp>
      <p:sp>
        <p:nvSpPr>
          <p:cNvPr id="21" name="TextBox 20"/>
          <p:cNvSpPr txBox="1"/>
          <p:nvPr/>
        </p:nvSpPr>
        <p:spPr>
          <a:xfrm>
            <a:off x="5897880" y="2871216"/>
            <a:ext cx="5257800" cy="237744"/>
          </a:xfrm>
          <a:prstGeom prst="rect">
            <a:avLst/>
          </a:prstGeom>
          <a:noFill/>
        </p:spPr>
        <p:txBody>
          <a:bodyPr wrap="square" lIns="0" rIns="0" tIns="0" bIns="0" anchor="t">
            <a:spAutoFit/>
          </a:bodyPr>
          <a:lstStyle/>
          <a:p>
            <a:pPr algn="l">
              <a:spcAft>
                <a:spcPts val="0"/>
              </a:spcAft>
            </a:pPr>
            <a:r>
              <a:rPr sz="1050" b="0" i="0">
                <a:solidFill>
                  <a:srgbClr val="60697A"/>
                </a:solidFill>
                <a:latin typeface="Aptos"/>
              </a:rPr>
              <a:t>Compare recognition, transfer tax and cash timing.</a:t>
            </a:r>
          </a:p>
        </p:txBody>
      </p:sp>
      <p:sp>
        <p:nvSpPr>
          <p:cNvPr id="22" name="Rounded Rectangle 21"/>
          <p:cNvSpPr/>
          <p:nvPr/>
        </p:nvSpPr>
        <p:spPr>
          <a:xfrm>
            <a:off x="566928" y="3739896"/>
            <a:ext cx="10972800" cy="786384"/>
          </a:xfrm>
          <a:prstGeom prst="roundRect">
            <a:avLst>
              <a:gd name="adj" fmla="val 8000"/>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66928" y="3739896"/>
            <a:ext cx="694944" cy="786384"/>
          </a:xfrm>
          <a:prstGeom prst="roundRect">
            <a:avLst>
              <a:gd name="adj" fmla="val 8000"/>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 y="3922776"/>
            <a:ext cx="475488" cy="274320"/>
          </a:xfrm>
          <a:prstGeom prst="rect">
            <a:avLst/>
          </a:prstGeom>
          <a:noFill/>
        </p:spPr>
        <p:txBody>
          <a:bodyPr wrap="square" lIns="0" rIns="0" tIns="0" bIns="0" anchor="t">
            <a:spAutoFit/>
          </a:bodyPr>
          <a:lstStyle/>
          <a:p>
            <a:pPr algn="ctr">
              <a:spcAft>
                <a:spcPts val="0"/>
              </a:spcAft>
            </a:pPr>
            <a:r>
              <a:rPr sz="1500" b="1" i="0">
                <a:solidFill>
                  <a:srgbClr val="FFFFFF"/>
                </a:solidFill>
                <a:latin typeface="Aptos Display Semibold"/>
              </a:rPr>
              <a:t>03</a:t>
            </a:r>
          </a:p>
        </p:txBody>
      </p:sp>
      <p:sp>
        <p:nvSpPr>
          <p:cNvPr id="25" name="TextBox 24"/>
          <p:cNvSpPr txBox="1"/>
          <p:nvPr/>
        </p:nvSpPr>
        <p:spPr>
          <a:xfrm>
            <a:off x="1508760" y="3867911"/>
            <a:ext cx="4572000" cy="256032"/>
          </a:xfrm>
          <a:prstGeom prst="rect">
            <a:avLst/>
          </a:prstGeom>
          <a:noFill/>
        </p:spPr>
        <p:txBody>
          <a:bodyPr wrap="square" lIns="0" rIns="0" tIns="0" bIns="0" anchor="t">
            <a:spAutoFit/>
          </a:bodyPr>
          <a:lstStyle/>
          <a:p>
            <a:pPr algn="l">
              <a:spcAft>
                <a:spcPts val="0"/>
              </a:spcAft>
            </a:pPr>
            <a:r>
              <a:rPr sz="1400" b="1" i="0">
                <a:solidFill>
                  <a:srgbClr val="2B2D42"/>
                </a:solidFill>
                <a:latin typeface="Aptos"/>
              </a:rPr>
              <a:t>Transfer-tax and execution risks</a:t>
            </a:r>
          </a:p>
        </p:txBody>
      </p:sp>
      <p:sp>
        <p:nvSpPr>
          <p:cNvPr id="26" name="TextBox 25"/>
          <p:cNvSpPr txBox="1"/>
          <p:nvPr/>
        </p:nvSpPr>
        <p:spPr>
          <a:xfrm>
            <a:off x="5897880" y="3895344"/>
            <a:ext cx="5257800" cy="237744"/>
          </a:xfrm>
          <a:prstGeom prst="rect">
            <a:avLst/>
          </a:prstGeom>
          <a:noFill/>
        </p:spPr>
        <p:txBody>
          <a:bodyPr wrap="square" lIns="0" rIns="0" tIns="0" bIns="0" anchor="t">
            <a:spAutoFit/>
          </a:bodyPr>
          <a:lstStyle/>
          <a:p>
            <a:pPr algn="l">
              <a:spcAft>
                <a:spcPts val="0"/>
              </a:spcAft>
            </a:pPr>
            <a:r>
              <a:rPr sz="1050" b="0" i="0">
                <a:solidFill>
                  <a:srgbClr val="60697A"/>
                </a:solidFill>
                <a:latin typeface="Aptos"/>
              </a:rPr>
              <a:t>Identify filing, withholding and credit conditions.</a:t>
            </a:r>
          </a:p>
        </p:txBody>
      </p:sp>
      <p:sp>
        <p:nvSpPr>
          <p:cNvPr id="27" name="Rounded Rectangle 26"/>
          <p:cNvSpPr/>
          <p:nvPr/>
        </p:nvSpPr>
        <p:spPr>
          <a:xfrm>
            <a:off x="566928" y="4764024"/>
            <a:ext cx="10972800" cy="786384"/>
          </a:xfrm>
          <a:prstGeom prst="roundRect">
            <a:avLst>
              <a:gd name="adj" fmla="val 8000"/>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66928" y="4764024"/>
            <a:ext cx="694944" cy="786384"/>
          </a:xfrm>
          <a:prstGeom prst="roundRect">
            <a:avLst>
              <a:gd name="adj" fmla="val 8000"/>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6656" y="4946904"/>
            <a:ext cx="475488" cy="274320"/>
          </a:xfrm>
          <a:prstGeom prst="rect">
            <a:avLst/>
          </a:prstGeom>
          <a:noFill/>
        </p:spPr>
        <p:txBody>
          <a:bodyPr wrap="square" lIns="0" rIns="0" tIns="0" bIns="0" anchor="t">
            <a:spAutoFit/>
          </a:bodyPr>
          <a:lstStyle/>
          <a:p>
            <a:pPr algn="ctr">
              <a:spcAft>
                <a:spcPts val="0"/>
              </a:spcAft>
            </a:pPr>
            <a:r>
              <a:rPr sz="1500" b="1" i="0">
                <a:solidFill>
                  <a:srgbClr val="FFFFFF"/>
                </a:solidFill>
                <a:latin typeface="Aptos Display Semibold"/>
              </a:rPr>
              <a:t>04</a:t>
            </a:r>
          </a:p>
        </p:txBody>
      </p:sp>
      <p:sp>
        <p:nvSpPr>
          <p:cNvPr id="30" name="TextBox 29"/>
          <p:cNvSpPr txBox="1"/>
          <p:nvPr/>
        </p:nvSpPr>
        <p:spPr>
          <a:xfrm>
            <a:off x="1508760" y="4892040"/>
            <a:ext cx="4572000" cy="256032"/>
          </a:xfrm>
          <a:prstGeom prst="rect">
            <a:avLst/>
          </a:prstGeom>
          <a:noFill/>
        </p:spPr>
        <p:txBody>
          <a:bodyPr wrap="square" lIns="0" rIns="0" tIns="0" bIns="0" anchor="t">
            <a:spAutoFit/>
          </a:bodyPr>
          <a:lstStyle/>
          <a:p>
            <a:pPr algn="l">
              <a:spcAft>
                <a:spcPts val="0"/>
              </a:spcAft>
            </a:pPr>
            <a:r>
              <a:rPr sz="1400" b="1" i="0">
                <a:solidFill>
                  <a:srgbClr val="2B2D42"/>
                </a:solidFill>
                <a:latin typeface="Aptos"/>
              </a:rPr>
              <a:t>Recommendation and negotiation guardrails</a:t>
            </a:r>
          </a:p>
        </p:txBody>
      </p:sp>
      <p:sp>
        <p:nvSpPr>
          <p:cNvPr id="31" name="TextBox 30"/>
          <p:cNvSpPr txBox="1"/>
          <p:nvPr/>
        </p:nvSpPr>
        <p:spPr>
          <a:xfrm>
            <a:off x="5897880" y="4919472"/>
            <a:ext cx="5257800" cy="237744"/>
          </a:xfrm>
          <a:prstGeom prst="rect">
            <a:avLst/>
          </a:prstGeom>
          <a:noFill/>
        </p:spPr>
        <p:txBody>
          <a:bodyPr wrap="square" lIns="0" rIns="0" tIns="0" bIns="0" anchor="t">
            <a:spAutoFit/>
          </a:bodyPr>
          <a:lstStyle/>
          <a:p>
            <a:pPr algn="l">
              <a:spcAft>
                <a:spcPts val="0"/>
              </a:spcAft>
            </a:pPr>
            <a:r>
              <a:rPr sz="1050" b="0" i="0">
                <a:solidFill>
                  <a:srgbClr val="60697A"/>
                </a:solidFill>
                <a:latin typeface="Aptos"/>
              </a:rPr>
              <a:t>Authorize the preferred path with a clear fallback.</a:t>
            </a:r>
          </a:p>
        </p:txBody>
      </p:sp>
      <p:sp>
        <p:nvSpPr>
          <p:cNvPr id="32" name="TextBox 31"/>
          <p:cNvSpPr txBox="1"/>
          <p:nvPr/>
        </p:nvSpPr>
        <p:spPr>
          <a:xfrm>
            <a:off x="566928" y="5769864"/>
            <a:ext cx="10972800" cy="320040"/>
          </a:xfrm>
          <a:prstGeom prst="rect">
            <a:avLst/>
          </a:prstGeom>
          <a:noFill/>
        </p:spPr>
        <p:txBody>
          <a:bodyPr wrap="square" lIns="0" rIns="0" tIns="0" bIns="0" anchor="t">
            <a:spAutoFit/>
          </a:bodyPr>
          <a:lstStyle/>
          <a:p>
            <a:pPr algn="l">
              <a:spcAft>
                <a:spcPts val="0"/>
              </a:spcAft>
            </a:pPr>
            <a:r>
              <a:rPr sz="750" b="0" i="0">
                <a:solidFill>
                  <a:srgbClr val="60697A"/>
                </a:solidFill>
                <a:latin typeface="Aptos"/>
              </a:rPr>
              <a:t>Public context: ADC FY2024 — 2,370 properties, 48.8M sq. ft., 26 dispositions / $98.4M gross proceeds. Realty Income Q3 2024 benchmark — 92 quarter / 214 YTD dispositions; $249.5M / $451.4M net proceeds.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B2D42"/>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58368"/>
            <a:ext cx="731520" cy="411480"/>
          </a:xfrm>
          <a:prstGeom prst="rect">
            <a:avLst/>
          </a:prstGeom>
          <a:noFill/>
        </p:spPr>
        <p:txBody>
          <a:bodyPr wrap="square" lIns="0" rIns="0" tIns="0" bIns="0" anchor="t">
            <a:spAutoFit/>
          </a:bodyPr>
          <a:lstStyle/>
          <a:p>
            <a:pPr algn="l">
              <a:spcAft>
                <a:spcPts val="0"/>
              </a:spcAft>
            </a:pPr>
            <a:r>
              <a:rPr sz="2300" b="1" i="0">
                <a:solidFill>
                  <a:srgbClr val="EF233C"/>
                </a:solidFill>
                <a:latin typeface="Aptos Display Semibold"/>
              </a:rPr>
              <a:t>01</a:t>
            </a:r>
          </a:p>
        </p:txBody>
      </p:sp>
      <p:sp>
        <p:nvSpPr>
          <p:cNvPr id="4" name="TextBox 3"/>
          <p:cNvSpPr txBox="1"/>
          <p:nvPr/>
        </p:nvSpPr>
        <p:spPr>
          <a:xfrm>
            <a:off x="658368" y="1170432"/>
            <a:ext cx="6858000" cy="640080"/>
          </a:xfrm>
          <a:prstGeom prst="rect">
            <a:avLst/>
          </a:prstGeom>
          <a:noFill/>
        </p:spPr>
        <p:txBody>
          <a:bodyPr wrap="square" lIns="0" rIns="0" tIns="0" bIns="0" anchor="t">
            <a:spAutoFit/>
          </a:bodyPr>
          <a:lstStyle/>
          <a:p>
            <a:pPr algn="l">
              <a:spcAft>
                <a:spcPts val="0"/>
              </a:spcAft>
            </a:pPr>
            <a:r>
              <a:rPr sz="3200" b="1" i="0">
                <a:solidFill>
                  <a:srgbClr val="FFFFFF"/>
                </a:solidFill>
                <a:latin typeface="Aptos Display Semibold"/>
              </a:rPr>
              <a:t>Transaction Perimeter</a:t>
            </a:r>
          </a:p>
        </p:txBody>
      </p:sp>
      <p:sp>
        <p:nvSpPr>
          <p:cNvPr id="5" name="TextBox 4"/>
          <p:cNvSpPr txBox="1"/>
          <p:nvPr/>
        </p:nvSpPr>
        <p:spPr>
          <a:xfrm>
            <a:off x="685800" y="2039112"/>
            <a:ext cx="8503920" cy="411480"/>
          </a:xfrm>
          <a:prstGeom prst="rect">
            <a:avLst/>
          </a:prstGeom>
          <a:noFill/>
        </p:spPr>
        <p:txBody>
          <a:bodyPr wrap="square" lIns="0" rIns="0" tIns="0" bIns="0" anchor="t">
            <a:spAutoFit/>
          </a:bodyPr>
          <a:lstStyle/>
          <a:p>
            <a:pPr algn="l">
              <a:spcAft>
                <a:spcPts val="0"/>
              </a:spcAft>
            </a:pPr>
            <a:r>
              <a:rPr sz="1600" b="0" i="0">
                <a:solidFill>
                  <a:srgbClr val="EDF2F4"/>
                </a:solidFill>
                <a:latin typeface="Aptos"/>
              </a:rPr>
              <a:t>One property. Three legal structures. One common economics case.</a:t>
            </a:r>
          </a:p>
        </p:txBody>
      </p:sp>
      <p:sp>
        <p:nvSpPr>
          <p:cNvPr id="6" name="Rounded Rectangle 5"/>
          <p:cNvSpPr/>
          <p:nvPr/>
        </p:nvSpPr>
        <p:spPr>
          <a:xfrm>
            <a:off x="685800" y="3246120"/>
            <a:ext cx="2971800" cy="1143000"/>
          </a:xfrm>
          <a:prstGeom prst="roundRect">
            <a:avLst>
              <a:gd name="adj" fmla="val 8000"/>
            </a:avLst>
          </a:prstGeom>
          <a:solidFill>
            <a:srgbClr val="3C3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3456432"/>
            <a:ext cx="457200" cy="256032"/>
          </a:xfrm>
          <a:prstGeom prst="rect">
            <a:avLst/>
          </a:prstGeom>
          <a:noFill/>
        </p:spPr>
        <p:txBody>
          <a:bodyPr wrap="square" lIns="0" rIns="0" tIns="0" bIns="0" anchor="t">
            <a:spAutoFit/>
          </a:bodyPr>
          <a:lstStyle/>
          <a:p>
            <a:pPr algn="l">
              <a:spcAft>
                <a:spcPts val="0"/>
              </a:spcAft>
            </a:pPr>
            <a:r>
              <a:rPr sz="1200" b="1" i="0">
                <a:solidFill>
                  <a:srgbClr val="EF233C"/>
                </a:solidFill>
                <a:latin typeface="Aptos"/>
              </a:rPr>
              <a:t>01</a:t>
            </a:r>
          </a:p>
        </p:txBody>
      </p:sp>
      <p:sp>
        <p:nvSpPr>
          <p:cNvPr id="8" name="TextBox 7"/>
          <p:cNvSpPr txBox="1"/>
          <p:nvPr/>
        </p:nvSpPr>
        <p:spPr>
          <a:xfrm>
            <a:off x="1463040" y="3429000"/>
            <a:ext cx="1874519" cy="438912"/>
          </a:xfrm>
          <a:prstGeom prst="rect">
            <a:avLst/>
          </a:prstGeom>
          <a:noFill/>
        </p:spPr>
        <p:txBody>
          <a:bodyPr wrap="square" lIns="0" rIns="0" tIns="0" bIns="0" anchor="t">
            <a:spAutoFit/>
          </a:bodyPr>
          <a:lstStyle/>
          <a:p>
            <a:pPr algn="l">
              <a:spcAft>
                <a:spcPts val="0"/>
              </a:spcAft>
            </a:pPr>
            <a:r>
              <a:rPr sz="1400" b="1" i="0">
                <a:solidFill>
                  <a:srgbClr val="FFFFFF"/>
                </a:solidFill>
                <a:latin typeface="Aptos"/>
              </a:rPr>
              <a:t>One property</a:t>
            </a:r>
          </a:p>
        </p:txBody>
      </p:sp>
      <p:sp>
        <p:nvSpPr>
          <p:cNvPr id="9" name="Rounded Rectangle 8"/>
          <p:cNvSpPr/>
          <p:nvPr/>
        </p:nvSpPr>
        <p:spPr>
          <a:xfrm>
            <a:off x="4069080" y="3246120"/>
            <a:ext cx="2971800" cy="1143000"/>
          </a:xfrm>
          <a:prstGeom prst="roundRect">
            <a:avLst>
              <a:gd name="adj" fmla="val 8000"/>
            </a:avLst>
          </a:prstGeom>
          <a:solidFill>
            <a:srgbClr val="3C3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79392" y="3456432"/>
            <a:ext cx="457200" cy="256032"/>
          </a:xfrm>
          <a:prstGeom prst="rect">
            <a:avLst/>
          </a:prstGeom>
          <a:noFill/>
        </p:spPr>
        <p:txBody>
          <a:bodyPr wrap="square" lIns="0" rIns="0" tIns="0" bIns="0" anchor="t">
            <a:spAutoFit/>
          </a:bodyPr>
          <a:lstStyle/>
          <a:p>
            <a:pPr algn="l">
              <a:spcAft>
                <a:spcPts val="0"/>
              </a:spcAft>
            </a:pPr>
            <a:r>
              <a:rPr sz="1200" b="1" i="0">
                <a:solidFill>
                  <a:srgbClr val="EF233C"/>
                </a:solidFill>
                <a:latin typeface="Aptos"/>
              </a:rPr>
              <a:t>02</a:t>
            </a:r>
          </a:p>
        </p:txBody>
      </p:sp>
      <p:sp>
        <p:nvSpPr>
          <p:cNvPr id="11" name="TextBox 10"/>
          <p:cNvSpPr txBox="1"/>
          <p:nvPr/>
        </p:nvSpPr>
        <p:spPr>
          <a:xfrm>
            <a:off x="4846320" y="3429000"/>
            <a:ext cx="1874519" cy="438912"/>
          </a:xfrm>
          <a:prstGeom prst="rect">
            <a:avLst/>
          </a:prstGeom>
          <a:noFill/>
        </p:spPr>
        <p:txBody>
          <a:bodyPr wrap="square" lIns="0" rIns="0" tIns="0" bIns="0" anchor="t">
            <a:spAutoFit/>
          </a:bodyPr>
          <a:lstStyle/>
          <a:p>
            <a:pPr algn="l">
              <a:spcAft>
                <a:spcPts val="0"/>
              </a:spcAft>
            </a:pPr>
            <a:r>
              <a:rPr sz="1400" b="1" i="0">
                <a:solidFill>
                  <a:srgbClr val="FFFFFF"/>
                </a:solidFill>
                <a:latin typeface="Aptos"/>
              </a:rPr>
              <a:t>Three legal structures</a:t>
            </a:r>
          </a:p>
        </p:txBody>
      </p:sp>
      <p:sp>
        <p:nvSpPr>
          <p:cNvPr id="12" name="Rounded Rectangle 11"/>
          <p:cNvSpPr/>
          <p:nvPr/>
        </p:nvSpPr>
        <p:spPr>
          <a:xfrm>
            <a:off x="7452360" y="3246120"/>
            <a:ext cx="2971800" cy="1143000"/>
          </a:xfrm>
          <a:prstGeom prst="roundRect">
            <a:avLst>
              <a:gd name="adj" fmla="val 8000"/>
            </a:avLst>
          </a:prstGeom>
          <a:solidFill>
            <a:srgbClr val="3C3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62672" y="3456432"/>
            <a:ext cx="457200" cy="256032"/>
          </a:xfrm>
          <a:prstGeom prst="rect">
            <a:avLst/>
          </a:prstGeom>
          <a:noFill/>
        </p:spPr>
        <p:txBody>
          <a:bodyPr wrap="square" lIns="0" rIns="0" tIns="0" bIns="0" anchor="t">
            <a:spAutoFit/>
          </a:bodyPr>
          <a:lstStyle/>
          <a:p>
            <a:pPr algn="l">
              <a:spcAft>
                <a:spcPts val="0"/>
              </a:spcAft>
            </a:pPr>
            <a:r>
              <a:rPr sz="1200" b="1" i="0">
                <a:solidFill>
                  <a:srgbClr val="EF233C"/>
                </a:solidFill>
                <a:latin typeface="Aptos"/>
              </a:rPr>
              <a:t>03</a:t>
            </a:r>
          </a:p>
        </p:txBody>
      </p:sp>
      <p:sp>
        <p:nvSpPr>
          <p:cNvPr id="14" name="TextBox 13"/>
          <p:cNvSpPr txBox="1"/>
          <p:nvPr/>
        </p:nvSpPr>
        <p:spPr>
          <a:xfrm>
            <a:off x="8229600" y="3429000"/>
            <a:ext cx="1874519" cy="438912"/>
          </a:xfrm>
          <a:prstGeom prst="rect">
            <a:avLst/>
          </a:prstGeom>
          <a:noFill/>
        </p:spPr>
        <p:txBody>
          <a:bodyPr wrap="square" lIns="0" rIns="0" tIns="0" bIns="0" anchor="t">
            <a:spAutoFit/>
          </a:bodyPr>
          <a:lstStyle/>
          <a:p>
            <a:pPr algn="l">
              <a:spcAft>
                <a:spcPts val="0"/>
              </a:spcAft>
            </a:pPr>
            <a:r>
              <a:rPr sz="1400" b="1" i="0">
                <a:solidFill>
                  <a:srgbClr val="FFFFFF"/>
                </a:solidFill>
                <a:latin typeface="Aptos"/>
              </a:rPr>
              <a:t>One common economics case</a:t>
            </a:r>
          </a:p>
        </p:txBody>
      </p:sp>
      <p:sp>
        <p:nvSpPr>
          <p:cNvPr id="15" name="TextBox 14"/>
          <p:cNvSpPr txBox="1"/>
          <p:nvPr/>
        </p:nvSpPr>
        <p:spPr>
          <a:xfrm>
            <a:off x="685800" y="6062472"/>
            <a:ext cx="7680960" cy="201168"/>
          </a:xfrm>
          <a:prstGeom prst="rect">
            <a:avLst/>
          </a:prstGeom>
          <a:noFill/>
        </p:spPr>
        <p:txBody>
          <a:bodyPr wrap="square" lIns="0" rIns="0" tIns="0" bIns="0" anchor="t">
            <a:spAutoFit/>
          </a:bodyPr>
          <a:lstStyle/>
          <a:p>
            <a:pPr algn="l">
              <a:spcAft>
                <a:spcPts val="0"/>
              </a:spcAft>
            </a:pPr>
            <a:r>
              <a:rPr sz="900" b="0" i="0">
                <a:solidFill>
                  <a:srgbClr val="EDF2F4"/>
                </a:solidFill>
                <a:latin typeface="Aptos"/>
              </a:rPr>
              <a:t>Fairfax &amp; 3rd Retail Center | ADC Fairfax Retail Partners LP</a:t>
            </a:r>
          </a:p>
        </p:txBody>
      </p:sp>
      <p:sp>
        <p:nvSpPr>
          <p:cNvPr id="16" name="TextBox 15"/>
          <p:cNvSpPr txBox="1"/>
          <p:nvPr/>
        </p:nvSpPr>
        <p:spPr>
          <a:xfrm>
            <a:off x="11082528" y="6062472"/>
            <a:ext cx="530352" cy="201168"/>
          </a:xfrm>
          <a:prstGeom prst="rect">
            <a:avLst/>
          </a:prstGeom>
          <a:noFill/>
        </p:spPr>
        <p:txBody>
          <a:bodyPr wrap="square" lIns="0" rIns="0" tIns="0" bIns="0" anchor="t">
            <a:spAutoFit/>
          </a:bodyPr>
          <a:lstStyle/>
          <a:p>
            <a:pPr algn="r">
              <a:spcAft>
                <a:spcPts val="0"/>
              </a:spcAft>
            </a:pPr>
            <a:r>
              <a:rPr sz="900" b="1" i="0">
                <a:solidFill>
                  <a:srgbClr val="EDF2F4"/>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50292"/>
            <a:ext cx="594360" cy="228600"/>
          </a:xfrm>
          <a:prstGeom prst="rect">
            <a:avLst/>
          </a:prstGeom>
          <a:noFill/>
        </p:spPr>
        <p:txBody>
          <a:bodyPr wrap="square" lIns="0" rIns="0" tIns="0" bIns="0" anchor="t">
            <a:spAutoFit/>
          </a:bodyPr>
          <a:lstStyle/>
          <a:p>
            <a:pPr algn="l">
              <a:spcAft>
                <a:spcPts val="0"/>
              </a:spcAft>
            </a:pPr>
            <a:r>
              <a:rPr sz="1300" b="1" i="0">
                <a:solidFill>
                  <a:srgbClr val="FFFFFF"/>
                </a:solidFill>
                <a:latin typeface="Aptos Display Semibold"/>
              </a:rPr>
              <a:t>ADC</a:t>
            </a:r>
          </a:p>
        </p:txBody>
      </p:sp>
      <p:sp>
        <p:nvSpPr>
          <p:cNvPr id="4" name="Rectangle 3"/>
          <p:cNvSpPr/>
          <p:nvPr/>
        </p:nvSpPr>
        <p:spPr>
          <a:xfrm>
            <a:off x="1005840" y="105156"/>
            <a:ext cx="16459" cy="155448"/>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64008"/>
            <a:ext cx="2103120" cy="201168"/>
          </a:xfrm>
          <a:prstGeom prst="rect">
            <a:avLst/>
          </a:prstGeom>
          <a:noFill/>
        </p:spPr>
        <p:txBody>
          <a:bodyPr wrap="square" lIns="0" rIns="0" tIns="0" bIns="0" anchor="t">
            <a:spAutoFit/>
          </a:bodyPr>
          <a:lstStyle/>
          <a:p>
            <a:pPr algn="l">
              <a:spcAft>
                <a:spcPts val="0"/>
              </a:spcAft>
            </a:pPr>
            <a:r>
              <a:rPr sz="850" b="1" i="0">
                <a:solidFill>
                  <a:srgbClr val="EDF2F4"/>
                </a:solidFill>
                <a:latin typeface="Aptos"/>
              </a:rPr>
              <a:t>01 | PERIMETER</a:t>
            </a:r>
          </a:p>
        </p:txBody>
      </p:sp>
      <p:sp>
        <p:nvSpPr>
          <p:cNvPr id="6" name="TextBox 5"/>
          <p:cNvSpPr txBox="1"/>
          <p:nvPr/>
        </p:nvSpPr>
        <p:spPr>
          <a:xfrm>
            <a:off x="7680960" y="68580"/>
            <a:ext cx="4069080" cy="192024"/>
          </a:xfrm>
          <a:prstGeom prst="rect">
            <a:avLst/>
          </a:prstGeom>
          <a:noFill/>
        </p:spPr>
        <p:txBody>
          <a:bodyPr wrap="square" lIns="0" rIns="0" tIns="0" bIns="0" anchor="t">
            <a:spAutoFit/>
          </a:bodyPr>
          <a:lstStyle/>
          <a:p>
            <a:pPr algn="r">
              <a:spcAft>
                <a:spcPts val="0"/>
              </a:spcAft>
            </a:pPr>
            <a:r>
              <a:rPr sz="810" b="1" i="0">
                <a:solidFill>
                  <a:srgbClr val="EDF2F4"/>
                </a:solidFill>
                <a:latin typeface="Aptos"/>
              </a:rPr>
              <a:t>PRIVILEGED &amp; CONFIDENTIAL — TAX PLANNING DRAFT</a:t>
            </a:r>
          </a:p>
        </p:txBody>
      </p:sp>
      <p:sp>
        <p:nvSpPr>
          <p:cNvPr id="7" name="Rectangle 6"/>
          <p:cNvSpPr/>
          <p:nvPr/>
        </p:nvSpPr>
        <p:spPr>
          <a:xfrm>
            <a:off x="0" y="6547104"/>
            <a:ext cx="12191695" cy="310896"/>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6624828"/>
            <a:ext cx="9052560" cy="128016"/>
          </a:xfrm>
          <a:prstGeom prst="rect">
            <a:avLst/>
          </a:prstGeom>
          <a:noFill/>
        </p:spPr>
        <p:txBody>
          <a:bodyPr wrap="square" lIns="0" rIns="0" tIns="0" bIns="0" anchor="t">
            <a:spAutoFit/>
          </a:bodyPr>
          <a:lstStyle/>
          <a:p>
            <a:pPr algn="l">
              <a:spcAft>
                <a:spcPts val="0"/>
              </a:spcAft>
            </a:pPr>
            <a:r>
              <a:rPr sz="720" b="0" i="0">
                <a:solidFill>
                  <a:srgbClr val="EDF2F4"/>
                </a:solidFill>
                <a:latin typeface="Aptos"/>
              </a:rPr>
              <a:t>Internal tax model v7 | 2025-Q3 planning scenario</a:t>
            </a:r>
          </a:p>
        </p:txBody>
      </p:sp>
      <p:sp>
        <p:nvSpPr>
          <p:cNvPr id="9" name="TextBox 8"/>
          <p:cNvSpPr txBox="1"/>
          <p:nvPr/>
        </p:nvSpPr>
        <p:spPr>
          <a:xfrm>
            <a:off x="11201400" y="6597396"/>
            <a:ext cx="566928" cy="164592"/>
          </a:xfrm>
          <a:prstGeom prst="rect">
            <a:avLst/>
          </a:prstGeom>
          <a:noFill/>
        </p:spPr>
        <p:txBody>
          <a:bodyPr wrap="square" lIns="0" rIns="0" tIns="0" bIns="0" anchor="t">
            <a:spAutoFit/>
          </a:bodyPr>
          <a:lstStyle/>
          <a:p>
            <a:pPr algn="r">
              <a:spcAft>
                <a:spcPts val="0"/>
              </a:spcAft>
            </a:pPr>
            <a:r>
              <a:rPr sz="900" b="1" i="0">
                <a:solidFill>
                  <a:srgbClr val="FFFFFF"/>
                </a:solidFill>
                <a:latin typeface="Aptos"/>
              </a:rPr>
              <a:t>04</a:t>
            </a:r>
          </a:p>
        </p:txBody>
      </p:sp>
      <p:sp>
        <p:nvSpPr>
          <p:cNvPr id="10" name="TextBox 9"/>
          <p:cNvSpPr txBox="1"/>
          <p:nvPr/>
        </p:nvSpPr>
        <p:spPr>
          <a:xfrm>
            <a:off x="475488" y="566928"/>
            <a:ext cx="10972800" cy="502920"/>
          </a:xfrm>
          <a:prstGeom prst="rect">
            <a:avLst/>
          </a:prstGeom>
          <a:noFill/>
        </p:spPr>
        <p:txBody>
          <a:bodyPr wrap="square" lIns="0" rIns="0" tIns="0" bIns="0" anchor="t">
            <a:spAutoFit/>
          </a:bodyPr>
          <a:lstStyle/>
          <a:p>
            <a:pPr algn="l">
              <a:spcAft>
                <a:spcPts val="0"/>
              </a:spcAft>
            </a:pPr>
            <a:r>
              <a:rPr sz="2700" b="1" i="0">
                <a:solidFill>
                  <a:srgbClr val="2B2D42"/>
                </a:solidFill>
                <a:latin typeface="Aptos Display Semibold"/>
              </a:rPr>
              <a:t>Common Economics and Tax-Basis Bridge</a:t>
            </a:r>
          </a:p>
        </p:txBody>
      </p:sp>
      <p:sp>
        <p:nvSpPr>
          <p:cNvPr id="11" name="TextBox 10"/>
          <p:cNvSpPr txBox="1"/>
          <p:nvPr/>
        </p:nvSpPr>
        <p:spPr>
          <a:xfrm>
            <a:off x="502920" y="1170432"/>
            <a:ext cx="5303520" cy="228600"/>
          </a:xfrm>
          <a:prstGeom prst="rect">
            <a:avLst/>
          </a:prstGeom>
          <a:noFill/>
        </p:spPr>
        <p:txBody>
          <a:bodyPr wrap="square" lIns="0" rIns="0" tIns="0" bIns="0" anchor="t">
            <a:spAutoFit/>
          </a:bodyPr>
          <a:lstStyle/>
          <a:p>
            <a:pPr algn="l">
              <a:spcAft>
                <a:spcPts val="0"/>
              </a:spcAft>
            </a:pPr>
            <a:r>
              <a:rPr sz="1100" b="1" i="0">
                <a:solidFill>
                  <a:srgbClr val="D90429"/>
                </a:solidFill>
                <a:latin typeface="Aptos"/>
              </a:rPr>
              <a:t>Common transaction assumptions</a:t>
            </a:r>
          </a:p>
        </p:txBody>
      </p:sp>
      <p:graphicFrame>
        <p:nvGraphicFramePr>
          <p:cNvPr id="12" name="Table 11"/>
          <p:cNvGraphicFramePr>
            <a:graphicFrameLocks noGrp="1"/>
          </p:cNvGraphicFramePr>
          <p:nvPr/>
        </p:nvGraphicFramePr>
        <p:xfrm>
          <a:off x="502920" y="1481328"/>
          <a:ext cx="5532120" cy="4389120"/>
        </p:xfrm>
        <a:graphic>
          <a:graphicData uri="http://schemas.openxmlformats.org/drawingml/2006/table">
            <a:tbl>
              <a:tblPr firstRow="1" bandRow="1">
                <a:tableStyleId>{5C22544A-7EE6-4342-B048-85BDC9FD1C3A}</a:tableStyleId>
              </a:tblPr>
              <a:tblGrid>
                <a:gridCol w="2039112"/>
                <a:gridCol w="1508760"/>
                <a:gridCol w="1234440"/>
                <a:gridCol w="749808"/>
              </a:tblGrid>
              <a:tr h="548640">
                <a:tc>
                  <a:txBody>
                    <a:bodyPr wrap="square" lIns="45720" rIns="45720" tIns="27432" bIns="27432"/>
                    <a:lstStyle/>
                    <a:p>
                      <a:pPr algn="l">
                        <a:spcAft>
                          <a:spcPts val="0"/>
                        </a:spcAft>
                      </a:pPr>
                      <a:r>
                        <a:rPr sz="840" b="1">
                          <a:solidFill>
                            <a:srgbClr val="FFFFFF"/>
                          </a:solidFill>
                          <a:latin typeface="Aptos"/>
                        </a:rPr>
                        <a:t>Transaction assumption</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40" b="1">
                          <a:solidFill>
                            <a:srgbClr val="FFFFFF"/>
                          </a:solidFill>
                          <a:latin typeface="Aptos"/>
                        </a:rPr>
                        <a:t>Amount / term</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40" b="1">
                          <a:solidFill>
                            <a:srgbClr val="FFFFFF"/>
                          </a:solidFill>
                          <a:latin typeface="Aptos"/>
                        </a:rPr>
                        <a:t>Source</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40" b="1">
                          <a:solidFill>
                            <a:srgbClr val="FFFFFF"/>
                          </a:solidFill>
                          <a:latin typeface="Aptos"/>
                        </a:rPr>
                        <a:t>Status</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548640">
                <a:tc>
                  <a:txBody>
                    <a:bodyPr wrap="square" lIns="45720" rIns="45720" tIns="27432" bIns="27432"/>
                    <a:lstStyle/>
                    <a:p>
                      <a:pPr algn="l">
                        <a:spcAft>
                          <a:spcPts val="0"/>
                        </a:spcAft>
                      </a:pPr>
                      <a:r>
                        <a:rPr sz="860" b="0">
                          <a:solidFill>
                            <a:srgbClr val="202230"/>
                          </a:solidFill>
                          <a:latin typeface="Aptos"/>
                        </a:rPr>
                        <a:t>Gross consideration</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60" b="0">
                          <a:solidFill>
                            <a:srgbClr val="202230"/>
                          </a:solidFill>
                          <a:latin typeface="Aptos"/>
                        </a:rPr>
                        <a:t>$28,735,000.00</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60" b="0">
                          <a:solidFill>
                            <a:srgbClr val="202230"/>
                          </a:solidFill>
                          <a:latin typeface="Aptos"/>
                        </a:rPr>
                        <a:t>Tax model v7</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60" b="0">
                          <a:solidFill>
                            <a:srgbClr val="202230"/>
                          </a:solidFill>
                          <a:latin typeface="Aptos"/>
                        </a:rPr>
                        <a:t>Fixed</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548640">
                <a:tc>
                  <a:txBody>
                    <a:bodyPr wrap="square" lIns="45720" rIns="45720" tIns="27432" bIns="27432"/>
                    <a:lstStyle/>
                    <a:p>
                      <a:pPr algn="l">
                        <a:spcAft>
                          <a:spcPts val="0"/>
                        </a:spcAft>
                      </a:pPr>
                      <a:r>
                        <a:rPr sz="860" b="0">
                          <a:solidFill>
                            <a:srgbClr val="202230"/>
                          </a:solidFill>
                          <a:latin typeface="Aptos"/>
                        </a:rPr>
                        <a:t>Selling costs</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60" b="0">
                          <a:solidFill>
                            <a:srgbClr val="202230"/>
                          </a:solidFill>
                          <a:latin typeface="Aptos"/>
                        </a:rPr>
                        <a:t>$(431,025.00)</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60" b="0">
                          <a:solidFill>
                            <a:srgbClr val="202230"/>
                          </a:solidFill>
                          <a:latin typeface="Aptos"/>
                        </a:rPr>
                        <a:t>Tax model v7</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60" b="0">
                          <a:solidFill>
                            <a:srgbClr val="202230"/>
                          </a:solidFill>
                          <a:latin typeface="Aptos"/>
                        </a:rPr>
                        <a:t>Modeled</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548640">
                <a:tc>
                  <a:txBody>
                    <a:bodyPr wrap="square" lIns="45720" rIns="45720" tIns="27432" bIns="27432"/>
                    <a:lstStyle/>
                    <a:p>
                      <a:pPr algn="l">
                        <a:spcAft>
                          <a:spcPts val="0"/>
                        </a:spcAft>
                      </a:pPr>
                      <a:r>
                        <a:rPr sz="860" b="0">
                          <a:solidFill>
                            <a:srgbClr val="202230"/>
                          </a:solidFill>
                          <a:latin typeface="Aptos"/>
                        </a:rPr>
                        <a:t>Net amount realized</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60" b="0">
                          <a:solidFill>
                            <a:srgbClr val="202230"/>
                          </a:solidFill>
                          <a:latin typeface="Aptos"/>
                        </a:rPr>
                        <a:t>$28,303,975.00</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60" b="0">
                          <a:solidFill>
                            <a:srgbClr val="202230"/>
                          </a:solidFill>
                          <a:latin typeface="Aptos"/>
                        </a:rPr>
                        <a:t>Tax model v7</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60" b="0">
                          <a:solidFill>
                            <a:srgbClr val="202230"/>
                          </a:solidFill>
                          <a:latin typeface="Aptos"/>
                        </a:rPr>
                        <a:t>Reconciled</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548640">
                <a:tc>
                  <a:txBody>
                    <a:bodyPr wrap="square" lIns="45720" rIns="45720" tIns="27432" bIns="27432"/>
                    <a:lstStyle/>
                    <a:p>
                      <a:pPr algn="l">
                        <a:spcAft>
                          <a:spcPts val="0"/>
                        </a:spcAft>
                      </a:pPr>
                      <a:r>
                        <a:rPr sz="860" b="0">
                          <a:solidFill>
                            <a:srgbClr val="202230"/>
                          </a:solidFill>
                          <a:latin typeface="Aptos"/>
                        </a:rPr>
                        <a:t>Closing principal</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60" b="0">
                          <a:solidFill>
                            <a:srgbClr val="202230"/>
                          </a:solidFill>
                          <a:latin typeface="Aptos"/>
                        </a:rPr>
                        <a:t>$7,183,750.00</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60" b="0">
                          <a:solidFill>
                            <a:srgbClr val="202230"/>
                          </a:solidFill>
                          <a:latin typeface="Aptos"/>
                        </a:rPr>
                        <a:t>Management assumption</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60" b="0">
                          <a:solidFill>
                            <a:srgbClr val="202230"/>
                          </a:solidFill>
                          <a:latin typeface="Aptos"/>
                        </a:rPr>
                        <a:t>Guardrail</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548640">
                <a:tc>
                  <a:txBody>
                    <a:bodyPr wrap="square" lIns="45720" rIns="45720" tIns="27432" bIns="27432"/>
                    <a:lstStyle/>
                    <a:p>
                      <a:pPr algn="l">
                        <a:spcAft>
                          <a:spcPts val="0"/>
                        </a:spcAft>
                      </a:pPr>
                      <a:r>
                        <a:rPr sz="860" b="0">
                          <a:solidFill>
                            <a:srgbClr val="202230"/>
                          </a:solidFill>
                          <a:latin typeface="Aptos"/>
                        </a:rPr>
                        <a:t>Secured seller note</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60" b="0">
                          <a:solidFill>
                            <a:srgbClr val="202230"/>
                          </a:solidFill>
                          <a:latin typeface="Aptos"/>
                        </a:rPr>
                        <a:t>$21,551,250.00</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60" b="0">
                          <a:solidFill>
                            <a:srgbClr val="202230"/>
                          </a:solidFill>
                          <a:latin typeface="Aptos"/>
                        </a:rPr>
                        <a:t>Management assumption</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60" b="0">
                          <a:solidFill>
                            <a:srgbClr val="202230"/>
                          </a:solidFill>
                          <a:latin typeface="Aptos"/>
                        </a:rPr>
                        <a:t>Guardrail</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548640">
                <a:tc>
                  <a:txBody>
                    <a:bodyPr wrap="square" lIns="45720" rIns="45720" tIns="27432" bIns="27432"/>
                    <a:lstStyle/>
                    <a:p>
                      <a:pPr algn="l">
                        <a:spcAft>
                          <a:spcPts val="0"/>
                        </a:spcAft>
                      </a:pPr>
                      <a:r>
                        <a:rPr sz="860" b="0">
                          <a:solidFill>
                            <a:srgbClr val="202230"/>
                          </a:solidFill>
                          <a:latin typeface="Aptos"/>
                        </a:rPr>
                        <a:t>Note term / interest</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60" b="0">
                          <a:solidFill>
                            <a:srgbClr val="202230"/>
                          </a:solidFill>
                          <a:latin typeface="Aptos"/>
                        </a:rPr>
                        <a:t>48 months / 6.35%</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60" b="0">
                          <a:solidFill>
                            <a:srgbClr val="202230"/>
                          </a:solidFill>
                          <a:latin typeface="Aptos"/>
                        </a:rPr>
                        <a:t>Management assumption</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60" b="0">
                          <a:solidFill>
                            <a:srgbClr val="202230"/>
                          </a:solidFill>
                          <a:latin typeface="Aptos"/>
                        </a:rPr>
                        <a:t>Quarterly interest</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548640">
                <a:tc>
                  <a:txBody>
                    <a:bodyPr wrap="square" lIns="45720" rIns="45720" tIns="27432" bIns="27432"/>
                    <a:lstStyle/>
                    <a:p>
                      <a:pPr algn="l">
                        <a:spcAft>
                          <a:spcPts val="0"/>
                        </a:spcAft>
                      </a:pPr>
                      <a:r>
                        <a:rPr sz="860" b="0">
                          <a:solidFill>
                            <a:srgbClr val="202230"/>
                          </a:solidFill>
                          <a:latin typeface="Aptos"/>
                        </a:rPr>
                        <a:t>Principal amortization</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60" b="0">
                          <a:solidFill>
                            <a:srgbClr val="202230"/>
                          </a:solidFill>
                          <a:latin typeface="Aptos"/>
                        </a:rPr>
                        <a:t>Annual, beginning Sep. 30, 2026</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60" b="0">
                          <a:solidFill>
                            <a:srgbClr val="202230"/>
                          </a:solidFill>
                          <a:latin typeface="Aptos"/>
                        </a:rPr>
                        <a:t>Management assumption</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60" b="0">
                          <a:solidFill>
                            <a:srgbClr val="202230"/>
                          </a:solidFill>
                          <a:latin typeface="Aptos"/>
                        </a:rPr>
                        <a:t>Four installments</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bl>
          </a:graphicData>
        </a:graphic>
      </p:graphicFrame>
      <p:sp>
        <p:nvSpPr>
          <p:cNvPr id="13" name="TextBox 12"/>
          <p:cNvSpPr txBox="1"/>
          <p:nvPr/>
        </p:nvSpPr>
        <p:spPr>
          <a:xfrm>
            <a:off x="6281928" y="1170432"/>
            <a:ext cx="5212080" cy="228600"/>
          </a:xfrm>
          <a:prstGeom prst="rect">
            <a:avLst/>
          </a:prstGeom>
          <a:noFill/>
        </p:spPr>
        <p:txBody>
          <a:bodyPr wrap="square" lIns="0" rIns="0" tIns="0" bIns="0" anchor="t">
            <a:spAutoFit/>
          </a:bodyPr>
          <a:lstStyle/>
          <a:p>
            <a:pPr algn="l">
              <a:spcAft>
                <a:spcPts val="0"/>
              </a:spcAft>
            </a:pPr>
            <a:r>
              <a:rPr sz="1100" b="1" i="0">
                <a:solidFill>
                  <a:srgbClr val="D90429"/>
                </a:solidFill>
                <a:latin typeface="Aptos"/>
              </a:rPr>
              <a:t>Adjusted tax basis</a:t>
            </a:r>
          </a:p>
        </p:txBody>
      </p:sp>
      <p:sp>
        <p:nvSpPr>
          <p:cNvPr id="14" name="Rectangle 13"/>
          <p:cNvSpPr/>
          <p:nvPr/>
        </p:nvSpPr>
        <p:spPr>
          <a:xfrm>
            <a:off x="6281928" y="1481328"/>
            <a:ext cx="2148840" cy="550164"/>
          </a:xfrm>
          <a:prstGeom prst="rect">
            <a:avLst/>
          </a:prstGeom>
          <a:solidFill>
            <a:srgbClr val="8D99AE"/>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7648" y="1517904"/>
            <a:ext cx="2057400" cy="477012"/>
          </a:xfrm>
          <a:prstGeom prst="rect">
            <a:avLst/>
          </a:prstGeom>
          <a:noFill/>
        </p:spPr>
        <p:txBody>
          <a:bodyPr wrap="square" lIns="9144" rIns="9144" tIns="9144" bIns="9144" anchor="t">
            <a:spAutoFit/>
          </a:bodyPr>
          <a:lstStyle/>
          <a:p>
            <a:pPr algn="l">
              <a:spcAft>
                <a:spcPts val="0"/>
              </a:spcAft>
            </a:pPr>
            <a:r>
              <a:rPr sz="860" b="1" i="0">
                <a:solidFill>
                  <a:srgbClr val="FFFFFF"/>
                </a:solidFill>
                <a:latin typeface="Aptos"/>
              </a:rPr>
              <a:t>Tax-basis bridge</a:t>
            </a:r>
          </a:p>
        </p:txBody>
      </p:sp>
      <p:sp>
        <p:nvSpPr>
          <p:cNvPr id="16" name="Rectangle 15"/>
          <p:cNvSpPr/>
          <p:nvPr/>
        </p:nvSpPr>
        <p:spPr>
          <a:xfrm>
            <a:off x="8430768" y="1481328"/>
            <a:ext cx="1234440" cy="550164"/>
          </a:xfrm>
          <a:prstGeom prst="rect">
            <a:avLst/>
          </a:prstGeom>
          <a:solidFill>
            <a:srgbClr val="8D99AE"/>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76488" y="1517904"/>
            <a:ext cx="1143000" cy="477012"/>
          </a:xfrm>
          <a:prstGeom prst="rect">
            <a:avLst/>
          </a:prstGeom>
          <a:noFill/>
        </p:spPr>
        <p:txBody>
          <a:bodyPr wrap="square" lIns="9144" rIns="9144" tIns="9144" bIns="9144" anchor="t">
            <a:spAutoFit/>
          </a:bodyPr>
          <a:lstStyle/>
          <a:p>
            <a:pPr algn="l">
              <a:spcAft>
                <a:spcPts val="0"/>
              </a:spcAft>
            </a:pPr>
            <a:r>
              <a:rPr sz="860" b="1" i="0">
                <a:solidFill>
                  <a:srgbClr val="FFFFFF"/>
                </a:solidFill>
                <a:latin typeface="Aptos"/>
              </a:rPr>
              <a:t>Amount</a:t>
            </a:r>
          </a:p>
        </p:txBody>
      </p:sp>
      <p:sp>
        <p:nvSpPr>
          <p:cNvPr id="18" name="Rectangle 17"/>
          <p:cNvSpPr/>
          <p:nvPr/>
        </p:nvSpPr>
        <p:spPr>
          <a:xfrm>
            <a:off x="9665208" y="1481328"/>
            <a:ext cx="1143000" cy="550164"/>
          </a:xfrm>
          <a:prstGeom prst="rect">
            <a:avLst/>
          </a:prstGeom>
          <a:solidFill>
            <a:srgbClr val="8D99AE"/>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10928" y="1517904"/>
            <a:ext cx="1051560" cy="477012"/>
          </a:xfrm>
          <a:prstGeom prst="rect">
            <a:avLst/>
          </a:prstGeom>
          <a:noFill/>
        </p:spPr>
        <p:txBody>
          <a:bodyPr wrap="square" lIns="9144" rIns="9144" tIns="9144" bIns="9144" anchor="t">
            <a:spAutoFit/>
          </a:bodyPr>
          <a:lstStyle/>
          <a:p>
            <a:pPr algn="l">
              <a:spcAft>
                <a:spcPts val="0"/>
              </a:spcAft>
            </a:pPr>
            <a:r>
              <a:rPr sz="860" b="1" i="0">
                <a:solidFill>
                  <a:srgbClr val="FFFFFF"/>
                </a:solidFill>
                <a:latin typeface="Aptos"/>
              </a:rPr>
              <a:t>Source</a:t>
            </a:r>
          </a:p>
        </p:txBody>
      </p:sp>
      <p:sp>
        <p:nvSpPr>
          <p:cNvPr id="20" name="Rectangle 19"/>
          <p:cNvSpPr/>
          <p:nvPr/>
        </p:nvSpPr>
        <p:spPr>
          <a:xfrm>
            <a:off x="10808208" y="1481328"/>
            <a:ext cx="877824" cy="550164"/>
          </a:xfrm>
          <a:prstGeom prst="rect">
            <a:avLst/>
          </a:prstGeom>
          <a:solidFill>
            <a:srgbClr val="8D99AE"/>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53928" y="1517904"/>
            <a:ext cx="786384" cy="477012"/>
          </a:xfrm>
          <a:prstGeom prst="rect">
            <a:avLst/>
          </a:prstGeom>
          <a:noFill/>
        </p:spPr>
        <p:txBody>
          <a:bodyPr wrap="square" lIns="9144" rIns="9144" tIns="9144" bIns="9144" anchor="t">
            <a:spAutoFit/>
          </a:bodyPr>
          <a:lstStyle/>
          <a:p>
            <a:pPr algn="l">
              <a:spcAft>
                <a:spcPts val="0"/>
              </a:spcAft>
            </a:pPr>
            <a:r>
              <a:rPr sz="860" b="1" i="0">
                <a:solidFill>
                  <a:srgbClr val="FFFFFF"/>
                </a:solidFill>
                <a:latin typeface="Aptos"/>
              </a:rPr>
              <a:t>Status</a:t>
            </a:r>
          </a:p>
        </p:txBody>
      </p:sp>
      <p:sp>
        <p:nvSpPr>
          <p:cNvPr id="22" name="Rectangle 21"/>
          <p:cNvSpPr/>
          <p:nvPr/>
        </p:nvSpPr>
        <p:spPr>
          <a:xfrm>
            <a:off x="6281928" y="2031492"/>
            <a:ext cx="2148840" cy="550164"/>
          </a:xfrm>
          <a:prstGeom prst="rect">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068068"/>
            <a:ext cx="2057400" cy="477012"/>
          </a:xfrm>
          <a:prstGeom prst="rect">
            <a:avLst/>
          </a:prstGeom>
          <a:noFill/>
        </p:spPr>
        <p:txBody>
          <a:bodyPr wrap="square" lIns="9144" rIns="9144" tIns="9144" bIns="9144" anchor="t">
            <a:spAutoFit/>
          </a:bodyPr>
          <a:lstStyle/>
          <a:p>
            <a:pPr algn="l">
              <a:spcAft>
                <a:spcPts val="0"/>
              </a:spcAft>
            </a:pPr>
            <a:r>
              <a:rPr sz="880" b="0" i="0">
                <a:solidFill>
                  <a:srgbClr val="202230"/>
                </a:solidFill>
                <a:latin typeface="Aptos"/>
              </a:rPr>
              <a:t>Original land basis</a:t>
            </a:r>
          </a:p>
        </p:txBody>
      </p:sp>
      <p:sp>
        <p:nvSpPr>
          <p:cNvPr id="24" name="Rectangle 23"/>
          <p:cNvSpPr/>
          <p:nvPr/>
        </p:nvSpPr>
        <p:spPr>
          <a:xfrm>
            <a:off x="8430768" y="2031492"/>
            <a:ext cx="1234440" cy="550164"/>
          </a:xfrm>
          <a:prstGeom prst="rect">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76488" y="2068068"/>
            <a:ext cx="1143000" cy="477012"/>
          </a:xfrm>
          <a:prstGeom prst="rect">
            <a:avLst/>
          </a:prstGeom>
          <a:noFill/>
        </p:spPr>
        <p:txBody>
          <a:bodyPr wrap="square" lIns="9144" rIns="9144" tIns="9144" bIns="9144" anchor="t">
            <a:spAutoFit/>
          </a:bodyPr>
          <a:lstStyle/>
          <a:p>
            <a:pPr algn="r">
              <a:spcAft>
                <a:spcPts val="0"/>
              </a:spcAft>
            </a:pPr>
            <a:r>
              <a:rPr sz="880" b="0" i="0">
                <a:solidFill>
                  <a:srgbClr val="202230"/>
                </a:solidFill>
                <a:latin typeface="Aptos"/>
              </a:rPr>
              <a:t>$4,286,375.00</a:t>
            </a:r>
          </a:p>
        </p:txBody>
      </p:sp>
      <p:sp>
        <p:nvSpPr>
          <p:cNvPr id="26" name="Rectangle 25"/>
          <p:cNvSpPr/>
          <p:nvPr/>
        </p:nvSpPr>
        <p:spPr>
          <a:xfrm>
            <a:off x="9665208" y="2031492"/>
            <a:ext cx="1143000" cy="550164"/>
          </a:xfrm>
          <a:prstGeom prst="rect">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10928" y="2068068"/>
            <a:ext cx="1051560" cy="477012"/>
          </a:xfrm>
          <a:prstGeom prst="rect">
            <a:avLst/>
          </a:prstGeom>
          <a:noFill/>
        </p:spPr>
        <p:txBody>
          <a:bodyPr wrap="square" lIns="9144" rIns="9144" tIns="9144" bIns="9144" anchor="t">
            <a:spAutoFit/>
          </a:bodyPr>
          <a:lstStyle/>
          <a:p>
            <a:pPr algn="l">
              <a:spcAft>
                <a:spcPts val="0"/>
              </a:spcAft>
            </a:pPr>
            <a:r>
              <a:rPr sz="880" b="0" i="0">
                <a:solidFill>
                  <a:srgbClr val="202230"/>
                </a:solidFill>
                <a:latin typeface="Aptos"/>
              </a:rPr>
              <a:t>Purchase file</a:t>
            </a:r>
          </a:p>
        </p:txBody>
      </p:sp>
      <p:sp>
        <p:nvSpPr>
          <p:cNvPr id="28" name="Rectangle 27"/>
          <p:cNvSpPr/>
          <p:nvPr/>
        </p:nvSpPr>
        <p:spPr>
          <a:xfrm>
            <a:off x="10808208" y="2031492"/>
            <a:ext cx="877824" cy="550164"/>
          </a:xfrm>
          <a:prstGeom prst="rect">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853928" y="2068068"/>
            <a:ext cx="786384" cy="477012"/>
          </a:xfrm>
          <a:prstGeom prst="rect">
            <a:avLst/>
          </a:prstGeom>
          <a:noFill/>
        </p:spPr>
        <p:txBody>
          <a:bodyPr wrap="square" lIns="9144" rIns="9144" tIns="9144" bIns="9144" anchor="t">
            <a:spAutoFit/>
          </a:bodyPr>
          <a:lstStyle/>
          <a:p>
            <a:pPr algn="l">
              <a:spcAft>
                <a:spcPts val="0"/>
              </a:spcAft>
            </a:pPr>
            <a:r>
              <a:rPr sz="880" b="0" i="0">
                <a:solidFill>
                  <a:srgbClr val="202230"/>
                </a:solidFill>
                <a:latin typeface="Aptos"/>
              </a:rPr>
              <a:t>Tied</a:t>
            </a:r>
          </a:p>
        </p:txBody>
      </p:sp>
      <p:sp>
        <p:nvSpPr>
          <p:cNvPr id="30" name="Rectangle 29"/>
          <p:cNvSpPr/>
          <p:nvPr/>
        </p:nvSpPr>
        <p:spPr>
          <a:xfrm>
            <a:off x="6281928" y="2581656"/>
            <a:ext cx="2148840" cy="550164"/>
          </a:xfrm>
          <a:prstGeom prst="rect">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27648" y="2618232"/>
            <a:ext cx="2057400" cy="477012"/>
          </a:xfrm>
          <a:prstGeom prst="rect">
            <a:avLst/>
          </a:prstGeom>
          <a:noFill/>
        </p:spPr>
        <p:txBody>
          <a:bodyPr wrap="square" lIns="9144" rIns="9144" tIns="9144" bIns="9144" anchor="t">
            <a:spAutoFit/>
          </a:bodyPr>
          <a:lstStyle/>
          <a:p>
            <a:pPr algn="l">
              <a:spcAft>
                <a:spcPts val="0"/>
              </a:spcAft>
            </a:pPr>
            <a:r>
              <a:rPr sz="880" b="0" i="0">
                <a:solidFill>
                  <a:srgbClr val="202230"/>
                </a:solidFill>
                <a:latin typeface="Aptos"/>
              </a:rPr>
              <a:t>Original building basis</a:t>
            </a:r>
          </a:p>
        </p:txBody>
      </p:sp>
      <p:sp>
        <p:nvSpPr>
          <p:cNvPr id="32" name="Rectangle 31"/>
          <p:cNvSpPr/>
          <p:nvPr/>
        </p:nvSpPr>
        <p:spPr>
          <a:xfrm>
            <a:off x="8430768" y="2581656"/>
            <a:ext cx="1234440" cy="550164"/>
          </a:xfrm>
          <a:prstGeom prst="rect">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76488" y="2618232"/>
            <a:ext cx="1143000" cy="477012"/>
          </a:xfrm>
          <a:prstGeom prst="rect">
            <a:avLst/>
          </a:prstGeom>
          <a:noFill/>
        </p:spPr>
        <p:txBody>
          <a:bodyPr wrap="square" lIns="9144" rIns="9144" tIns="9144" bIns="9144" anchor="t">
            <a:spAutoFit/>
          </a:bodyPr>
          <a:lstStyle/>
          <a:p>
            <a:pPr algn="r">
              <a:spcAft>
                <a:spcPts val="0"/>
              </a:spcAft>
            </a:pPr>
            <a:r>
              <a:rPr sz="880" b="0" i="0">
                <a:solidFill>
                  <a:srgbClr val="202230"/>
                </a:solidFill>
                <a:latin typeface="Aptos"/>
              </a:rPr>
              <a:t>$13,104,820.00</a:t>
            </a:r>
          </a:p>
        </p:txBody>
      </p:sp>
      <p:sp>
        <p:nvSpPr>
          <p:cNvPr id="34" name="Rectangle 33"/>
          <p:cNvSpPr/>
          <p:nvPr/>
        </p:nvSpPr>
        <p:spPr>
          <a:xfrm>
            <a:off x="9665208" y="2581656"/>
            <a:ext cx="1143000" cy="550164"/>
          </a:xfrm>
          <a:prstGeom prst="rect">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10928" y="2618232"/>
            <a:ext cx="1051560" cy="477012"/>
          </a:xfrm>
          <a:prstGeom prst="rect">
            <a:avLst/>
          </a:prstGeom>
          <a:noFill/>
        </p:spPr>
        <p:txBody>
          <a:bodyPr wrap="square" lIns="9144" rIns="9144" tIns="9144" bIns="9144" anchor="t">
            <a:spAutoFit/>
          </a:bodyPr>
          <a:lstStyle/>
          <a:p>
            <a:pPr algn="l">
              <a:spcAft>
                <a:spcPts val="0"/>
              </a:spcAft>
            </a:pPr>
            <a:r>
              <a:rPr sz="880" b="0" i="0">
                <a:solidFill>
                  <a:srgbClr val="202230"/>
                </a:solidFill>
                <a:latin typeface="Aptos"/>
              </a:rPr>
              <a:t>Purchase file</a:t>
            </a:r>
          </a:p>
        </p:txBody>
      </p:sp>
      <p:sp>
        <p:nvSpPr>
          <p:cNvPr id="36" name="Rectangle 35"/>
          <p:cNvSpPr/>
          <p:nvPr/>
        </p:nvSpPr>
        <p:spPr>
          <a:xfrm>
            <a:off x="10808208" y="2581656"/>
            <a:ext cx="877824" cy="550164"/>
          </a:xfrm>
          <a:prstGeom prst="rect">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853928" y="2618232"/>
            <a:ext cx="786384" cy="477012"/>
          </a:xfrm>
          <a:prstGeom prst="rect">
            <a:avLst/>
          </a:prstGeom>
          <a:noFill/>
        </p:spPr>
        <p:txBody>
          <a:bodyPr wrap="square" lIns="9144" rIns="9144" tIns="9144" bIns="9144" anchor="t">
            <a:spAutoFit/>
          </a:bodyPr>
          <a:lstStyle/>
          <a:p>
            <a:pPr algn="l">
              <a:spcAft>
                <a:spcPts val="0"/>
              </a:spcAft>
            </a:pPr>
            <a:r>
              <a:rPr sz="880" b="0" i="0">
                <a:solidFill>
                  <a:srgbClr val="202230"/>
                </a:solidFill>
                <a:latin typeface="Aptos"/>
              </a:rPr>
              <a:t>Tied</a:t>
            </a:r>
          </a:p>
        </p:txBody>
      </p:sp>
      <p:sp>
        <p:nvSpPr>
          <p:cNvPr id="38" name="Rectangle 37"/>
          <p:cNvSpPr/>
          <p:nvPr/>
        </p:nvSpPr>
        <p:spPr>
          <a:xfrm>
            <a:off x="6281928" y="3131820"/>
            <a:ext cx="2148840" cy="550164"/>
          </a:xfrm>
          <a:prstGeom prst="rect">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27648" y="3168396"/>
            <a:ext cx="2057400" cy="477012"/>
          </a:xfrm>
          <a:prstGeom prst="rect">
            <a:avLst/>
          </a:prstGeom>
          <a:noFill/>
        </p:spPr>
        <p:txBody>
          <a:bodyPr wrap="square" lIns="9144" rIns="9144" tIns="9144" bIns="9144" anchor="t">
            <a:spAutoFit/>
          </a:bodyPr>
          <a:lstStyle/>
          <a:p>
            <a:pPr algn="l">
              <a:spcAft>
                <a:spcPts val="0"/>
              </a:spcAft>
            </a:pPr>
            <a:r>
              <a:rPr sz="880" b="0" i="0">
                <a:solidFill>
                  <a:srgbClr val="202230"/>
                </a:solidFill>
                <a:latin typeface="Aptos"/>
              </a:rPr>
              <a:t>Capitalized improvements</a:t>
            </a:r>
          </a:p>
        </p:txBody>
      </p:sp>
      <p:sp>
        <p:nvSpPr>
          <p:cNvPr id="40" name="Rectangle 39"/>
          <p:cNvSpPr/>
          <p:nvPr/>
        </p:nvSpPr>
        <p:spPr>
          <a:xfrm>
            <a:off x="8430768" y="3131820"/>
            <a:ext cx="1234440" cy="550164"/>
          </a:xfrm>
          <a:prstGeom prst="rect">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76488" y="3168396"/>
            <a:ext cx="1143000" cy="477012"/>
          </a:xfrm>
          <a:prstGeom prst="rect">
            <a:avLst/>
          </a:prstGeom>
          <a:noFill/>
        </p:spPr>
        <p:txBody>
          <a:bodyPr wrap="square" lIns="9144" rIns="9144" tIns="9144" bIns="9144" anchor="t">
            <a:spAutoFit/>
          </a:bodyPr>
          <a:lstStyle/>
          <a:p>
            <a:pPr algn="r">
              <a:spcAft>
                <a:spcPts val="0"/>
              </a:spcAft>
            </a:pPr>
            <a:r>
              <a:rPr sz="880" b="0" i="0">
                <a:solidFill>
                  <a:srgbClr val="202230"/>
                </a:solidFill>
                <a:latin typeface="Aptos"/>
              </a:rPr>
              <a:t>$2,067,915.00</a:t>
            </a:r>
          </a:p>
        </p:txBody>
      </p:sp>
      <p:sp>
        <p:nvSpPr>
          <p:cNvPr id="42" name="Rectangle 41"/>
          <p:cNvSpPr/>
          <p:nvPr/>
        </p:nvSpPr>
        <p:spPr>
          <a:xfrm>
            <a:off x="9665208" y="3131820"/>
            <a:ext cx="1143000" cy="550164"/>
          </a:xfrm>
          <a:prstGeom prst="rect">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10928" y="3168396"/>
            <a:ext cx="1051560" cy="477012"/>
          </a:xfrm>
          <a:prstGeom prst="rect">
            <a:avLst/>
          </a:prstGeom>
          <a:noFill/>
        </p:spPr>
        <p:txBody>
          <a:bodyPr wrap="square" lIns="9144" rIns="9144" tIns="9144" bIns="9144" anchor="t">
            <a:spAutoFit/>
          </a:bodyPr>
          <a:lstStyle/>
          <a:p>
            <a:pPr algn="r">
              <a:spcAft>
                <a:spcPts val="0"/>
              </a:spcAft>
            </a:pPr>
            <a:r>
              <a:rPr sz="880" b="0" i="0">
                <a:solidFill>
                  <a:srgbClr val="202230"/>
                </a:solidFill>
                <a:latin typeface="Aptos"/>
              </a:rPr>
              <a:t>Tax model v7</a:t>
            </a:r>
          </a:p>
        </p:txBody>
      </p:sp>
      <p:sp>
        <p:nvSpPr>
          <p:cNvPr id="44" name="Rectangle 43"/>
          <p:cNvSpPr/>
          <p:nvPr/>
        </p:nvSpPr>
        <p:spPr>
          <a:xfrm>
            <a:off x="10808208" y="3131820"/>
            <a:ext cx="877824" cy="550164"/>
          </a:xfrm>
          <a:prstGeom prst="rect">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853928" y="3168396"/>
            <a:ext cx="786384" cy="477012"/>
          </a:xfrm>
          <a:prstGeom prst="rect">
            <a:avLst/>
          </a:prstGeom>
          <a:noFill/>
        </p:spPr>
        <p:txBody>
          <a:bodyPr wrap="square" lIns="9144" rIns="9144" tIns="9144" bIns="9144" anchor="t">
            <a:spAutoFit/>
          </a:bodyPr>
          <a:lstStyle/>
          <a:p>
            <a:pPr algn="l">
              <a:spcAft>
                <a:spcPts val="0"/>
              </a:spcAft>
            </a:pPr>
            <a:r>
              <a:rPr sz="880" b="0" i="0">
                <a:solidFill>
                  <a:srgbClr val="202230"/>
                </a:solidFill>
                <a:latin typeface="Aptos"/>
              </a:rPr>
              <a:t>Ledger review</a:t>
            </a:r>
          </a:p>
        </p:txBody>
      </p:sp>
      <p:sp>
        <p:nvSpPr>
          <p:cNvPr id="46" name="Rectangle 45"/>
          <p:cNvSpPr/>
          <p:nvPr/>
        </p:nvSpPr>
        <p:spPr>
          <a:xfrm>
            <a:off x="6281928" y="3681984"/>
            <a:ext cx="2148840" cy="550164"/>
          </a:xfrm>
          <a:prstGeom prst="rect">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27648" y="3718560"/>
            <a:ext cx="2057400" cy="477012"/>
          </a:xfrm>
          <a:prstGeom prst="rect">
            <a:avLst/>
          </a:prstGeom>
          <a:noFill/>
        </p:spPr>
        <p:txBody>
          <a:bodyPr wrap="square" lIns="9144" rIns="9144" tIns="9144" bIns="9144" anchor="t">
            <a:spAutoFit/>
          </a:bodyPr>
          <a:lstStyle/>
          <a:p>
            <a:pPr algn="l">
              <a:spcAft>
                <a:spcPts val="0"/>
              </a:spcAft>
            </a:pPr>
            <a:r>
              <a:rPr sz="880" b="0" i="0">
                <a:solidFill>
                  <a:srgbClr val="202230"/>
                </a:solidFill>
                <a:latin typeface="Aptos"/>
              </a:rPr>
              <a:t>Depreciation allowed or allowable</a:t>
            </a:r>
          </a:p>
        </p:txBody>
      </p:sp>
      <p:sp>
        <p:nvSpPr>
          <p:cNvPr id="48" name="Rectangle 47"/>
          <p:cNvSpPr/>
          <p:nvPr/>
        </p:nvSpPr>
        <p:spPr>
          <a:xfrm>
            <a:off x="8430768" y="3681984"/>
            <a:ext cx="1234440" cy="550164"/>
          </a:xfrm>
          <a:prstGeom prst="rect">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76488" y="3718560"/>
            <a:ext cx="1143000" cy="477012"/>
          </a:xfrm>
          <a:prstGeom prst="rect">
            <a:avLst/>
          </a:prstGeom>
          <a:noFill/>
        </p:spPr>
        <p:txBody>
          <a:bodyPr wrap="square" lIns="9144" rIns="9144" tIns="9144" bIns="9144" anchor="t">
            <a:spAutoFit/>
          </a:bodyPr>
          <a:lstStyle/>
          <a:p>
            <a:pPr algn="r">
              <a:spcAft>
                <a:spcPts val="0"/>
              </a:spcAft>
            </a:pPr>
            <a:r>
              <a:rPr sz="880" b="0" i="0">
                <a:solidFill>
                  <a:srgbClr val="202230"/>
                </a:solidFill>
                <a:latin typeface="Aptos"/>
              </a:rPr>
              <a:t>$(5,976,470.00)</a:t>
            </a:r>
          </a:p>
        </p:txBody>
      </p:sp>
      <p:sp>
        <p:nvSpPr>
          <p:cNvPr id="50" name="Rectangle 49"/>
          <p:cNvSpPr/>
          <p:nvPr/>
        </p:nvSpPr>
        <p:spPr>
          <a:xfrm>
            <a:off x="9665208" y="3681984"/>
            <a:ext cx="1143000" cy="550164"/>
          </a:xfrm>
          <a:prstGeom prst="rect">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10928" y="3718560"/>
            <a:ext cx="1051560" cy="477012"/>
          </a:xfrm>
          <a:prstGeom prst="rect">
            <a:avLst/>
          </a:prstGeom>
          <a:noFill/>
        </p:spPr>
        <p:txBody>
          <a:bodyPr wrap="square" lIns="9144" rIns="9144" tIns="9144" bIns="9144" anchor="t">
            <a:spAutoFit/>
          </a:bodyPr>
          <a:lstStyle/>
          <a:p>
            <a:pPr algn="r">
              <a:spcAft>
                <a:spcPts val="0"/>
              </a:spcAft>
            </a:pPr>
            <a:r>
              <a:rPr sz="880" b="0" i="0">
                <a:solidFill>
                  <a:srgbClr val="202230"/>
                </a:solidFill>
                <a:latin typeface="Aptos"/>
              </a:rPr>
              <a:t>Tax model v7</a:t>
            </a:r>
          </a:p>
        </p:txBody>
      </p:sp>
      <p:sp>
        <p:nvSpPr>
          <p:cNvPr id="52" name="Rectangle 51"/>
          <p:cNvSpPr/>
          <p:nvPr/>
        </p:nvSpPr>
        <p:spPr>
          <a:xfrm>
            <a:off x="10808208" y="3681984"/>
            <a:ext cx="877824" cy="550164"/>
          </a:xfrm>
          <a:prstGeom prst="rect">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853928" y="3718560"/>
            <a:ext cx="786384" cy="477012"/>
          </a:xfrm>
          <a:prstGeom prst="rect">
            <a:avLst/>
          </a:prstGeom>
          <a:noFill/>
        </p:spPr>
        <p:txBody>
          <a:bodyPr wrap="square" lIns="9144" rIns="9144" tIns="9144" bIns="9144" anchor="t">
            <a:spAutoFit/>
          </a:bodyPr>
          <a:lstStyle/>
          <a:p>
            <a:pPr algn="l">
              <a:spcAft>
                <a:spcPts val="0"/>
              </a:spcAft>
            </a:pPr>
            <a:r>
              <a:rPr sz="880" b="0" i="0">
                <a:solidFill>
                  <a:srgbClr val="202230"/>
                </a:solidFill>
                <a:latin typeface="Aptos"/>
              </a:rPr>
              <a:t>Ledger review</a:t>
            </a:r>
          </a:p>
        </p:txBody>
      </p:sp>
      <p:sp>
        <p:nvSpPr>
          <p:cNvPr id="54" name="Rectangle 53"/>
          <p:cNvSpPr/>
          <p:nvPr/>
        </p:nvSpPr>
        <p:spPr>
          <a:xfrm>
            <a:off x="6281928" y="4232148"/>
            <a:ext cx="2148840" cy="550164"/>
          </a:xfrm>
          <a:prstGeom prst="rect">
            <a:avLst/>
          </a:prstGeom>
          <a:solidFill>
            <a:srgbClr val="FBEAEC"/>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27648" y="4268724"/>
            <a:ext cx="2057400" cy="477012"/>
          </a:xfrm>
          <a:prstGeom prst="rect">
            <a:avLst/>
          </a:prstGeom>
          <a:noFill/>
        </p:spPr>
        <p:txBody>
          <a:bodyPr wrap="square" lIns="9144" rIns="9144" tIns="9144" bIns="9144" anchor="t">
            <a:spAutoFit/>
          </a:bodyPr>
          <a:lstStyle/>
          <a:p>
            <a:pPr algn="l">
              <a:spcAft>
                <a:spcPts val="0"/>
              </a:spcAft>
            </a:pPr>
            <a:r>
              <a:rPr sz="880" b="1" i="0">
                <a:solidFill>
                  <a:srgbClr val="D90429"/>
                </a:solidFill>
                <a:latin typeface="Aptos"/>
              </a:rPr>
              <a:t>Adjusted tax basis</a:t>
            </a:r>
          </a:p>
        </p:txBody>
      </p:sp>
      <p:sp>
        <p:nvSpPr>
          <p:cNvPr id="56" name="Rectangle 55"/>
          <p:cNvSpPr/>
          <p:nvPr/>
        </p:nvSpPr>
        <p:spPr>
          <a:xfrm>
            <a:off x="8430768" y="4232148"/>
            <a:ext cx="1234440" cy="550164"/>
          </a:xfrm>
          <a:prstGeom prst="rect">
            <a:avLst/>
          </a:prstGeom>
          <a:solidFill>
            <a:srgbClr val="FBEAEC"/>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76488" y="4268724"/>
            <a:ext cx="1143000" cy="477012"/>
          </a:xfrm>
          <a:prstGeom prst="rect">
            <a:avLst/>
          </a:prstGeom>
          <a:noFill/>
        </p:spPr>
        <p:txBody>
          <a:bodyPr wrap="square" lIns="9144" rIns="9144" tIns="9144" bIns="9144" anchor="t">
            <a:spAutoFit/>
          </a:bodyPr>
          <a:lstStyle/>
          <a:p>
            <a:pPr algn="r">
              <a:spcAft>
                <a:spcPts val="0"/>
              </a:spcAft>
            </a:pPr>
            <a:r>
              <a:rPr sz="880" b="1" i="0">
                <a:solidFill>
                  <a:srgbClr val="D90429"/>
                </a:solidFill>
                <a:latin typeface="Aptos"/>
              </a:rPr>
              <a:t>$13,482,640.00</a:t>
            </a:r>
          </a:p>
        </p:txBody>
      </p:sp>
      <p:sp>
        <p:nvSpPr>
          <p:cNvPr id="58" name="Rectangle 57"/>
          <p:cNvSpPr/>
          <p:nvPr/>
        </p:nvSpPr>
        <p:spPr>
          <a:xfrm>
            <a:off x="9665208" y="4232148"/>
            <a:ext cx="1143000" cy="550164"/>
          </a:xfrm>
          <a:prstGeom prst="rect">
            <a:avLst/>
          </a:prstGeom>
          <a:solidFill>
            <a:srgbClr val="FBEAEC"/>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10928" y="4268724"/>
            <a:ext cx="1051560" cy="477012"/>
          </a:xfrm>
          <a:prstGeom prst="rect">
            <a:avLst/>
          </a:prstGeom>
          <a:noFill/>
        </p:spPr>
        <p:txBody>
          <a:bodyPr wrap="square" lIns="9144" rIns="9144" tIns="9144" bIns="9144" anchor="t">
            <a:spAutoFit/>
          </a:bodyPr>
          <a:lstStyle/>
          <a:p>
            <a:pPr algn="r">
              <a:spcAft>
                <a:spcPts val="0"/>
              </a:spcAft>
            </a:pPr>
            <a:r>
              <a:rPr sz="880" b="1" i="0">
                <a:solidFill>
                  <a:srgbClr val="D90429"/>
                </a:solidFill>
                <a:latin typeface="Aptos"/>
              </a:rPr>
              <a:t>Tax model v7</a:t>
            </a:r>
          </a:p>
        </p:txBody>
      </p:sp>
      <p:sp>
        <p:nvSpPr>
          <p:cNvPr id="60" name="Rectangle 59"/>
          <p:cNvSpPr/>
          <p:nvPr/>
        </p:nvSpPr>
        <p:spPr>
          <a:xfrm>
            <a:off x="10808208" y="4232148"/>
            <a:ext cx="877824" cy="550164"/>
          </a:xfrm>
          <a:prstGeom prst="rect">
            <a:avLst/>
          </a:prstGeom>
          <a:solidFill>
            <a:srgbClr val="FBEAEC"/>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53928" y="4268724"/>
            <a:ext cx="786384" cy="477012"/>
          </a:xfrm>
          <a:prstGeom prst="rect">
            <a:avLst/>
          </a:prstGeom>
          <a:noFill/>
        </p:spPr>
        <p:txBody>
          <a:bodyPr wrap="square" lIns="9144" rIns="9144" tIns="9144" bIns="9144" anchor="t">
            <a:spAutoFit/>
          </a:bodyPr>
          <a:lstStyle/>
          <a:p>
            <a:pPr algn="l">
              <a:spcAft>
                <a:spcPts val="0"/>
              </a:spcAft>
            </a:pPr>
            <a:r>
              <a:rPr sz="880" b="1" i="0">
                <a:solidFill>
                  <a:srgbClr val="D90429"/>
                </a:solidFill>
                <a:latin typeface="Aptos"/>
              </a:rPr>
              <a:t>Preliminary</a:t>
            </a:r>
          </a:p>
        </p:txBody>
      </p:sp>
      <p:sp>
        <p:nvSpPr>
          <p:cNvPr id="62" name="Rounded Rectangle 61"/>
          <p:cNvSpPr/>
          <p:nvPr/>
        </p:nvSpPr>
        <p:spPr>
          <a:xfrm>
            <a:off x="6281928" y="4992624"/>
            <a:ext cx="5404104" cy="877824"/>
          </a:xfrm>
          <a:prstGeom prst="roundRect">
            <a:avLst>
              <a:gd name="adj" fmla="val 8000"/>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473952" y="5148072"/>
            <a:ext cx="1417320" cy="182880"/>
          </a:xfrm>
          <a:prstGeom prst="rect">
            <a:avLst/>
          </a:prstGeom>
          <a:noFill/>
        </p:spPr>
        <p:txBody>
          <a:bodyPr wrap="square" lIns="0" rIns="0" tIns="0" bIns="0" anchor="t">
            <a:spAutoFit/>
          </a:bodyPr>
          <a:lstStyle/>
          <a:p>
            <a:pPr algn="l">
              <a:spcAft>
                <a:spcPts val="0"/>
              </a:spcAft>
            </a:pPr>
            <a:r>
              <a:rPr sz="900" b="1" i="0">
                <a:solidFill>
                  <a:srgbClr val="60697A"/>
                </a:solidFill>
                <a:latin typeface="Aptos"/>
              </a:rPr>
              <a:t>Model perimeter</a:t>
            </a:r>
          </a:p>
        </p:txBody>
      </p:sp>
      <p:sp>
        <p:nvSpPr>
          <p:cNvPr id="64" name="TextBox 63"/>
          <p:cNvSpPr txBox="1"/>
          <p:nvPr/>
        </p:nvSpPr>
        <p:spPr>
          <a:xfrm>
            <a:off x="7909560" y="5111496"/>
            <a:ext cx="3493008" cy="237744"/>
          </a:xfrm>
          <a:prstGeom prst="rect">
            <a:avLst/>
          </a:prstGeom>
          <a:noFill/>
        </p:spPr>
        <p:txBody>
          <a:bodyPr wrap="square" lIns="0" rIns="0" tIns="0" bIns="0" anchor="t">
            <a:spAutoFit/>
          </a:bodyPr>
          <a:lstStyle/>
          <a:p>
            <a:pPr algn="l">
              <a:spcAft>
                <a:spcPts val="0"/>
              </a:spcAft>
            </a:pPr>
            <a:r>
              <a:rPr sz="1100" b="1" i="0">
                <a:solidFill>
                  <a:srgbClr val="2B2D42"/>
                </a:solidFill>
                <a:latin typeface="Aptos"/>
              </a:rPr>
              <a:t>Investment property; no buyer-assumed debt</a:t>
            </a:r>
          </a:p>
        </p:txBody>
      </p:sp>
      <p:sp>
        <p:nvSpPr>
          <p:cNvPr id="65" name="TextBox 64"/>
          <p:cNvSpPr txBox="1"/>
          <p:nvPr/>
        </p:nvSpPr>
        <p:spPr>
          <a:xfrm>
            <a:off x="7909560" y="5431536"/>
            <a:ext cx="3493008" cy="201168"/>
          </a:xfrm>
          <a:prstGeom prst="rect">
            <a:avLst/>
          </a:prstGeom>
          <a:noFill/>
        </p:spPr>
        <p:txBody>
          <a:bodyPr wrap="square" lIns="0" rIns="0" tIns="0" bIns="0" anchor="t">
            <a:spAutoFit/>
          </a:bodyPr>
          <a:lstStyle/>
          <a:p>
            <a:pPr algn="l">
              <a:spcAft>
                <a:spcPts val="0"/>
              </a:spcAft>
            </a:pPr>
            <a:r>
              <a:rPr sz="900" b="0" i="0">
                <a:solidFill>
                  <a:srgbClr val="60697A"/>
                </a:solidFill>
                <a:latin typeface="Aptos"/>
              </a:rPr>
              <a:t>Target closing: September 30,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B2D42"/>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58368"/>
            <a:ext cx="731520" cy="411480"/>
          </a:xfrm>
          <a:prstGeom prst="rect">
            <a:avLst/>
          </a:prstGeom>
          <a:noFill/>
        </p:spPr>
        <p:txBody>
          <a:bodyPr wrap="square" lIns="0" rIns="0" tIns="0" bIns="0" anchor="t">
            <a:spAutoFit/>
          </a:bodyPr>
          <a:lstStyle/>
          <a:p>
            <a:pPr algn="l">
              <a:spcAft>
                <a:spcPts val="0"/>
              </a:spcAft>
            </a:pPr>
            <a:r>
              <a:rPr sz="2300" b="1" i="0">
                <a:solidFill>
                  <a:srgbClr val="EF233C"/>
                </a:solidFill>
                <a:latin typeface="Aptos Display Semibold"/>
              </a:rPr>
              <a:t>02</a:t>
            </a:r>
          </a:p>
        </p:txBody>
      </p:sp>
      <p:sp>
        <p:nvSpPr>
          <p:cNvPr id="4" name="TextBox 3"/>
          <p:cNvSpPr txBox="1"/>
          <p:nvPr/>
        </p:nvSpPr>
        <p:spPr>
          <a:xfrm>
            <a:off x="658368" y="1170432"/>
            <a:ext cx="7498079" cy="640080"/>
          </a:xfrm>
          <a:prstGeom prst="rect">
            <a:avLst/>
          </a:prstGeom>
          <a:noFill/>
        </p:spPr>
        <p:txBody>
          <a:bodyPr wrap="square" lIns="0" rIns="0" tIns="0" bIns="0" anchor="t">
            <a:spAutoFit/>
          </a:bodyPr>
          <a:lstStyle/>
          <a:p>
            <a:pPr algn="l">
              <a:spcAft>
                <a:spcPts val="0"/>
              </a:spcAft>
            </a:pPr>
            <a:r>
              <a:rPr sz="3200" b="1" i="0">
                <a:solidFill>
                  <a:srgbClr val="FFFFFF"/>
                </a:solidFill>
                <a:latin typeface="Aptos Display Semibold"/>
              </a:rPr>
              <a:t>Structure Comparison</a:t>
            </a:r>
          </a:p>
        </p:txBody>
      </p:sp>
      <p:sp>
        <p:nvSpPr>
          <p:cNvPr id="5" name="TextBox 4"/>
          <p:cNvSpPr txBox="1"/>
          <p:nvPr/>
        </p:nvSpPr>
        <p:spPr>
          <a:xfrm>
            <a:off x="685800" y="2039112"/>
            <a:ext cx="9326880" cy="411480"/>
          </a:xfrm>
          <a:prstGeom prst="rect">
            <a:avLst/>
          </a:prstGeom>
          <a:noFill/>
        </p:spPr>
        <p:txBody>
          <a:bodyPr wrap="square" lIns="0" rIns="0" tIns="0" bIns="0" anchor="t">
            <a:spAutoFit/>
          </a:bodyPr>
          <a:lstStyle/>
          <a:p>
            <a:pPr algn="l">
              <a:spcAft>
                <a:spcPts val="0"/>
              </a:spcAft>
            </a:pPr>
            <a:r>
              <a:rPr sz="1600" b="0" i="0">
                <a:solidFill>
                  <a:srgbClr val="EDF2F4"/>
                </a:solidFill>
                <a:latin typeface="Aptos"/>
              </a:rPr>
              <a:t>Recognition profile | Transfer-tax exposure | Execution trade-offs</a:t>
            </a:r>
          </a:p>
        </p:txBody>
      </p:sp>
      <p:sp>
        <p:nvSpPr>
          <p:cNvPr id="6" name="Rounded Rectangle 5"/>
          <p:cNvSpPr/>
          <p:nvPr/>
        </p:nvSpPr>
        <p:spPr>
          <a:xfrm>
            <a:off x="685800" y="3063240"/>
            <a:ext cx="8412480" cy="566928"/>
          </a:xfrm>
          <a:prstGeom prst="roundRect">
            <a:avLst>
              <a:gd name="adj" fmla="val 8000"/>
            </a:avLst>
          </a:prstGeom>
          <a:solidFill>
            <a:srgbClr val="3C3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3063240"/>
            <a:ext cx="73152" cy="566928"/>
          </a:xfrm>
          <a:prstGeom prst="rect">
            <a:avLst/>
          </a:prstGeom>
          <a:solidFill>
            <a:srgbClr val="EF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3172968"/>
            <a:ext cx="2560320" cy="210312"/>
          </a:xfrm>
          <a:prstGeom prst="rect">
            <a:avLst/>
          </a:prstGeom>
          <a:noFill/>
        </p:spPr>
        <p:txBody>
          <a:bodyPr wrap="square" lIns="0" rIns="0" tIns="0" bIns="0" anchor="t">
            <a:spAutoFit/>
          </a:bodyPr>
          <a:lstStyle/>
          <a:p>
            <a:pPr algn="l">
              <a:spcAft>
                <a:spcPts val="0"/>
              </a:spcAft>
            </a:pPr>
            <a:r>
              <a:rPr sz="1200" b="1" i="0">
                <a:solidFill>
                  <a:srgbClr val="FFFFFF"/>
                </a:solidFill>
                <a:latin typeface="Aptos"/>
              </a:rPr>
              <a:t>Recognition profile</a:t>
            </a:r>
          </a:p>
        </p:txBody>
      </p:sp>
      <p:sp>
        <p:nvSpPr>
          <p:cNvPr id="9" name="TextBox 8"/>
          <p:cNvSpPr txBox="1"/>
          <p:nvPr/>
        </p:nvSpPr>
        <p:spPr>
          <a:xfrm>
            <a:off x="3749039" y="3182112"/>
            <a:ext cx="4983480" cy="201168"/>
          </a:xfrm>
          <a:prstGeom prst="rect">
            <a:avLst/>
          </a:prstGeom>
          <a:noFill/>
        </p:spPr>
        <p:txBody>
          <a:bodyPr wrap="square" lIns="0" rIns="0" tIns="0" bIns="0" anchor="t">
            <a:spAutoFit/>
          </a:bodyPr>
          <a:lstStyle/>
          <a:p>
            <a:pPr algn="l">
              <a:spcAft>
                <a:spcPts val="0"/>
              </a:spcAft>
            </a:pPr>
            <a:r>
              <a:rPr sz="1050" b="0" i="0">
                <a:solidFill>
                  <a:srgbClr val="EDF2F4"/>
                </a:solidFill>
                <a:latin typeface="Aptos"/>
              </a:rPr>
              <a:t>Timing and character</a:t>
            </a:r>
          </a:p>
        </p:txBody>
      </p:sp>
      <p:sp>
        <p:nvSpPr>
          <p:cNvPr id="10" name="Rounded Rectangle 9"/>
          <p:cNvSpPr/>
          <p:nvPr/>
        </p:nvSpPr>
        <p:spPr>
          <a:xfrm>
            <a:off x="685800" y="3886200"/>
            <a:ext cx="8412480" cy="566928"/>
          </a:xfrm>
          <a:prstGeom prst="roundRect">
            <a:avLst>
              <a:gd name="adj" fmla="val 8000"/>
            </a:avLst>
          </a:prstGeom>
          <a:solidFill>
            <a:srgbClr val="3C3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3886200"/>
            <a:ext cx="73152" cy="566928"/>
          </a:xfrm>
          <a:prstGeom prst="rect">
            <a:avLst/>
          </a:prstGeom>
          <a:solidFill>
            <a:srgbClr val="EF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3995928"/>
            <a:ext cx="2560320" cy="210312"/>
          </a:xfrm>
          <a:prstGeom prst="rect">
            <a:avLst/>
          </a:prstGeom>
          <a:noFill/>
        </p:spPr>
        <p:txBody>
          <a:bodyPr wrap="square" lIns="0" rIns="0" tIns="0" bIns="0" anchor="t">
            <a:spAutoFit/>
          </a:bodyPr>
          <a:lstStyle/>
          <a:p>
            <a:pPr algn="l">
              <a:spcAft>
                <a:spcPts val="0"/>
              </a:spcAft>
            </a:pPr>
            <a:r>
              <a:rPr sz="1200" b="1" i="0">
                <a:solidFill>
                  <a:srgbClr val="FFFFFF"/>
                </a:solidFill>
                <a:latin typeface="Aptos"/>
              </a:rPr>
              <a:t>Transfer-tax exposure</a:t>
            </a:r>
          </a:p>
        </p:txBody>
      </p:sp>
      <p:sp>
        <p:nvSpPr>
          <p:cNvPr id="13" name="TextBox 12"/>
          <p:cNvSpPr txBox="1"/>
          <p:nvPr/>
        </p:nvSpPr>
        <p:spPr>
          <a:xfrm>
            <a:off x="3749039" y="4005072"/>
            <a:ext cx="4983480" cy="201168"/>
          </a:xfrm>
          <a:prstGeom prst="rect">
            <a:avLst/>
          </a:prstGeom>
          <a:noFill/>
        </p:spPr>
        <p:txBody>
          <a:bodyPr wrap="square" lIns="0" rIns="0" tIns="0" bIns="0" anchor="t">
            <a:spAutoFit/>
          </a:bodyPr>
          <a:lstStyle/>
          <a:p>
            <a:pPr algn="l">
              <a:spcAft>
                <a:spcPts val="0"/>
              </a:spcAft>
            </a:pPr>
            <a:r>
              <a:rPr sz="1050" b="0" i="0">
                <a:solidFill>
                  <a:srgbClr val="EDF2F4"/>
                </a:solidFill>
                <a:latin typeface="Aptos"/>
              </a:rPr>
              <a:t>Direct and controlling-interest cases</a:t>
            </a:r>
          </a:p>
        </p:txBody>
      </p:sp>
      <p:sp>
        <p:nvSpPr>
          <p:cNvPr id="14" name="Rounded Rectangle 13"/>
          <p:cNvSpPr/>
          <p:nvPr/>
        </p:nvSpPr>
        <p:spPr>
          <a:xfrm>
            <a:off x="685800" y="4709160"/>
            <a:ext cx="8412480" cy="566928"/>
          </a:xfrm>
          <a:prstGeom prst="roundRect">
            <a:avLst>
              <a:gd name="adj" fmla="val 8000"/>
            </a:avLst>
          </a:prstGeom>
          <a:solidFill>
            <a:srgbClr val="3C3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4709160"/>
            <a:ext cx="73152" cy="566928"/>
          </a:xfrm>
          <a:prstGeom prst="rect">
            <a:avLst/>
          </a:prstGeom>
          <a:solidFill>
            <a:srgbClr val="EF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 y="4818888"/>
            <a:ext cx="2560320" cy="210312"/>
          </a:xfrm>
          <a:prstGeom prst="rect">
            <a:avLst/>
          </a:prstGeom>
          <a:noFill/>
        </p:spPr>
        <p:txBody>
          <a:bodyPr wrap="square" lIns="0" rIns="0" tIns="0" bIns="0" anchor="t">
            <a:spAutoFit/>
          </a:bodyPr>
          <a:lstStyle/>
          <a:p>
            <a:pPr algn="l">
              <a:spcAft>
                <a:spcPts val="0"/>
              </a:spcAft>
            </a:pPr>
            <a:r>
              <a:rPr sz="1200" b="1" i="0">
                <a:solidFill>
                  <a:srgbClr val="FFFFFF"/>
                </a:solidFill>
                <a:latin typeface="Aptos"/>
              </a:rPr>
              <a:t>Execution trade-offs</a:t>
            </a:r>
          </a:p>
        </p:txBody>
      </p:sp>
      <p:sp>
        <p:nvSpPr>
          <p:cNvPr id="17" name="TextBox 16"/>
          <p:cNvSpPr txBox="1"/>
          <p:nvPr/>
        </p:nvSpPr>
        <p:spPr>
          <a:xfrm>
            <a:off x="3749039" y="4828032"/>
            <a:ext cx="4983480" cy="201168"/>
          </a:xfrm>
          <a:prstGeom prst="rect">
            <a:avLst/>
          </a:prstGeom>
          <a:noFill/>
        </p:spPr>
        <p:txBody>
          <a:bodyPr wrap="square" lIns="0" rIns="0" tIns="0" bIns="0" anchor="t">
            <a:spAutoFit/>
          </a:bodyPr>
          <a:lstStyle/>
          <a:p>
            <a:pPr algn="l">
              <a:spcAft>
                <a:spcPts val="0"/>
              </a:spcAft>
            </a:pPr>
            <a:r>
              <a:rPr sz="1050" b="0" i="0">
                <a:solidFill>
                  <a:srgbClr val="EDF2F4"/>
                </a:solidFill>
                <a:latin typeface="Aptos"/>
              </a:rPr>
              <a:t>Cash certainty versus seller credit</a:t>
            </a:r>
          </a:p>
        </p:txBody>
      </p:sp>
      <p:sp>
        <p:nvSpPr>
          <p:cNvPr id="18" name="TextBox 17"/>
          <p:cNvSpPr txBox="1"/>
          <p:nvPr/>
        </p:nvSpPr>
        <p:spPr>
          <a:xfrm>
            <a:off x="11082528" y="6062472"/>
            <a:ext cx="530352" cy="201168"/>
          </a:xfrm>
          <a:prstGeom prst="rect">
            <a:avLst/>
          </a:prstGeom>
          <a:noFill/>
        </p:spPr>
        <p:txBody>
          <a:bodyPr wrap="square" lIns="0" rIns="0" tIns="0" bIns="0" anchor="t">
            <a:spAutoFit/>
          </a:bodyPr>
          <a:lstStyle/>
          <a:p>
            <a:pPr algn="r">
              <a:spcAft>
                <a:spcPts val="0"/>
              </a:spcAft>
            </a:pPr>
            <a:r>
              <a:rPr sz="900" b="1" i="0">
                <a:solidFill>
                  <a:srgbClr val="EDF2F4"/>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50292"/>
            <a:ext cx="594360" cy="228600"/>
          </a:xfrm>
          <a:prstGeom prst="rect">
            <a:avLst/>
          </a:prstGeom>
          <a:noFill/>
        </p:spPr>
        <p:txBody>
          <a:bodyPr wrap="square" lIns="0" rIns="0" tIns="0" bIns="0" anchor="t">
            <a:spAutoFit/>
          </a:bodyPr>
          <a:lstStyle/>
          <a:p>
            <a:pPr algn="l">
              <a:spcAft>
                <a:spcPts val="0"/>
              </a:spcAft>
            </a:pPr>
            <a:r>
              <a:rPr sz="1300" b="1" i="0">
                <a:solidFill>
                  <a:srgbClr val="FFFFFF"/>
                </a:solidFill>
                <a:latin typeface="Aptos Display Semibold"/>
              </a:rPr>
              <a:t>ADC</a:t>
            </a:r>
          </a:p>
        </p:txBody>
      </p:sp>
      <p:sp>
        <p:nvSpPr>
          <p:cNvPr id="4" name="Rectangle 3"/>
          <p:cNvSpPr/>
          <p:nvPr/>
        </p:nvSpPr>
        <p:spPr>
          <a:xfrm>
            <a:off x="1005840" y="105156"/>
            <a:ext cx="16459" cy="155448"/>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64008"/>
            <a:ext cx="2103120" cy="201168"/>
          </a:xfrm>
          <a:prstGeom prst="rect">
            <a:avLst/>
          </a:prstGeom>
          <a:noFill/>
        </p:spPr>
        <p:txBody>
          <a:bodyPr wrap="square" lIns="0" rIns="0" tIns="0" bIns="0" anchor="t">
            <a:spAutoFit/>
          </a:bodyPr>
          <a:lstStyle/>
          <a:p>
            <a:pPr algn="l">
              <a:spcAft>
                <a:spcPts val="0"/>
              </a:spcAft>
            </a:pPr>
            <a:r>
              <a:rPr sz="850" b="1" i="0">
                <a:solidFill>
                  <a:srgbClr val="EDF2F4"/>
                </a:solidFill>
                <a:latin typeface="Aptos"/>
              </a:rPr>
              <a:t>02 | COMPARISON</a:t>
            </a:r>
          </a:p>
        </p:txBody>
      </p:sp>
      <p:sp>
        <p:nvSpPr>
          <p:cNvPr id="6" name="TextBox 5"/>
          <p:cNvSpPr txBox="1"/>
          <p:nvPr/>
        </p:nvSpPr>
        <p:spPr>
          <a:xfrm>
            <a:off x="7680960" y="68580"/>
            <a:ext cx="4069080" cy="192024"/>
          </a:xfrm>
          <a:prstGeom prst="rect">
            <a:avLst/>
          </a:prstGeom>
          <a:noFill/>
        </p:spPr>
        <p:txBody>
          <a:bodyPr wrap="square" lIns="0" rIns="0" tIns="0" bIns="0" anchor="t">
            <a:spAutoFit/>
          </a:bodyPr>
          <a:lstStyle/>
          <a:p>
            <a:pPr algn="r">
              <a:spcAft>
                <a:spcPts val="0"/>
              </a:spcAft>
            </a:pPr>
            <a:r>
              <a:rPr sz="810" b="1" i="0">
                <a:solidFill>
                  <a:srgbClr val="EDF2F4"/>
                </a:solidFill>
                <a:latin typeface="Aptos"/>
              </a:rPr>
              <a:t>PRIVILEGED &amp; CONFIDENTIAL — TAX PLANNING DRAFT</a:t>
            </a:r>
          </a:p>
        </p:txBody>
      </p:sp>
      <p:sp>
        <p:nvSpPr>
          <p:cNvPr id="7" name="Rectangle 6"/>
          <p:cNvSpPr/>
          <p:nvPr/>
        </p:nvSpPr>
        <p:spPr>
          <a:xfrm>
            <a:off x="0" y="6547104"/>
            <a:ext cx="12191695" cy="310896"/>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6624828"/>
            <a:ext cx="9052560" cy="128016"/>
          </a:xfrm>
          <a:prstGeom prst="rect">
            <a:avLst/>
          </a:prstGeom>
          <a:noFill/>
        </p:spPr>
        <p:txBody>
          <a:bodyPr wrap="square" lIns="0" rIns="0" tIns="0" bIns="0" anchor="t">
            <a:spAutoFit/>
          </a:bodyPr>
          <a:lstStyle/>
          <a:p>
            <a:pPr algn="l">
              <a:spcAft>
                <a:spcPts val="0"/>
              </a:spcAft>
            </a:pPr>
            <a:r>
              <a:rPr sz="720" b="0" i="0">
                <a:solidFill>
                  <a:srgbClr val="EDF2F4"/>
                </a:solidFill>
                <a:latin typeface="Aptos"/>
              </a:rPr>
              <a:t>Internal tax model v7 | 2025-Q3 planning scenario</a:t>
            </a:r>
          </a:p>
        </p:txBody>
      </p:sp>
      <p:sp>
        <p:nvSpPr>
          <p:cNvPr id="9" name="TextBox 8"/>
          <p:cNvSpPr txBox="1"/>
          <p:nvPr/>
        </p:nvSpPr>
        <p:spPr>
          <a:xfrm>
            <a:off x="11201400" y="6597396"/>
            <a:ext cx="566928" cy="164592"/>
          </a:xfrm>
          <a:prstGeom prst="rect">
            <a:avLst/>
          </a:prstGeom>
          <a:noFill/>
        </p:spPr>
        <p:txBody>
          <a:bodyPr wrap="square" lIns="0" rIns="0" tIns="0" bIns="0" anchor="t">
            <a:spAutoFit/>
          </a:bodyPr>
          <a:lstStyle/>
          <a:p>
            <a:pPr algn="r">
              <a:spcAft>
                <a:spcPts val="0"/>
              </a:spcAft>
            </a:pPr>
            <a:r>
              <a:rPr sz="900" b="1" i="0">
                <a:solidFill>
                  <a:srgbClr val="FFFFFF"/>
                </a:solidFill>
                <a:latin typeface="Aptos"/>
              </a:rPr>
              <a:t>06</a:t>
            </a:r>
          </a:p>
        </p:txBody>
      </p:sp>
      <p:sp>
        <p:nvSpPr>
          <p:cNvPr id="10" name="TextBox 9"/>
          <p:cNvSpPr txBox="1"/>
          <p:nvPr/>
        </p:nvSpPr>
        <p:spPr>
          <a:xfrm>
            <a:off x="475488" y="566928"/>
            <a:ext cx="10972800" cy="502920"/>
          </a:xfrm>
          <a:prstGeom prst="rect">
            <a:avLst/>
          </a:prstGeom>
          <a:noFill/>
        </p:spPr>
        <p:txBody>
          <a:bodyPr wrap="square" lIns="0" rIns="0" tIns="0" bIns="0" anchor="t">
            <a:spAutoFit/>
          </a:bodyPr>
          <a:lstStyle/>
          <a:p>
            <a:pPr algn="l">
              <a:spcAft>
                <a:spcPts val="0"/>
              </a:spcAft>
            </a:pPr>
            <a:r>
              <a:rPr sz="2700" b="1" i="0">
                <a:solidFill>
                  <a:srgbClr val="2B2D42"/>
                </a:solidFill>
                <a:latin typeface="Aptos Display Semibold"/>
              </a:rPr>
              <a:t>Three Structures at a Glance</a:t>
            </a:r>
          </a:p>
        </p:txBody>
      </p:sp>
      <p:graphicFrame>
        <p:nvGraphicFramePr>
          <p:cNvPr id="11" name="Table 10"/>
          <p:cNvGraphicFramePr>
            <a:graphicFrameLocks noGrp="1"/>
          </p:cNvGraphicFramePr>
          <p:nvPr/>
        </p:nvGraphicFramePr>
        <p:xfrm>
          <a:off x="438912" y="1316736"/>
          <a:ext cx="11311128" cy="4553703"/>
        </p:xfrm>
        <a:graphic>
          <a:graphicData uri="http://schemas.openxmlformats.org/drawingml/2006/table">
            <a:tbl>
              <a:tblPr firstRow="1" bandRow="1">
                <a:tableStyleId>{5C22544A-7EE6-4342-B048-85BDC9FD1C3A}</a:tableStyleId>
              </a:tblPr>
              <a:tblGrid>
                <a:gridCol w="2148840"/>
                <a:gridCol w="2743200"/>
                <a:gridCol w="3154680"/>
                <a:gridCol w="3264408"/>
              </a:tblGrid>
              <a:tr h="413973">
                <a:tc>
                  <a:txBody>
                    <a:bodyPr wrap="square" lIns="45720" rIns="45720" tIns="27432" bIns="27432"/>
                    <a:lstStyle/>
                    <a:p>
                      <a:pPr algn="l">
                        <a:spcAft>
                          <a:spcPts val="0"/>
                        </a:spcAft>
                      </a:pPr>
                      <a:r>
                        <a:rPr sz="815" b="1">
                          <a:solidFill>
                            <a:srgbClr val="FFFFFF"/>
                          </a:solidFill>
                          <a:latin typeface="Aptos"/>
                        </a:rPr>
                        <a:t>Decision factor</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15" b="1">
                          <a:solidFill>
                            <a:srgbClr val="FFFFFF"/>
                          </a:solidFill>
                          <a:latin typeface="Aptos"/>
                        </a:rPr>
                        <a:t>Direct Asset Sale</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15" b="1">
                          <a:solidFill>
                            <a:srgbClr val="FFFFFF"/>
                          </a:solidFill>
                          <a:latin typeface="Aptos"/>
                        </a:rPr>
                        <a:t>Partnership-Interest Transfer</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15" b="1">
                          <a:solidFill>
                            <a:srgbClr val="FFFFFF"/>
                          </a:solidFill>
                          <a:latin typeface="Aptos"/>
                        </a:rPr>
                        <a:t>Installment Asset Sale</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413973">
                <a:tc>
                  <a:txBody>
                    <a:bodyPr wrap="square" lIns="45720" rIns="45720" tIns="27432" bIns="27432"/>
                    <a:lstStyle/>
                    <a:p>
                      <a:pPr algn="l">
                        <a:spcAft>
                          <a:spcPts val="0"/>
                        </a:spcAft>
                      </a:pPr>
                      <a:r>
                        <a:rPr sz="835" b="0">
                          <a:solidFill>
                            <a:srgbClr val="202230"/>
                          </a:solidFill>
                          <a:latin typeface="Aptos"/>
                        </a:rPr>
                        <a:t>Legal form</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35" b="0">
                          <a:solidFill>
                            <a:srgbClr val="202230"/>
                          </a:solidFill>
                          <a:latin typeface="Aptos"/>
                        </a:rPr>
                        <a:t>Property sale</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35" b="0">
                          <a:solidFill>
                            <a:srgbClr val="202230"/>
                          </a:solidFill>
                          <a:latin typeface="Aptos"/>
                        </a:rPr>
                        <a:t>&gt;50% LP-interest transfer</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35" b="0">
                          <a:solidFill>
                            <a:srgbClr val="202230"/>
                          </a:solidFill>
                          <a:latin typeface="Aptos"/>
                        </a:rPr>
                        <a:t>Property sale + seller note</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413973">
                <a:tc>
                  <a:txBody>
                    <a:bodyPr wrap="square" lIns="45720" rIns="45720" tIns="27432" bIns="27432"/>
                    <a:lstStyle/>
                    <a:p>
                      <a:pPr algn="l">
                        <a:spcAft>
                          <a:spcPts val="0"/>
                        </a:spcAft>
                      </a:pPr>
                      <a:r>
                        <a:rPr sz="835" b="0">
                          <a:solidFill>
                            <a:srgbClr val="202230"/>
                          </a:solidFill>
                          <a:latin typeface="Aptos"/>
                        </a:rPr>
                        <a:t>Gross consideration</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0">
                          <a:solidFill>
                            <a:srgbClr val="202230"/>
                          </a:solidFill>
                          <a:latin typeface="Aptos"/>
                        </a:rPr>
                        <a:t>$28,735,000.00</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0">
                          <a:solidFill>
                            <a:srgbClr val="202230"/>
                          </a:solidFill>
                          <a:latin typeface="Aptos"/>
                        </a:rPr>
                        <a:t>$28,735,000.00</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0">
                          <a:solidFill>
                            <a:srgbClr val="202230"/>
                          </a:solidFill>
                          <a:latin typeface="Aptos"/>
                        </a:rPr>
                        <a:t>$28,735,000.00</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413973">
                <a:tc>
                  <a:txBody>
                    <a:bodyPr wrap="square" lIns="45720" rIns="45720" tIns="27432" bIns="27432"/>
                    <a:lstStyle/>
                    <a:p>
                      <a:pPr algn="l">
                        <a:spcAft>
                          <a:spcPts val="0"/>
                        </a:spcAft>
                      </a:pPr>
                      <a:r>
                        <a:rPr sz="835" b="0">
                          <a:solidFill>
                            <a:srgbClr val="202230"/>
                          </a:solidFill>
                          <a:latin typeface="Aptos"/>
                        </a:rPr>
                        <a:t>Cash at closing</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0">
                          <a:solidFill>
                            <a:srgbClr val="202230"/>
                          </a:solidFill>
                          <a:latin typeface="Aptos"/>
                        </a:rPr>
                        <a:t>$28,735,000.00</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0">
                          <a:solidFill>
                            <a:srgbClr val="202230"/>
                          </a:solidFill>
                          <a:latin typeface="Aptos"/>
                        </a:rPr>
                        <a:t>$28,735,000.00</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0">
                          <a:solidFill>
                            <a:srgbClr val="202230"/>
                          </a:solidFill>
                          <a:latin typeface="Aptos"/>
                        </a:rPr>
                        <a:t>$7,183,750.00</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413973">
                <a:tc>
                  <a:txBody>
                    <a:bodyPr wrap="square" lIns="45720" rIns="45720" tIns="27432" bIns="27432"/>
                    <a:lstStyle/>
                    <a:p>
                      <a:pPr algn="l">
                        <a:spcAft>
                          <a:spcPts val="0"/>
                        </a:spcAft>
                      </a:pPr>
                      <a:r>
                        <a:rPr sz="835" b="0">
                          <a:solidFill>
                            <a:srgbClr val="202230"/>
                          </a:solidFill>
                          <a:latin typeface="Aptos"/>
                        </a:rPr>
                        <a:t>Deferred principal</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0">
                          <a:solidFill>
                            <a:srgbClr val="202230"/>
                          </a:solidFill>
                          <a:latin typeface="Aptos"/>
                        </a:rPr>
                        <a:t>$0.00</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0">
                          <a:solidFill>
                            <a:srgbClr val="202230"/>
                          </a:solidFill>
                          <a:latin typeface="Aptos"/>
                        </a:rPr>
                        <a:t>$0.00</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0">
                          <a:solidFill>
                            <a:srgbClr val="202230"/>
                          </a:solidFill>
                          <a:latin typeface="Aptos"/>
                        </a:rPr>
                        <a:t>$21,551,250.00</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413973">
                <a:tc>
                  <a:txBody>
                    <a:bodyPr wrap="square" lIns="45720" rIns="45720" tIns="27432" bIns="27432"/>
                    <a:lstStyle/>
                    <a:p>
                      <a:pPr algn="l">
                        <a:spcAft>
                          <a:spcPts val="0"/>
                        </a:spcAft>
                      </a:pPr>
                      <a:r>
                        <a:rPr sz="835" b="0">
                          <a:solidFill>
                            <a:srgbClr val="202230"/>
                          </a:solidFill>
                          <a:latin typeface="Aptos"/>
                        </a:rPr>
                        <a:t>Year-of-sale taxable gain</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0">
                          <a:solidFill>
                            <a:srgbClr val="202230"/>
                          </a:solidFill>
                          <a:latin typeface="Aptos"/>
                        </a:rPr>
                        <a:t>$14,821,335.00</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0">
                          <a:solidFill>
                            <a:srgbClr val="202230"/>
                          </a:solidFill>
                          <a:latin typeface="Aptos"/>
                        </a:rPr>
                        <a:t>$15,471,432.00</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0">
                          <a:solidFill>
                            <a:srgbClr val="202230"/>
                          </a:solidFill>
                          <a:latin typeface="Aptos"/>
                        </a:rPr>
                        <a:t>$4,670,163.75</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413973">
                <a:tc>
                  <a:txBody>
                    <a:bodyPr wrap="square" lIns="45720" rIns="45720" tIns="27432" bIns="27432"/>
                    <a:lstStyle/>
                    <a:p>
                      <a:pPr algn="l">
                        <a:spcAft>
                          <a:spcPts val="0"/>
                        </a:spcAft>
                      </a:pPr>
                      <a:r>
                        <a:rPr sz="835" b="0">
                          <a:solidFill>
                            <a:srgbClr val="202230"/>
                          </a:solidFill>
                          <a:latin typeface="Aptos"/>
                        </a:rPr>
                        <a:t>Ordinary-income component</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0">
                          <a:solidFill>
                            <a:srgbClr val="202230"/>
                          </a:solidFill>
                          <a:latin typeface="Aptos"/>
                        </a:rPr>
                        <a:t>$1,286,440.00 recapture</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0">
                          <a:solidFill>
                            <a:srgbClr val="202230"/>
                          </a:solidFill>
                          <a:latin typeface="Aptos"/>
                        </a:rPr>
                        <a:t>$1,011,760.00 §751</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0">
                          <a:solidFill>
                            <a:srgbClr val="202230"/>
                          </a:solidFill>
                          <a:latin typeface="Aptos"/>
                        </a:rPr>
                        <a:t>$1,286,440.00 recapture</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413973">
                <a:tc>
                  <a:txBody>
                    <a:bodyPr wrap="square" lIns="45720" rIns="45720" tIns="27432" bIns="27432"/>
                    <a:lstStyle/>
                    <a:p>
                      <a:pPr algn="l">
                        <a:spcAft>
                          <a:spcPts val="0"/>
                        </a:spcAft>
                      </a:pPr>
                      <a:r>
                        <a:rPr sz="835" b="0">
                          <a:solidFill>
                            <a:srgbClr val="202230"/>
                          </a:solidFill>
                          <a:latin typeface="Aptos"/>
                        </a:rPr>
                        <a:t>Documentary transfer tax</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0">
                          <a:solidFill>
                            <a:srgbClr val="202230"/>
                          </a:solidFill>
                          <a:latin typeface="Aptos"/>
                        </a:rPr>
                        <a:t>$160,916</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0">
                          <a:solidFill>
                            <a:srgbClr val="202230"/>
                          </a:solidFill>
                          <a:latin typeface="Aptos"/>
                        </a:rPr>
                        <a:t>$160,916</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0">
                          <a:solidFill>
                            <a:srgbClr val="202230"/>
                          </a:solidFill>
                          <a:latin typeface="Aptos"/>
                        </a:rPr>
                        <a:t>$160,916</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413973">
                <a:tc>
                  <a:txBody>
                    <a:bodyPr wrap="square" lIns="45720" rIns="45720" tIns="27432" bIns="27432"/>
                    <a:lstStyle/>
                    <a:p>
                      <a:pPr algn="l">
                        <a:spcAft>
                          <a:spcPts val="0"/>
                        </a:spcAft>
                      </a:pPr>
                      <a:r>
                        <a:rPr sz="835" b="0">
                          <a:solidFill>
                            <a:srgbClr val="202230"/>
                          </a:solidFill>
                          <a:latin typeface="Aptos"/>
                        </a:rPr>
                        <a:t>Seller credit exposure</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35" b="0">
                          <a:solidFill>
                            <a:srgbClr val="202230"/>
                          </a:solidFill>
                          <a:latin typeface="Aptos"/>
                        </a:rPr>
                        <a:t>None</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35" b="0">
                          <a:solidFill>
                            <a:srgbClr val="202230"/>
                          </a:solidFill>
                          <a:latin typeface="Aptos"/>
                        </a:rPr>
                        <a:t>None</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35" b="0">
                          <a:solidFill>
                            <a:srgbClr val="202230"/>
                          </a:solidFill>
                          <a:latin typeface="Aptos"/>
                        </a:rPr>
                        <a:t>High — secured note</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413973">
                <a:tc>
                  <a:txBody>
                    <a:bodyPr wrap="square" lIns="45720" rIns="45720" tIns="27432" bIns="27432"/>
                    <a:lstStyle/>
                    <a:p>
                      <a:pPr algn="l">
                        <a:spcAft>
                          <a:spcPts val="0"/>
                        </a:spcAft>
                      </a:pPr>
                      <a:r>
                        <a:rPr sz="835" b="0">
                          <a:solidFill>
                            <a:srgbClr val="202230"/>
                          </a:solidFill>
                          <a:latin typeface="Aptos"/>
                        </a:rPr>
                        <a:t>Principal execution condition</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35" b="0">
                          <a:solidFill>
                            <a:srgbClr val="202230"/>
                          </a:solidFill>
                          <a:latin typeface="Aptos"/>
                        </a:rPr>
                        <a:t>Clean title / cash funds</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35" b="0">
                          <a:solidFill>
                            <a:srgbClr val="202230"/>
                          </a:solidFill>
                          <a:latin typeface="Aptos"/>
                        </a:rPr>
                        <a:t>Buyer diligence + filings</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35" b="0">
                          <a:solidFill>
                            <a:srgbClr val="202230"/>
                          </a:solidFill>
                          <a:latin typeface="Aptos"/>
                        </a:rPr>
                        <a:t>Collateral + covenants + solvency</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413973">
                <a:tc>
                  <a:txBody>
                    <a:bodyPr wrap="square" lIns="45720" rIns="45720" tIns="27432" bIns="27432"/>
                    <a:lstStyle/>
                    <a:p>
                      <a:pPr algn="l">
                        <a:spcAft>
                          <a:spcPts val="0"/>
                        </a:spcAft>
                      </a:pPr>
                      <a:r>
                        <a:rPr sz="835" b="1">
                          <a:solidFill>
                            <a:srgbClr val="D90429"/>
                          </a:solidFill>
                          <a:latin typeface="Aptos"/>
                        </a:rPr>
                        <a:t>Preliminary ranking</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1">
                          <a:solidFill>
                            <a:srgbClr val="D90429"/>
                          </a:solidFill>
                          <a:latin typeface="Aptos"/>
                        </a:rPr>
                        <a:t>2</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1">
                          <a:solidFill>
                            <a:srgbClr val="D90429"/>
                          </a:solidFill>
                          <a:latin typeface="Aptos"/>
                        </a:rPr>
                        <a:t>3</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835" b="1">
                          <a:solidFill>
                            <a:srgbClr val="D90429"/>
                          </a:solidFill>
                          <a:latin typeface="Aptos"/>
                        </a:rPr>
                        <a:t>1</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bl>
          </a:graphicData>
        </a:graphic>
      </p:graphicFrame>
      <p:sp>
        <p:nvSpPr>
          <p:cNvPr id="12" name="Rounded Rectangle 11"/>
          <p:cNvSpPr/>
          <p:nvPr/>
        </p:nvSpPr>
        <p:spPr>
          <a:xfrm>
            <a:off x="502920" y="5989320"/>
            <a:ext cx="11082528" cy="384048"/>
          </a:xfrm>
          <a:prstGeom prst="roundRect">
            <a:avLst>
              <a:gd name="adj" fmla="val 8000"/>
            </a:avLst>
          </a:prstGeom>
          <a:solidFill>
            <a:srgbClr val="E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6089904"/>
            <a:ext cx="10716768" cy="146304"/>
          </a:xfrm>
          <a:prstGeom prst="rect">
            <a:avLst/>
          </a:prstGeom>
          <a:noFill/>
        </p:spPr>
        <p:txBody>
          <a:bodyPr wrap="square" lIns="0" rIns="0" tIns="0" bIns="0" anchor="t">
            <a:spAutoFit/>
          </a:bodyPr>
          <a:lstStyle/>
          <a:p>
            <a:pPr algn="l">
              <a:spcAft>
                <a:spcPts val="0"/>
              </a:spcAft>
            </a:pPr>
            <a:r>
              <a:rPr sz="880" b="1" i="0">
                <a:solidFill>
                  <a:srgbClr val="2B2D42"/>
                </a:solidFill>
                <a:latin typeface="Aptos"/>
              </a:rPr>
              <a:t>Installment defers eligible gain—not depreciation recapture. Equity mechanics do not eliminate hot-asset exposure.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50292"/>
            <a:ext cx="594360" cy="228600"/>
          </a:xfrm>
          <a:prstGeom prst="rect">
            <a:avLst/>
          </a:prstGeom>
          <a:noFill/>
        </p:spPr>
        <p:txBody>
          <a:bodyPr wrap="square" lIns="0" rIns="0" tIns="0" bIns="0" anchor="t">
            <a:spAutoFit/>
          </a:bodyPr>
          <a:lstStyle/>
          <a:p>
            <a:pPr algn="l">
              <a:spcAft>
                <a:spcPts val="0"/>
              </a:spcAft>
            </a:pPr>
            <a:r>
              <a:rPr sz="1300" b="1" i="0">
                <a:solidFill>
                  <a:srgbClr val="FFFFFF"/>
                </a:solidFill>
                <a:latin typeface="Aptos Display Semibold"/>
              </a:rPr>
              <a:t>ADC</a:t>
            </a:r>
          </a:p>
        </p:txBody>
      </p:sp>
      <p:sp>
        <p:nvSpPr>
          <p:cNvPr id="4" name="Rectangle 3"/>
          <p:cNvSpPr/>
          <p:nvPr/>
        </p:nvSpPr>
        <p:spPr>
          <a:xfrm>
            <a:off x="1005840" y="105156"/>
            <a:ext cx="16459" cy="155448"/>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64008"/>
            <a:ext cx="2103120" cy="201168"/>
          </a:xfrm>
          <a:prstGeom prst="rect">
            <a:avLst/>
          </a:prstGeom>
          <a:noFill/>
        </p:spPr>
        <p:txBody>
          <a:bodyPr wrap="square" lIns="0" rIns="0" tIns="0" bIns="0" anchor="t">
            <a:spAutoFit/>
          </a:bodyPr>
          <a:lstStyle/>
          <a:p>
            <a:pPr algn="l">
              <a:spcAft>
                <a:spcPts val="0"/>
              </a:spcAft>
            </a:pPr>
            <a:r>
              <a:rPr sz="850" b="1" i="0">
                <a:solidFill>
                  <a:srgbClr val="EDF2F4"/>
                </a:solidFill>
                <a:latin typeface="Aptos"/>
              </a:rPr>
              <a:t>02 | COMPARISON</a:t>
            </a:r>
          </a:p>
        </p:txBody>
      </p:sp>
      <p:sp>
        <p:nvSpPr>
          <p:cNvPr id="6" name="TextBox 5"/>
          <p:cNvSpPr txBox="1"/>
          <p:nvPr/>
        </p:nvSpPr>
        <p:spPr>
          <a:xfrm>
            <a:off x="7680960" y="68580"/>
            <a:ext cx="4069080" cy="192024"/>
          </a:xfrm>
          <a:prstGeom prst="rect">
            <a:avLst/>
          </a:prstGeom>
          <a:noFill/>
        </p:spPr>
        <p:txBody>
          <a:bodyPr wrap="square" lIns="0" rIns="0" tIns="0" bIns="0" anchor="t">
            <a:spAutoFit/>
          </a:bodyPr>
          <a:lstStyle/>
          <a:p>
            <a:pPr algn="r">
              <a:spcAft>
                <a:spcPts val="0"/>
              </a:spcAft>
            </a:pPr>
            <a:r>
              <a:rPr sz="810" b="1" i="0">
                <a:solidFill>
                  <a:srgbClr val="EDF2F4"/>
                </a:solidFill>
                <a:latin typeface="Aptos"/>
              </a:rPr>
              <a:t>PRIVILEGED &amp; CONFIDENTIAL — TAX PLANNING DRAFT</a:t>
            </a:r>
          </a:p>
        </p:txBody>
      </p:sp>
      <p:sp>
        <p:nvSpPr>
          <p:cNvPr id="7" name="Rectangle 6"/>
          <p:cNvSpPr/>
          <p:nvPr/>
        </p:nvSpPr>
        <p:spPr>
          <a:xfrm>
            <a:off x="0" y="6547104"/>
            <a:ext cx="12191695" cy="310896"/>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6624828"/>
            <a:ext cx="9052560" cy="128016"/>
          </a:xfrm>
          <a:prstGeom prst="rect">
            <a:avLst/>
          </a:prstGeom>
          <a:noFill/>
        </p:spPr>
        <p:txBody>
          <a:bodyPr wrap="square" lIns="0" rIns="0" tIns="0" bIns="0" anchor="t">
            <a:spAutoFit/>
          </a:bodyPr>
          <a:lstStyle/>
          <a:p>
            <a:pPr algn="l">
              <a:spcAft>
                <a:spcPts val="0"/>
              </a:spcAft>
            </a:pPr>
            <a:r>
              <a:rPr sz="720" b="0" i="0">
                <a:solidFill>
                  <a:srgbClr val="EDF2F4"/>
                </a:solidFill>
                <a:latin typeface="Aptos"/>
              </a:rPr>
              <a:t>Internal tax model v7 | 2025-Q3 planning scenario</a:t>
            </a:r>
          </a:p>
        </p:txBody>
      </p:sp>
      <p:sp>
        <p:nvSpPr>
          <p:cNvPr id="9" name="TextBox 8"/>
          <p:cNvSpPr txBox="1"/>
          <p:nvPr/>
        </p:nvSpPr>
        <p:spPr>
          <a:xfrm>
            <a:off x="11201400" y="6597396"/>
            <a:ext cx="566928" cy="164592"/>
          </a:xfrm>
          <a:prstGeom prst="rect">
            <a:avLst/>
          </a:prstGeom>
          <a:noFill/>
        </p:spPr>
        <p:txBody>
          <a:bodyPr wrap="square" lIns="0" rIns="0" tIns="0" bIns="0" anchor="t">
            <a:spAutoFit/>
          </a:bodyPr>
          <a:lstStyle/>
          <a:p>
            <a:pPr algn="r">
              <a:spcAft>
                <a:spcPts val="0"/>
              </a:spcAft>
            </a:pPr>
            <a:r>
              <a:rPr sz="900" b="1" i="0">
                <a:solidFill>
                  <a:srgbClr val="FFFFFF"/>
                </a:solidFill>
                <a:latin typeface="Aptos"/>
              </a:rPr>
              <a:t>07</a:t>
            </a:r>
          </a:p>
        </p:txBody>
      </p:sp>
      <p:sp>
        <p:nvSpPr>
          <p:cNvPr id="10" name="TextBox 9"/>
          <p:cNvSpPr txBox="1"/>
          <p:nvPr/>
        </p:nvSpPr>
        <p:spPr>
          <a:xfrm>
            <a:off x="475488" y="566928"/>
            <a:ext cx="10972800" cy="502920"/>
          </a:xfrm>
          <a:prstGeom prst="rect">
            <a:avLst/>
          </a:prstGeom>
          <a:noFill/>
        </p:spPr>
        <p:txBody>
          <a:bodyPr wrap="square" lIns="0" rIns="0" tIns="0" bIns="0" anchor="t">
            <a:spAutoFit/>
          </a:bodyPr>
          <a:lstStyle/>
          <a:p>
            <a:pPr algn="l">
              <a:spcAft>
                <a:spcPts val="0"/>
              </a:spcAft>
            </a:pPr>
            <a:r>
              <a:rPr sz="2700" b="1" i="0">
                <a:solidFill>
                  <a:srgbClr val="2B2D42"/>
                </a:solidFill>
                <a:latin typeface="Aptos Display Semibold"/>
              </a:rPr>
              <a:t>Year-of-Sale Taxable Gain Falls 68% Under Installment Structure</a:t>
            </a:r>
          </a:p>
        </p:txBody>
      </p:sp>
      <p:graphicFrame>
        <p:nvGraphicFramePr>
          <p:cNvPr id="11" name="Chart 10"/>
          <p:cNvGraphicFramePr>
            <a:graphicFrameLocks noGrp="1"/>
          </p:cNvGraphicFramePr>
          <p:nvPr/>
        </p:nvGraphicFramePr>
        <p:xfrm>
          <a:off x="502920" y="1389888"/>
          <a:ext cx="7818120" cy="4434840"/>
        </p:xfrm>
        <a:graphic>
          <a:graphicData uri="http://schemas.openxmlformats.org/drawingml/2006/chart">
            <c:chart xmlns:c="http://schemas.openxmlformats.org/drawingml/2006/chart" r:id="rId2"/>
          </a:graphicData>
        </a:graphic>
      </p:graphicFrame>
      <p:sp>
        <p:nvSpPr>
          <p:cNvPr id="12" name="Rounded Rectangle 11"/>
          <p:cNvSpPr/>
          <p:nvPr/>
        </p:nvSpPr>
        <p:spPr>
          <a:xfrm>
            <a:off x="8613648" y="1417320"/>
            <a:ext cx="3072384" cy="1389888"/>
          </a:xfrm>
          <a:prstGeom prst="roundRect">
            <a:avLst>
              <a:gd name="adj" fmla="val 8000"/>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1392" y="1664208"/>
            <a:ext cx="2578608" cy="201168"/>
          </a:xfrm>
          <a:prstGeom prst="rect">
            <a:avLst/>
          </a:prstGeom>
          <a:noFill/>
        </p:spPr>
        <p:txBody>
          <a:bodyPr wrap="square" lIns="0" rIns="0" tIns="0" bIns="0" anchor="t">
            <a:spAutoFit/>
          </a:bodyPr>
          <a:lstStyle/>
          <a:p>
            <a:pPr algn="l">
              <a:spcAft>
                <a:spcPts val="0"/>
              </a:spcAft>
            </a:pPr>
            <a:r>
              <a:rPr sz="900" b="1" i="0">
                <a:solidFill>
                  <a:srgbClr val="EDF2F4"/>
                </a:solidFill>
                <a:latin typeface="Aptos"/>
              </a:rPr>
              <a:t>2025 GAIN DEFERRED</a:t>
            </a:r>
          </a:p>
        </p:txBody>
      </p:sp>
      <p:sp>
        <p:nvSpPr>
          <p:cNvPr id="14" name="TextBox 13"/>
          <p:cNvSpPr txBox="1"/>
          <p:nvPr/>
        </p:nvSpPr>
        <p:spPr>
          <a:xfrm>
            <a:off x="8851392" y="1984248"/>
            <a:ext cx="2578608" cy="420624"/>
          </a:xfrm>
          <a:prstGeom prst="rect">
            <a:avLst/>
          </a:prstGeom>
          <a:noFill/>
        </p:spPr>
        <p:txBody>
          <a:bodyPr wrap="square" lIns="0" rIns="0" tIns="0" bIns="0" anchor="t">
            <a:spAutoFit/>
          </a:bodyPr>
          <a:lstStyle/>
          <a:p>
            <a:pPr algn="l">
              <a:spcAft>
                <a:spcPts val="0"/>
              </a:spcAft>
            </a:pPr>
            <a:r>
              <a:rPr sz="2500" b="1" i="0">
                <a:solidFill>
                  <a:srgbClr val="FFFFFF"/>
                </a:solidFill>
                <a:latin typeface="Aptos Display Semibold"/>
              </a:rPr>
              <a:t>$10.151M</a:t>
            </a:r>
          </a:p>
        </p:txBody>
      </p:sp>
      <p:sp>
        <p:nvSpPr>
          <p:cNvPr id="15" name="TextBox 14"/>
          <p:cNvSpPr txBox="1"/>
          <p:nvPr/>
        </p:nvSpPr>
        <p:spPr>
          <a:xfrm>
            <a:off x="8851392" y="2459736"/>
            <a:ext cx="2578608" cy="164592"/>
          </a:xfrm>
          <a:prstGeom prst="rect">
            <a:avLst/>
          </a:prstGeom>
          <a:noFill/>
        </p:spPr>
        <p:txBody>
          <a:bodyPr wrap="square" lIns="0" rIns="0" tIns="0" bIns="0" anchor="t">
            <a:spAutoFit/>
          </a:bodyPr>
          <a:lstStyle/>
          <a:p>
            <a:pPr algn="l">
              <a:spcAft>
                <a:spcPts val="0"/>
              </a:spcAft>
            </a:pPr>
            <a:r>
              <a:rPr sz="880" b="0" i="0">
                <a:solidFill>
                  <a:srgbClr val="EDF2F4"/>
                </a:solidFill>
                <a:latin typeface="Aptos"/>
              </a:rPr>
              <a:t>versus direct asset sale</a:t>
            </a:r>
          </a:p>
        </p:txBody>
      </p:sp>
      <p:sp>
        <p:nvSpPr>
          <p:cNvPr id="16" name="TextBox 15"/>
          <p:cNvSpPr txBox="1"/>
          <p:nvPr/>
        </p:nvSpPr>
        <p:spPr>
          <a:xfrm>
            <a:off x="8613648" y="3090672"/>
            <a:ext cx="2971800" cy="1993392"/>
          </a:xfrm>
          <a:prstGeom prst="rect">
            <a:avLst/>
          </a:prstGeom>
          <a:noFill/>
        </p:spPr>
        <p:txBody>
          <a:bodyPr wrap="square" lIns="18288" rIns="18288" tIns="18288" bIns="18288">
            <a:spAutoFit/>
          </a:bodyPr>
          <a:lstStyle/>
          <a:p>
            <a:pPr>
              <a:buChar char="•"/>
              <a:lnSpc>
                <a:spcPct val="100000"/>
              </a:lnSpc>
              <a:spcAft>
                <a:spcPts val="700"/>
              </a:spcAft>
              <a:defRPr sz="1100">
                <a:solidFill>
                  <a:srgbClr val="202230"/>
                </a:solidFill>
                <a:latin typeface="Aptos"/>
              </a:defRPr>
            </a:pPr>
            <a:r>
              <a:t>Direct: $14.821 million</a:t>
            </a:r>
          </a:p>
          <a:p>
            <a:pPr>
              <a:buChar char="•"/>
              <a:lnSpc>
                <a:spcPct val="100000"/>
              </a:lnSpc>
              <a:spcAft>
                <a:spcPts val="700"/>
              </a:spcAft>
              <a:defRPr sz="1100">
                <a:solidFill>
                  <a:srgbClr val="202230"/>
                </a:solidFill>
                <a:latin typeface="Aptos"/>
              </a:defRPr>
            </a:pPr>
            <a:r>
              <a:t>Equity: $15.471 million</a:t>
            </a:r>
          </a:p>
          <a:p>
            <a:pPr>
              <a:buChar char="•"/>
              <a:lnSpc>
                <a:spcPct val="100000"/>
              </a:lnSpc>
              <a:spcAft>
                <a:spcPts val="700"/>
              </a:spcAft>
              <a:defRPr sz="1100">
                <a:solidFill>
                  <a:srgbClr val="202230"/>
                </a:solidFill>
                <a:latin typeface="Aptos"/>
              </a:defRPr>
            </a:pPr>
            <a:r>
              <a:t>Installment: $4.670 million</a:t>
            </a:r>
          </a:p>
          <a:p>
            <a:pPr>
              <a:buChar char="•"/>
              <a:lnSpc>
                <a:spcPct val="100000"/>
              </a:lnSpc>
              <a:spcAft>
                <a:spcPts val="700"/>
              </a:spcAft>
              <a:defRPr sz="1100">
                <a:solidFill>
                  <a:srgbClr val="202230"/>
                </a:solidFill>
                <a:latin typeface="Aptos"/>
              </a:defRPr>
            </a:pPr>
            <a:r>
              <a:t>Interest excluded; reported separately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50292"/>
            <a:ext cx="594360" cy="228600"/>
          </a:xfrm>
          <a:prstGeom prst="rect">
            <a:avLst/>
          </a:prstGeom>
          <a:noFill/>
        </p:spPr>
        <p:txBody>
          <a:bodyPr wrap="square" lIns="0" rIns="0" tIns="0" bIns="0" anchor="t">
            <a:spAutoFit/>
          </a:bodyPr>
          <a:lstStyle/>
          <a:p>
            <a:pPr algn="l">
              <a:spcAft>
                <a:spcPts val="0"/>
              </a:spcAft>
            </a:pPr>
            <a:r>
              <a:rPr sz="1300" b="1" i="0">
                <a:solidFill>
                  <a:srgbClr val="FFFFFF"/>
                </a:solidFill>
                <a:latin typeface="Aptos Display Semibold"/>
              </a:rPr>
              <a:t>ADC</a:t>
            </a:r>
          </a:p>
        </p:txBody>
      </p:sp>
      <p:sp>
        <p:nvSpPr>
          <p:cNvPr id="4" name="Rectangle 3"/>
          <p:cNvSpPr/>
          <p:nvPr/>
        </p:nvSpPr>
        <p:spPr>
          <a:xfrm>
            <a:off x="1005840" y="105156"/>
            <a:ext cx="16459" cy="155448"/>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64008"/>
            <a:ext cx="2103120" cy="201168"/>
          </a:xfrm>
          <a:prstGeom prst="rect">
            <a:avLst/>
          </a:prstGeom>
          <a:noFill/>
        </p:spPr>
        <p:txBody>
          <a:bodyPr wrap="square" lIns="0" rIns="0" tIns="0" bIns="0" anchor="t">
            <a:spAutoFit/>
          </a:bodyPr>
          <a:lstStyle/>
          <a:p>
            <a:pPr algn="l">
              <a:spcAft>
                <a:spcPts val="0"/>
              </a:spcAft>
            </a:pPr>
            <a:r>
              <a:rPr sz="850" b="1" i="0">
                <a:solidFill>
                  <a:srgbClr val="EDF2F4"/>
                </a:solidFill>
                <a:latin typeface="Aptos"/>
              </a:rPr>
              <a:t>02 | COMPARISON</a:t>
            </a:r>
          </a:p>
        </p:txBody>
      </p:sp>
      <p:sp>
        <p:nvSpPr>
          <p:cNvPr id="6" name="TextBox 5"/>
          <p:cNvSpPr txBox="1"/>
          <p:nvPr/>
        </p:nvSpPr>
        <p:spPr>
          <a:xfrm>
            <a:off x="7680960" y="68580"/>
            <a:ext cx="4069080" cy="192024"/>
          </a:xfrm>
          <a:prstGeom prst="rect">
            <a:avLst/>
          </a:prstGeom>
          <a:noFill/>
        </p:spPr>
        <p:txBody>
          <a:bodyPr wrap="square" lIns="0" rIns="0" tIns="0" bIns="0" anchor="t">
            <a:spAutoFit/>
          </a:bodyPr>
          <a:lstStyle/>
          <a:p>
            <a:pPr algn="r">
              <a:spcAft>
                <a:spcPts val="0"/>
              </a:spcAft>
            </a:pPr>
            <a:r>
              <a:rPr sz="810" b="1" i="0">
                <a:solidFill>
                  <a:srgbClr val="EDF2F4"/>
                </a:solidFill>
                <a:latin typeface="Aptos"/>
              </a:rPr>
              <a:t>PRIVILEGED &amp; CONFIDENTIAL — TAX PLANNING DRAFT</a:t>
            </a:r>
          </a:p>
        </p:txBody>
      </p:sp>
      <p:sp>
        <p:nvSpPr>
          <p:cNvPr id="7" name="Rectangle 6"/>
          <p:cNvSpPr/>
          <p:nvPr/>
        </p:nvSpPr>
        <p:spPr>
          <a:xfrm>
            <a:off x="0" y="6547104"/>
            <a:ext cx="12191695" cy="310896"/>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6624828"/>
            <a:ext cx="9052560" cy="128016"/>
          </a:xfrm>
          <a:prstGeom prst="rect">
            <a:avLst/>
          </a:prstGeom>
          <a:noFill/>
        </p:spPr>
        <p:txBody>
          <a:bodyPr wrap="square" lIns="0" rIns="0" tIns="0" bIns="0" anchor="t">
            <a:spAutoFit/>
          </a:bodyPr>
          <a:lstStyle/>
          <a:p>
            <a:pPr algn="l">
              <a:spcAft>
                <a:spcPts val="0"/>
              </a:spcAft>
            </a:pPr>
            <a:r>
              <a:rPr sz="720" b="0" i="0">
                <a:solidFill>
                  <a:srgbClr val="EDF2F4"/>
                </a:solidFill>
                <a:latin typeface="Aptos"/>
              </a:rPr>
              <a:t>Internal tax model v7 | 2025-Q3 planning scenario</a:t>
            </a:r>
          </a:p>
        </p:txBody>
      </p:sp>
      <p:sp>
        <p:nvSpPr>
          <p:cNvPr id="9" name="TextBox 8"/>
          <p:cNvSpPr txBox="1"/>
          <p:nvPr/>
        </p:nvSpPr>
        <p:spPr>
          <a:xfrm>
            <a:off x="11201400" y="6597396"/>
            <a:ext cx="566928" cy="164592"/>
          </a:xfrm>
          <a:prstGeom prst="rect">
            <a:avLst/>
          </a:prstGeom>
          <a:noFill/>
        </p:spPr>
        <p:txBody>
          <a:bodyPr wrap="square" lIns="0" rIns="0" tIns="0" bIns="0" anchor="t">
            <a:spAutoFit/>
          </a:bodyPr>
          <a:lstStyle/>
          <a:p>
            <a:pPr algn="r">
              <a:spcAft>
                <a:spcPts val="0"/>
              </a:spcAft>
            </a:pPr>
            <a:r>
              <a:rPr sz="900" b="1" i="0">
                <a:solidFill>
                  <a:srgbClr val="FFFFFF"/>
                </a:solidFill>
                <a:latin typeface="Aptos"/>
              </a:rPr>
              <a:t>08</a:t>
            </a:r>
          </a:p>
        </p:txBody>
      </p:sp>
      <p:sp>
        <p:nvSpPr>
          <p:cNvPr id="10" name="TextBox 9"/>
          <p:cNvSpPr txBox="1"/>
          <p:nvPr/>
        </p:nvSpPr>
        <p:spPr>
          <a:xfrm>
            <a:off x="475488" y="566928"/>
            <a:ext cx="10972800" cy="502920"/>
          </a:xfrm>
          <a:prstGeom prst="rect">
            <a:avLst/>
          </a:prstGeom>
          <a:noFill/>
        </p:spPr>
        <p:txBody>
          <a:bodyPr wrap="square" lIns="0" rIns="0" tIns="0" bIns="0" anchor="t">
            <a:spAutoFit/>
          </a:bodyPr>
          <a:lstStyle/>
          <a:p>
            <a:pPr algn="l">
              <a:spcAft>
                <a:spcPts val="0"/>
              </a:spcAft>
            </a:pPr>
            <a:r>
              <a:rPr sz="2700" b="1" i="0">
                <a:solidFill>
                  <a:srgbClr val="2B2D42"/>
                </a:solidFill>
                <a:latin typeface="Aptos Display Semibold"/>
              </a:rPr>
              <a:t>Direct Asset Sale | Highest Certainty, Immediate Recognition</a:t>
            </a:r>
          </a:p>
        </p:txBody>
      </p:sp>
      <p:sp>
        <p:nvSpPr>
          <p:cNvPr id="11" name="Rounded Rectangle 10"/>
          <p:cNvSpPr/>
          <p:nvPr/>
        </p:nvSpPr>
        <p:spPr>
          <a:xfrm>
            <a:off x="502920" y="1353312"/>
            <a:ext cx="3383280" cy="1234440"/>
          </a:xfrm>
          <a:prstGeom prst="roundRect">
            <a:avLst>
              <a:gd name="adj" fmla="val 8000"/>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353312"/>
            <a:ext cx="64008" cy="1234440"/>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1499616"/>
            <a:ext cx="3063240" cy="210312"/>
          </a:xfrm>
          <a:prstGeom prst="rect">
            <a:avLst/>
          </a:prstGeom>
          <a:noFill/>
        </p:spPr>
        <p:txBody>
          <a:bodyPr wrap="square" lIns="0" rIns="0" tIns="0" bIns="0" anchor="t">
            <a:spAutoFit/>
          </a:bodyPr>
          <a:lstStyle/>
          <a:p>
            <a:pPr algn="l">
              <a:spcAft>
                <a:spcPts val="0"/>
              </a:spcAft>
            </a:pPr>
            <a:r>
              <a:rPr sz="869" b="1" i="0">
                <a:solidFill>
                  <a:srgbClr val="60697A"/>
                </a:solidFill>
                <a:latin typeface="Aptos"/>
              </a:rPr>
              <a:t>NET AMOUNT REALIZED</a:t>
            </a:r>
          </a:p>
        </p:txBody>
      </p:sp>
      <p:sp>
        <p:nvSpPr>
          <p:cNvPr id="14" name="TextBox 13"/>
          <p:cNvSpPr txBox="1"/>
          <p:nvPr/>
        </p:nvSpPr>
        <p:spPr>
          <a:xfrm>
            <a:off x="685800" y="1792224"/>
            <a:ext cx="3063240" cy="402336"/>
          </a:xfrm>
          <a:prstGeom prst="rect">
            <a:avLst/>
          </a:prstGeom>
          <a:noFill/>
        </p:spPr>
        <p:txBody>
          <a:bodyPr wrap="square" lIns="0" rIns="0" tIns="0" bIns="0" anchor="t">
            <a:spAutoFit/>
          </a:bodyPr>
          <a:lstStyle/>
          <a:p>
            <a:pPr algn="l">
              <a:spcAft>
                <a:spcPts val="0"/>
              </a:spcAft>
            </a:pPr>
            <a:r>
              <a:rPr sz="2300" b="1" i="0">
                <a:solidFill>
                  <a:srgbClr val="2B2D42"/>
                </a:solidFill>
                <a:latin typeface="Aptos Display Semibold"/>
              </a:rPr>
              <a:t>$28,303,975.00</a:t>
            </a:r>
          </a:p>
        </p:txBody>
      </p:sp>
      <p:sp>
        <p:nvSpPr>
          <p:cNvPr id="15" name="TextBox 14"/>
          <p:cNvSpPr txBox="1"/>
          <p:nvPr/>
        </p:nvSpPr>
        <p:spPr>
          <a:xfrm>
            <a:off x="685800" y="2276856"/>
            <a:ext cx="3063240" cy="192024"/>
          </a:xfrm>
          <a:prstGeom prst="rect">
            <a:avLst/>
          </a:prstGeom>
          <a:noFill/>
        </p:spPr>
        <p:txBody>
          <a:bodyPr wrap="square" lIns="0" rIns="0" tIns="0" bIns="0" anchor="t">
            <a:spAutoFit/>
          </a:bodyPr>
          <a:lstStyle/>
          <a:p>
            <a:pPr algn="l">
              <a:spcAft>
                <a:spcPts val="0"/>
              </a:spcAft>
            </a:pPr>
            <a:r>
              <a:rPr sz="819" b="0" i="0">
                <a:solidFill>
                  <a:srgbClr val="60697A"/>
                </a:solidFill>
                <a:latin typeface="Aptos"/>
              </a:rPr>
              <a:t>Gross consideration less selling costs</a:t>
            </a:r>
          </a:p>
        </p:txBody>
      </p:sp>
      <p:sp>
        <p:nvSpPr>
          <p:cNvPr id="16" name="Rounded Rectangle 15"/>
          <p:cNvSpPr/>
          <p:nvPr/>
        </p:nvSpPr>
        <p:spPr>
          <a:xfrm>
            <a:off x="4133087" y="1353312"/>
            <a:ext cx="3383280" cy="1234440"/>
          </a:xfrm>
          <a:prstGeom prst="roundRect">
            <a:avLst>
              <a:gd name="adj" fmla="val 8000"/>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33087" y="1353312"/>
            <a:ext cx="64008" cy="1234440"/>
          </a:xfrm>
          <a:prstGeom prst="rect">
            <a:avLst/>
          </a:prstGeom>
          <a:solidFill>
            <a:srgbClr val="8D99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15968" y="1499616"/>
            <a:ext cx="3063240" cy="210312"/>
          </a:xfrm>
          <a:prstGeom prst="rect">
            <a:avLst/>
          </a:prstGeom>
          <a:noFill/>
        </p:spPr>
        <p:txBody>
          <a:bodyPr wrap="square" lIns="0" rIns="0" tIns="0" bIns="0" anchor="t">
            <a:spAutoFit/>
          </a:bodyPr>
          <a:lstStyle/>
          <a:p>
            <a:pPr algn="l">
              <a:spcAft>
                <a:spcPts val="0"/>
              </a:spcAft>
            </a:pPr>
            <a:r>
              <a:rPr sz="869" b="1" i="0">
                <a:solidFill>
                  <a:srgbClr val="60697A"/>
                </a:solidFill>
                <a:latin typeface="Aptos"/>
              </a:rPr>
              <a:t>ADJUSTED TAX BASIS</a:t>
            </a:r>
          </a:p>
        </p:txBody>
      </p:sp>
      <p:sp>
        <p:nvSpPr>
          <p:cNvPr id="19" name="TextBox 18"/>
          <p:cNvSpPr txBox="1"/>
          <p:nvPr/>
        </p:nvSpPr>
        <p:spPr>
          <a:xfrm>
            <a:off x="4315968" y="1792224"/>
            <a:ext cx="3063240" cy="402336"/>
          </a:xfrm>
          <a:prstGeom prst="rect">
            <a:avLst/>
          </a:prstGeom>
          <a:noFill/>
        </p:spPr>
        <p:txBody>
          <a:bodyPr wrap="square" lIns="0" rIns="0" tIns="0" bIns="0" anchor="t">
            <a:spAutoFit/>
          </a:bodyPr>
          <a:lstStyle/>
          <a:p>
            <a:pPr algn="l">
              <a:spcAft>
                <a:spcPts val="0"/>
              </a:spcAft>
            </a:pPr>
            <a:r>
              <a:rPr sz="2300" b="1" i="0">
                <a:solidFill>
                  <a:srgbClr val="2B2D42"/>
                </a:solidFill>
                <a:latin typeface="Aptos Display Semibold"/>
              </a:rPr>
              <a:t>$13,482,640.00</a:t>
            </a:r>
          </a:p>
        </p:txBody>
      </p:sp>
      <p:sp>
        <p:nvSpPr>
          <p:cNvPr id="20" name="TextBox 19"/>
          <p:cNvSpPr txBox="1"/>
          <p:nvPr/>
        </p:nvSpPr>
        <p:spPr>
          <a:xfrm>
            <a:off x="4315968" y="2276856"/>
            <a:ext cx="3063240" cy="192024"/>
          </a:xfrm>
          <a:prstGeom prst="rect">
            <a:avLst/>
          </a:prstGeom>
          <a:noFill/>
        </p:spPr>
        <p:txBody>
          <a:bodyPr wrap="square" lIns="0" rIns="0" tIns="0" bIns="0" anchor="t">
            <a:spAutoFit/>
          </a:bodyPr>
          <a:lstStyle/>
          <a:p>
            <a:pPr algn="l">
              <a:spcAft>
                <a:spcPts val="0"/>
              </a:spcAft>
            </a:pPr>
            <a:r>
              <a:rPr sz="819" b="0" i="0">
                <a:solidFill>
                  <a:srgbClr val="60697A"/>
                </a:solidFill>
                <a:latin typeface="Aptos"/>
              </a:rPr>
              <a:t>Depreciation allowed or allowable reflected</a:t>
            </a:r>
          </a:p>
        </p:txBody>
      </p:sp>
      <p:sp>
        <p:nvSpPr>
          <p:cNvPr id="21" name="Rounded Rectangle 20"/>
          <p:cNvSpPr/>
          <p:nvPr/>
        </p:nvSpPr>
        <p:spPr>
          <a:xfrm>
            <a:off x="7763256" y="1353312"/>
            <a:ext cx="3383280" cy="1234440"/>
          </a:xfrm>
          <a:prstGeom prst="roundRect">
            <a:avLst>
              <a:gd name="adj" fmla="val 8000"/>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63256" y="1353312"/>
            <a:ext cx="64008" cy="1234440"/>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6136" y="1499616"/>
            <a:ext cx="3063240" cy="210312"/>
          </a:xfrm>
          <a:prstGeom prst="rect">
            <a:avLst/>
          </a:prstGeom>
          <a:noFill/>
        </p:spPr>
        <p:txBody>
          <a:bodyPr wrap="square" lIns="0" rIns="0" tIns="0" bIns="0" anchor="t">
            <a:spAutoFit/>
          </a:bodyPr>
          <a:lstStyle/>
          <a:p>
            <a:pPr algn="l">
              <a:spcAft>
                <a:spcPts val="0"/>
              </a:spcAft>
            </a:pPr>
            <a:r>
              <a:rPr sz="869" b="1" i="0">
                <a:solidFill>
                  <a:srgbClr val="60697A"/>
                </a:solidFill>
                <a:latin typeface="Aptos"/>
              </a:rPr>
              <a:t>TOTAL 2025 GAIN</a:t>
            </a:r>
          </a:p>
        </p:txBody>
      </p:sp>
      <p:sp>
        <p:nvSpPr>
          <p:cNvPr id="24" name="TextBox 23"/>
          <p:cNvSpPr txBox="1"/>
          <p:nvPr/>
        </p:nvSpPr>
        <p:spPr>
          <a:xfrm>
            <a:off x="7946136" y="1792224"/>
            <a:ext cx="3063240" cy="402336"/>
          </a:xfrm>
          <a:prstGeom prst="rect">
            <a:avLst/>
          </a:prstGeom>
          <a:noFill/>
        </p:spPr>
        <p:txBody>
          <a:bodyPr wrap="square" lIns="0" rIns="0" tIns="0" bIns="0" anchor="t">
            <a:spAutoFit/>
          </a:bodyPr>
          <a:lstStyle/>
          <a:p>
            <a:pPr algn="l">
              <a:spcAft>
                <a:spcPts val="0"/>
              </a:spcAft>
            </a:pPr>
            <a:r>
              <a:rPr sz="2300" b="1" i="0">
                <a:solidFill>
                  <a:srgbClr val="2B2D42"/>
                </a:solidFill>
                <a:latin typeface="Aptos Display Semibold"/>
              </a:rPr>
              <a:t>$14,821,335.00</a:t>
            </a:r>
          </a:p>
        </p:txBody>
      </p:sp>
      <p:sp>
        <p:nvSpPr>
          <p:cNvPr id="25" name="TextBox 24"/>
          <p:cNvSpPr txBox="1"/>
          <p:nvPr/>
        </p:nvSpPr>
        <p:spPr>
          <a:xfrm>
            <a:off x="7946136" y="2276856"/>
            <a:ext cx="3063240" cy="192024"/>
          </a:xfrm>
          <a:prstGeom prst="rect">
            <a:avLst/>
          </a:prstGeom>
          <a:noFill/>
        </p:spPr>
        <p:txBody>
          <a:bodyPr wrap="square" lIns="0" rIns="0" tIns="0" bIns="0" anchor="t">
            <a:spAutoFit/>
          </a:bodyPr>
          <a:lstStyle/>
          <a:p>
            <a:pPr algn="l">
              <a:spcAft>
                <a:spcPts val="0"/>
              </a:spcAft>
            </a:pPr>
            <a:r>
              <a:rPr sz="819" b="0" i="0">
                <a:solidFill>
                  <a:srgbClr val="60697A"/>
                </a:solidFill>
                <a:latin typeface="Aptos"/>
              </a:rPr>
              <a:t>Immediate recognition</a:t>
            </a:r>
          </a:p>
        </p:txBody>
      </p:sp>
      <p:sp>
        <p:nvSpPr>
          <p:cNvPr id="26" name="TextBox 25"/>
          <p:cNvSpPr txBox="1"/>
          <p:nvPr/>
        </p:nvSpPr>
        <p:spPr>
          <a:xfrm>
            <a:off x="530352" y="2962656"/>
            <a:ext cx="3840480" cy="219456"/>
          </a:xfrm>
          <a:prstGeom prst="rect">
            <a:avLst/>
          </a:prstGeom>
          <a:noFill/>
        </p:spPr>
        <p:txBody>
          <a:bodyPr wrap="square" lIns="0" rIns="0" tIns="0" bIns="0" anchor="t">
            <a:spAutoFit/>
          </a:bodyPr>
          <a:lstStyle/>
          <a:p>
            <a:pPr algn="l">
              <a:spcAft>
                <a:spcPts val="0"/>
              </a:spcAft>
            </a:pPr>
            <a:r>
              <a:rPr sz="1100" b="1" i="0">
                <a:solidFill>
                  <a:srgbClr val="D90429"/>
                </a:solidFill>
                <a:latin typeface="Aptos"/>
              </a:rPr>
              <a:t>Gain character bridge</a:t>
            </a:r>
          </a:p>
        </p:txBody>
      </p:sp>
      <p:sp>
        <p:nvSpPr>
          <p:cNvPr id="27" name="TextBox 26"/>
          <p:cNvSpPr txBox="1"/>
          <p:nvPr/>
        </p:nvSpPr>
        <p:spPr>
          <a:xfrm>
            <a:off x="658368" y="3364992"/>
            <a:ext cx="2926080" cy="210312"/>
          </a:xfrm>
          <a:prstGeom prst="rect">
            <a:avLst/>
          </a:prstGeom>
          <a:noFill/>
        </p:spPr>
        <p:txBody>
          <a:bodyPr wrap="square" lIns="0" rIns="0" tIns="0" bIns="0" anchor="t">
            <a:spAutoFit/>
          </a:bodyPr>
          <a:lstStyle/>
          <a:p>
            <a:pPr algn="l">
              <a:spcAft>
                <a:spcPts val="0"/>
              </a:spcAft>
            </a:pPr>
            <a:r>
              <a:rPr sz="1050" b="1" i="0">
                <a:solidFill>
                  <a:srgbClr val="202230"/>
                </a:solidFill>
                <a:latin typeface="Aptos"/>
              </a:rPr>
              <a:t>Ordinary depreciation recapture</a:t>
            </a:r>
          </a:p>
        </p:txBody>
      </p:sp>
      <p:sp>
        <p:nvSpPr>
          <p:cNvPr id="28" name="TextBox 27"/>
          <p:cNvSpPr txBox="1"/>
          <p:nvPr/>
        </p:nvSpPr>
        <p:spPr>
          <a:xfrm>
            <a:off x="3246120" y="3364992"/>
            <a:ext cx="1325880" cy="210312"/>
          </a:xfrm>
          <a:prstGeom prst="rect">
            <a:avLst/>
          </a:prstGeom>
          <a:noFill/>
        </p:spPr>
        <p:txBody>
          <a:bodyPr wrap="square" lIns="0" rIns="0" tIns="0" bIns="0" anchor="t">
            <a:spAutoFit/>
          </a:bodyPr>
          <a:lstStyle/>
          <a:p>
            <a:pPr algn="r">
              <a:spcAft>
                <a:spcPts val="0"/>
              </a:spcAft>
            </a:pPr>
            <a:r>
              <a:rPr sz="1050" b="1" i="0">
                <a:solidFill>
                  <a:srgbClr val="202230"/>
                </a:solidFill>
                <a:latin typeface="Aptos"/>
              </a:rPr>
              <a:t>$1,286,440.00</a:t>
            </a:r>
          </a:p>
        </p:txBody>
      </p:sp>
      <p:sp>
        <p:nvSpPr>
          <p:cNvPr id="29" name="Rounded Rectangle 28"/>
          <p:cNvSpPr/>
          <p:nvPr/>
        </p:nvSpPr>
        <p:spPr>
          <a:xfrm>
            <a:off x="4800600" y="3383280"/>
            <a:ext cx="6172200" cy="164592"/>
          </a:xfrm>
          <a:prstGeom prst="roundRect">
            <a:avLst>
              <a:gd name="adj" fmla="val 8000"/>
            </a:avLst>
          </a:prstGeom>
          <a:solidFill>
            <a:srgbClr val="E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3383280"/>
            <a:ext cx="535746" cy="164592"/>
          </a:xfrm>
          <a:prstGeom prst="roundRect">
            <a:avLst>
              <a:gd name="adj" fmla="val 8000"/>
            </a:avLst>
          </a:prstGeom>
          <a:solidFill>
            <a:srgbClr val="EF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045952" y="3364992"/>
            <a:ext cx="502920" cy="182880"/>
          </a:xfrm>
          <a:prstGeom prst="rect">
            <a:avLst/>
          </a:prstGeom>
          <a:noFill/>
        </p:spPr>
        <p:txBody>
          <a:bodyPr wrap="square" lIns="0" rIns="0" tIns="0" bIns="0" anchor="t">
            <a:spAutoFit/>
          </a:bodyPr>
          <a:lstStyle/>
          <a:p>
            <a:pPr algn="r">
              <a:spcAft>
                <a:spcPts val="0"/>
              </a:spcAft>
            </a:pPr>
            <a:r>
              <a:rPr sz="850" b="0" i="0">
                <a:solidFill>
                  <a:srgbClr val="60697A"/>
                </a:solidFill>
                <a:latin typeface="Aptos"/>
              </a:rPr>
              <a:t>8.68%</a:t>
            </a:r>
          </a:p>
        </p:txBody>
      </p:sp>
      <p:sp>
        <p:nvSpPr>
          <p:cNvPr id="32" name="TextBox 31"/>
          <p:cNvSpPr txBox="1"/>
          <p:nvPr/>
        </p:nvSpPr>
        <p:spPr>
          <a:xfrm>
            <a:off x="658368" y="4023360"/>
            <a:ext cx="2926080" cy="210312"/>
          </a:xfrm>
          <a:prstGeom prst="rect">
            <a:avLst/>
          </a:prstGeom>
          <a:noFill/>
        </p:spPr>
        <p:txBody>
          <a:bodyPr wrap="square" lIns="0" rIns="0" tIns="0" bIns="0" anchor="t">
            <a:spAutoFit/>
          </a:bodyPr>
          <a:lstStyle/>
          <a:p>
            <a:pPr algn="l">
              <a:spcAft>
                <a:spcPts val="0"/>
              </a:spcAft>
            </a:pPr>
            <a:r>
              <a:rPr sz="1050" b="1" i="0">
                <a:solidFill>
                  <a:srgbClr val="202230"/>
                </a:solidFill>
                <a:latin typeface="Aptos"/>
              </a:rPr>
              <a:t>Unrecaptured section 1250 gain</a:t>
            </a:r>
          </a:p>
        </p:txBody>
      </p:sp>
      <p:sp>
        <p:nvSpPr>
          <p:cNvPr id="33" name="TextBox 32"/>
          <p:cNvSpPr txBox="1"/>
          <p:nvPr/>
        </p:nvSpPr>
        <p:spPr>
          <a:xfrm>
            <a:off x="3246120" y="4023360"/>
            <a:ext cx="1325880" cy="210312"/>
          </a:xfrm>
          <a:prstGeom prst="rect">
            <a:avLst/>
          </a:prstGeom>
          <a:noFill/>
        </p:spPr>
        <p:txBody>
          <a:bodyPr wrap="square" lIns="0" rIns="0" tIns="0" bIns="0" anchor="t">
            <a:spAutoFit/>
          </a:bodyPr>
          <a:lstStyle/>
          <a:p>
            <a:pPr algn="r">
              <a:spcAft>
                <a:spcPts val="0"/>
              </a:spcAft>
            </a:pPr>
            <a:r>
              <a:rPr sz="1050" b="1" i="0">
                <a:solidFill>
                  <a:srgbClr val="202230"/>
                </a:solidFill>
                <a:latin typeface="Aptos"/>
              </a:rPr>
              <a:t>$4,967,815.00</a:t>
            </a:r>
          </a:p>
        </p:txBody>
      </p:sp>
      <p:sp>
        <p:nvSpPr>
          <p:cNvPr id="34" name="Rounded Rectangle 33"/>
          <p:cNvSpPr/>
          <p:nvPr/>
        </p:nvSpPr>
        <p:spPr>
          <a:xfrm>
            <a:off x="4800600" y="4041648"/>
            <a:ext cx="6172200" cy="164592"/>
          </a:xfrm>
          <a:prstGeom prst="roundRect">
            <a:avLst>
              <a:gd name="adj" fmla="val 8000"/>
            </a:avLst>
          </a:prstGeom>
          <a:solidFill>
            <a:srgbClr val="E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800600" y="4041648"/>
            <a:ext cx="2068921" cy="164592"/>
          </a:xfrm>
          <a:prstGeom prst="roundRect">
            <a:avLst>
              <a:gd name="adj" fmla="val 8000"/>
            </a:avLst>
          </a:prstGeom>
          <a:solidFill>
            <a:srgbClr val="8D99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045952" y="4023360"/>
            <a:ext cx="502920" cy="182880"/>
          </a:xfrm>
          <a:prstGeom prst="rect">
            <a:avLst/>
          </a:prstGeom>
          <a:noFill/>
        </p:spPr>
        <p:txBody>
          <a:bodyPr wrap="square" lIns="0" rIns="0" tIns="0" bIns="0" anchor="t">
            <a:spAutoFit/>
          </a:bodyPr>
          <a:lstStyle/>
          <a:p>
            <a:pPr algn="r">
              <a:spcAft>
                <a:spcPts val="0"/>
              </a:spcAft>
            </a:pPr>
            <a:r>
              <a:rPr sz="850" b="0" i="0">
                <a:solidFill>
                  <a:srgbClr val="60697A"/>
                </a:solidFill>
                <a:latin typeface="Aptos"/>
              </a:rPr>
              <a:t>33.52%</a:t>
            </a:r>
          </a:p>
        </p:txBody>
      </p:sp>
      <p:sp>
        <p:nvSpPr>
          <p:cNvPr id="37" name="TextBox 36"/>
          <p:cNvSpPr txBox="1"/>
          <p:nvPr/>
        </p:nvSpPr>
        <p:spPr>
          <a:xfrm>
            <a:off x="658368" y="4681728"/>
            <a:ext cx="2926080" cy="210312"/>
          </a:xfrm>
          <a:prstGeom prst="rect">
            <a:avLst/>
          </a:prstGeom>
          <a:noFill/>
        </p:spPr>
        <p:txBody>
          <a:bodyPr wrap="square" lIns="0" rIns="0" tIns="0" bIns="0" anchor="t">
            <a:spAutoFit/>
          </a:bodyPr>
          <a:lstStyle/>
          <a:p>
            <a:pPr algn="l">
              <a:spcAft>
                <a:spcPts val="0"/>
              </a:spcAft>
            </a:pPr>
            <a:r>
              <a:rPr sz="1050" b="1" i="0">
                <a:solidFill>
                  <a:srgbClr val="202230"/>
                </a:solidFill>
                <a:latin typeface="Aptos"/>
              </a:rPr>
              <a:t>Residual section 1231 gain</a:t>
            </a:r>
          </a:p>
        </p:txBody>
      </p:sp>
      <p:sp>
        <p:nvSpPr>
          <p:cNvPr id="38" name="TextBox 37"/>
          <p:cNvSpPr txBox="1"/>
          <p:nvPr/>
        </p:nvSpPr>
        <p:spPr>
          <a:xfrm>
            <a:off x="3246120" y="4681728"/>
            <a:ext cx="1325880" cy="210312"/>
          </a:xfrm>
          <a:prstGeom prst="rect">
            <a:avLst/>
          </a:prstGeom>
          <a:noFill/>
        </p:spPr>
        <p:txBody>
          <a:bodyPr wrap="square" lIns="0" rIns="0" tIns="0" bIns="0" anchor="t">
            <a:spAutoFit/>
          </a:bodyPr>
          <a:lstStyle/>
          <a:p>
            <a:pPr algn="r">
              <a:spcAft>
                <a:spcPts val="0"/>
              </a:spcAft>
            </a:pPr>
            <a:r>
              <a:rPr sz="1050" b="1" i="0">
                <a:solidFill>
                  <a:srgbClr val="202230"/>
                </a:solidFill>
                <a:latin typeface="Aptos"/>
              </a:rPr>
              <a:t>$8,567,080.00</a:t>
            </a:r>
          </a:p>
        </p:txBody>
      </p:sp>
      <p:sp>
        <p:nvSpPr>
          <p:cNvPr id="39" name="Rounded Rectangle 38"/>
          <p:cNvSpPr/>
          <p:nvPr/>
        </p:nvSpPr>
        <p:spPr>
          <a:xfrm>
            <a:off x="4800600" y="4700016"/>
            <a:ext cx="6172200" cy="164592"/>
          </a:xfrm>
          <a:prstGeom prst="roundRect">
            <a:avLst>
              <a:gd name="adj" fmla="val 8000"/>
            </a:avLst>
          </a:prstGeom>
          <a:solidFill>
            <a:srgbClr val="ED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4800600" y="4700016"/>
            <a:ext cx="3567531" cy="164592"/>
          </a:xfrm>
          <a:prstGeom prst="roundRect">
            <a:avLst>
              <a:gd name="adj" fmla="val 8000"/>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045952" y="4681728"/>
            <a:ext cx="502920" cy="182880"/>
          </a:xfrm>
          <a:prstGeom prst="rect">
            <a:avLst/>
          </a:prstGeom>
          <a:noFill/>
        </p:spPr>
        <p:txBody>
          <a:bodyPr wrap="square" lIns="0" rIns="0" tIns="0" bIns="0" anchor="t">
            <a:spAutoFit/>
          </a:bodyPr>
          <a:lstStyle/>
          <a:p>
            <a:pPr algn="r">
              <a:spcAft>
                <a:spcPts val="0"/>
              </a:spcAft>
            </a:pPr>
            <a:r>
              <a:rPr sz="850" b="0" i="0">
                <a:solidFill>
                  <a:srgbClr val="60697A"/>
                </a:solidFill>
                <a:latin typeface="Aptos"/>
              </a:rPr>
              <a:t>57.80%</a:t>
            </a:r>
          </a:p>
        </p:txBody>
      </p:sp>
      <p:sp>
        <p:nvSpPr>
          <p:cNvPr id="42" name="Rounded Rectangle 41"/>
          <p:cNvSpPr/>
          <p:nvPr/>
        </p:nvSpPr>
        <p:spPr>
          <a:xfrm>
            <a:off x="530352" y="5468112"/>
            <a:ext cx="10991088" cy="621792"/>
          </a:xfrm>
          <a:prstGeom prst="roundRect">
            <a:avLst>
              <a:gd name="adj" fmla="val 8000"/>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9808" y="5650992"/>
            <a:ext cx="1325880" cy="182880"/>
          </a:xfrm>
          <a:prstGeom prst="rect">
            <a:avLst/>
          </a:prstGeom>
          <a:noFill/>
        </p:spPr>
        <p:txBody>
          <a:bodyPr wrap="square" lIns="0" rIns="0" tIns="0" bIns="0" anchor="t">
            <a:spAutoFit/>
          </a:bodyPr>
          <a:lstStyle/>
          <a:p>
            <a:pPr algn="l">
              <a:spcAft>
                <a:spcPts val="0"/>
              </a:spcAft>
            </a:pPr>
            <a:r>
              <a:rPr sz="900" b="1" i="0">
                <a:solidFill>
                  <a:srgbClr val="60697A"/>
                </a:solidFill>
                <a:latin typeface="Aptos"/>
              </a:rPr>
              <a:t>Fallback rationale</a:t>
            </a:r>
          </a:p>
        </p:txBody>
      </p:sp>
      <p:sp>
        <p:nvSpPr>
          <p:cNvPr id="44" name="TextBox 43"/>
          <p:cNvSpPr txBox="1"/>
          <p:nvPr/>
        </p:nvSpPr>
        <p:spPr>
          <a:xfrm>
            <a:off x="2103120" y="5623560"/>
            <a:ext cx="9052560" cy="210312"/>
          </a:xfrm>
          <a:prstGeom prst="rect">
            <a:avLst/>
          </a:prstGeom>
          <a:noFill/>
        </p:spPr>
        <p:txBody>
          <a:bodyPr wrap="square" lIns="0" rIns="0" tIns="0" bIns="0" anchor="t">
            <a:spAutoFit/>
          </a:bodyPr>
          <a:lstStyle/>
          <a:p>
            <a:pPr algn="l">
              <a:spcAft>
                <a:spcPts val="0"/>
              </a:spcAft>
            </a:pPr>
            <a:r>
              <a:rPr sz="1050" b="1" i="0">
                <a:solidFill>
                  <a:srgbClr val="2B2D42"/>
                </a:solidFill>
                <a:latin typeface="Aptos"/>
              </a:rPr>
              <a:t>Full proceeds at closing | No collection risk | Simplest federal and California reporting path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50292"/>
            <a:ext cx="594360" cy="228600"/>
          </a:xfrm>
          <a:prstGeom prst="rect">
            <a:avLst/>
          </a:prstGeom>
          <a:noFill/>
        </p:spPr>
        <p:txBody>
          <a:bodyPr wrap="square" lIns="0" rIns="0" tIns="0" bIns="0" anchor="t">
            <a:spAutoFit/>
          </a:bodyPr>
          <a:lstStyle/>
          <a:p>
            <a:pPr algn="l">
              <a:spcAft>
                <a:spcPts val="0"/>
              </a:spcAft>
            </a:pPr>
            <a:r>
              <a:rPr sz="1300" b="1" i="0">
                <a:solidFill>
                  <a:srgbClr val="FFFFFF"/>
                </a:solidFill>
                <a:latin typeface="Aptos Display Semibold"/>
              </a:rPr>
              <a:t>ADC</a:t>
            </a:r>
          </a:p>
        </p:txBody>
      </p:sp>
      <p:sp>
        <p:nvSpPr>
          <p:cNvPr id="4" name="Rectangle 3"/>
          <p:cNvSpPr/>
          <p:nvPr/>
        </p:nvSpPr>
        <p:spPr>
          <a:xfrm>
            <a:off x="1005840" y="105156"/>
            <a:ext cx="16459" cy="155448"/>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64008"/>
            <a:ext cx="2103120" cy="201168"/>
          </a:xfrm>
          <a:prstGeom prst="rect">
            <a:avLst/>
          </a:prstGeom>
          <a:noFill/>
        </p:spPr>
        <p:txBody>
          <a:bodyPr wrap="square" lIns="0" rIns="0" tIns="0" bIns="0" anchor="t">
            <a:spAutoFit/>
          </a:bodyPr>
          <a:lstStyle/>
          <a:p>
            <a:pPr algn="l">
              <a:spcAft>
                <a:spcPts val="0"/>
              </a:spcAft>
            </a:pPr>
            <a:r>
              <a:rPr sz="850" b="1" i="0">
                <a:solidFill>
                  <a:srgbClr val="EDF2F4"/>
                </a:solidFill>
                <a:latin typeface="Aptos"/>
              </a:rPr>
              <a:t>02 | COMPARISON</a:t>
            </a:r>
          </a:p>
        </p:txBody>
      </p:sp>
      <p:sp>
        <p:nvSpPr>
          <p:cNvPr id="6" name="TextBox 5"/>
          <p:cNvSpPr txBox="1"/>
          <p:nvPr/>
        </p:nvSpPr>
        <p:spPr>
          <a:xfrm>
            <a:off x="7680960" y="68580"/>
            <a:ext cx="4069080" cy="192024"/>
          </a:xfrm>
          <a:prstGeom prst="rect">
            <a:avLst/>
          </a:prstGeom>
          <a:noFill/>
        </p:spPr>
        <p:txBody>
          <a:bodyPr wrap="square" lIns="0" rIns="0" tIns="0" bIns="0" anchor="t">
            <a:spAutoFit/>
          </a:bodyPr>
          <a:lstStyle/>
          <a:p>
            <a:pPr algn="r">
              <a:spcAft>
                <a:spcPts val="0"/>
              </a:spcAft>
            </a:pPr>
            <a:r>
              <a:rPr sz="810" b="1" i="0">
                <a:solidFill>
                  <a:srgbClr val="EDF2F4"/>
                </a:solidFill>
                <a:latin typeface="Aptos"/>
              </a:rPr>
              <a:t>PRIVILEGED &amp; CONFIDENTIAL — TAX PLANNING DRAFT</a:t>
            </a:r>
          </a:p>
        </p:txBody>
      </p:sp>
      <p:sp>
        <p:nvSpPr>
          <p:cNvPr id="7" name="Rectangle 6"/>
          <p:cNvSpPr/>
          <p:nvPr/>
        </p:nvSpPr>
        <p:spPr>
          <a:xfrm>
            <a:off x="0" y="6547104"/>
            <a:ext cx="12191695" cy="310896"/>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6624828"/>
            <a:ext cx="9052560" cy="128016"/>
          </a:xfrm>
          <a:prstGeom prst="rect">
            <a:avLst/>
          </a:prstGeom>
          <a:noFill/>
        </p:spPr>
        <p:txBody>
          <a:bodyPr wrap="square" lIns="0" rIns="0" tIns="0" bIns="0" anchor="t">
            <a:spAutoFit/>
          </a:bodyPr>
          <a:lstStyle/>
          <a:p>
            <a:pPr algn="l">
              <a:spcAft>
                <a:spcPts val="0"/>
              </a:spcAft>
            </a:pPr>
            <a:r>
              <a:rPr sz="720" b="0" i="0">
                <a:solidFill>
                  <a:srgbClr val="EDF2F4"/>
                </a:solidFill>
                <a:latin typeface="Aptos"/>
              </a:rPr>
              <a:t>Internal tax model v7 | 2025-Q3 planning scenario</a:t>
            </a:r>
          </a:p>
        </p:txBody>
      </p:sp>
      <p:sp>
        <p:nvSpPr>
          <p:cNvPr id="9" name="TextBox 8"/>
          <p:cNvSpPr txBox="1"/>
          <p:nvPr/>
        </p:nvSpPr>
        <p:spPr>
          <a:xfrm>
            <a:off x="11201400" y="6597396"/>
            <a:ext cx="566928" cy="164592"/>
          </a:xfrm>
          <a:prstGeom prst="rect">
            <a:avLst/>
          </a:prstGeom>
          <a:noFill/>
        </p:spPr>
        <p:txBody>
          <a:bodyPr wrap="square" lIns="0" rIns="0" tIns="0" bIns="0" anchor="t">
            <a:spAutoFit/>
          </a:bodyPr>
          <a:lstStyle/>
          <a:p>
            <a:pPr algn="r">
              <a:spcAft>
                <a:spcPts val="0"/>
              </a:spcAft>
            </a:pPr>
            <a:r>
              <a:rPr sz="900" b="1" i="0">
                <a:solidFill>
                  <a:srgbClr val="FFFFFF"/>
                </a:solidFill>
                <a:latin typeface="Aptos"/>
              </a:rPr>
              <a:t>09</a:t>
            </a:r>
          </a:p>
        </p:txBody>
      </p:sp>
      <p:sp>
        <p:nvSpPr>
          <p:cNvPr id="10" name="TextBox 9"/>
          <p:cNvSpPr txBox="1"/>
          <p:nvPr/>
        </p:nvSpPr>
        <p:spPr>
          <a:xfrm>
            <a:off x="475488" y="566928"/>
            <a:ext cx="10972800" cy="502920"/>
          </a:xfrm>
          <a:prstGeom prst="rect">
            <a:avLst/>
          </a:prstGeom>
          <a:noFill/>
        </p:spPr>
        <p:txBody>
          <a:bodyPr wrap="square" lIns="0" rIns="0" tIns="0" bIns="0" anchor="t">
            <a:spAutoFit/>
          </a:bodyPr>
          <a:lstStyle/>
          <a:p>
            <a:pPr algn="l">
              <a:spcAft>
                <a:spcPts val="0"/>
              </a:spcAft>
            </a:pPr>
            <a:r>
              <a:rPr sz="2700" b="1" i="0">
                <a:solidFill>
                  <a:srgbClr val="2B2D42"/>
                </a:solidFill>
                <a:latin typeface="Aptos Display Semibold"/>
              </a:rPr>
              <a:t>Partnership-Interest Transfer | Limited Tax Benefit, Added Complexity</a:t>
            </a:r>
          </a:p>
        </p:txBody>
      </p:sp>
      <p:sp>
        <p:nvSpPr>
          <p:cNvPr id="11" name="TextBox 10"/>
          <p:cNvSpPr txBox="1"/>
          <p:nvPr/>
        </p:nvSpPr>
        <p:spPr>
          <a:xfrm>
            <a:off x="548640" y="1371600"/>
            <a:ext cx="4572000" cy="2468880"/>
          </a:xfrm>
          <a:prstGeom prst="rect">
            <a:avLst/>
          </a:prstGeom>
          <a:noFill/>
        </p:spPr>
        <p:txBody>
          <a:bodyPr wrap="square" lIns="18288" rIns="18288" tIns="18288" bIns="18288">
            <a:spAutoFit/>
          </a:bodyPr>
          <a:lstStyle/>
          <a:p>
            <a:pPr>
              <a:buChar char="•"/>
              <a:lnSpc>
                <a:spcPct val="100000"/>
              </a:lnSpc>
              <a:spcAft>
                <a:spcPts val="700"/>
              </a:spcAft>
              <a:defRPr sz="1150">
                <a:solidFill>
                  <a:srgbClr val="202230"/>
                </a:solidFill>
                <a:latin typeface="Aptos"/>
              </a:defRPr>
            </a:pPr>
            <a:r>
              <a:t>Outside equity basis: $12,904,380.00</a:t>
            </a:r>
          </a:p>
          <a:p>
            <a:pPr>
              <a:buChar char="•"/>
              <a:lnSpc>
                <a:spcPct val="100000"/>
              </a:lnSpc>
              <a:spcAft>
                <a:spcPts val="700"/>
              </a:spcAft>
              <a:defRPr sz="1150">
                <a:solidFill>
                  <a:srgbClr val="202230"/>
                </a:solidFill>
                <a:latin typeface="Aptos"/>
              </a:defRPr>
            </a:pPr>
            <a:r>
              <a:t>Transfer costs: $359,188.00</a:t>
            </a:r>
          </a:p>
          <a:p>
            <a:pPr>
              <a:buChar char="•"/>
              <a:lnSpc>
                <a:spcPct val="100000"/>
              </a:lnSpc>
              <a:spcAft>
                <a:spcPts val="700"/>
              </a:spcAft>
              <a:defRPr sz="1150">
                <a:solidFill>
                  <a:srgbClr val="202230"/>
                </a:solidFill>
                <a:latin typeface="Aptos"/>
              </a:defRPr>
            </a:pPr>
            <a:r>
              <a:t>Total modeled gain: $15,471,432.00</a:t>
            </a:r>
          </a:p>
          <a:p>
            <a:pPr>
              <a:buChar char="•"/>
              <a:lnSpc>
                <a:spcPct val="100000"/>
              </a:lnSpc>
              <a:spcAft>
                <a:spcPts val="700"/>
              </a:spcAft>
              <a:defRPr sz="1150">
                <a:solidFill>
                  <a:srgbClr val="202230"/>
                </a:solidFill>
                <a:latin typeface="Aptos"/>
              </a:defRPr>
            </a:pPr>
            <a:r>
              <a:t>IRC section 751 ordinary income: $1,011,760.00</a:t>
            </a:r>
          </a:p>
          <a:p>
            <a:pPr>
              <a:buChar char="•"/>
              <a:lnSpc>
                <a:spcPct val="100000"/>
              </a:lnSpc>
              <a:spcAft>
                <a:spcPts val="700"/>
              </a:spcAft>
              <a:defRPr sz="1150">
                <a:solidFill>
                  <a:srgbClr val="202230"/>
                </a:solidFill>
                <a:latin typeface="Aptos"/>
              </a:defRPr>
            </a:pPr>
            <a:r>
              <a:t>IRC section 741 capital gain: $14,459,672.00</a:t>
            </a:r>
          </a:p>
        </p:txBody>
      </p:sp>
      <p:graphicFrame>
        <p:nvGraphicFramePr>
          <p:cNvPr id="12" name="Table 11"/>
          <p:cNvGraphicFramePr>
            <a:graphicFrameLocks noGrp="1"/>
          </p:cNvGraphicFramePr>
          <p:nvPr/>
        </p:nvGraphicFramePr>
        <p:xfrm>
          <a:off x="5266944" y="1371600"/>
          <a:ext cx="5824728" cy="2999226"/>
        </p:xfrm>
        <a:graphic>
          <a:graphicData uri="http://schemas.openxmlformats.org/drawingml/2006/table">
            <a:tbl>
              <a:tblPr firstRow="1" bandRow="1">
                <a:tableStyleId>{5C22544A-7EE6-4342-B048-85BDC9FD1C3A}</a:tableStyleId>
              </a:tblPr>
              <a:tblGrid>
                <a:gridCol w="3767328"/>
                <a:gridCol w="2057400"/>
              </a:tblGrid>
              <a:tr h="499871">
                <a:tc>
                  <a:txBody>
                    <a:bodyPr wrap="square" lIns="45720" rIns="45720" tIns="27432" bIns="27432"/>
                    <a:lstStyle/>
                    <a:p>
                      <a:pPr algn="l">
                        <a:spcAft>
                          <a:spcPts val="0"/>
                        </a:spcAft>
                      </a:pPr>
                      <a:r>
                        <a:rPr sz="910" b="1">
                          <a:solidFill>
                            <a:srgbClr val="FFFFFF"/>
                          </a:solidFill>
                          <a:latin typeface="Aptos"/>
                        </a:rPr>
                        <a:t>Inside-versus-outside reconciliation</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910" b="1">
                          <a:solidFill>
                            <a:srgbClr val="FFFFFF"/>
                          </a:solidFill>
                          <a:latin typeface="Aptos"/>
                        </a:rPr>
                        <a:t>Amount</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499871">
                <a:tc>
                  <a:txBody>
                    <a:bodyPr wrap="square" lIns="45720" rIns="45720" tIns="27432" bIns="27432"/>
                    <a:lstStyle/>
                    <a:p>
                      <a:pPr algn="l">
                        <a:spcAft>
                          <a:spcPts val="0"/>
                        </a:spcAft>
                      </a:pPr>
                      <a:r>
                        <a:rPr sz="930" b="0">
                          <a:solidFill>
                            <a:srgbClr val="202230"/>
                          </a:solidFill>
                          <a:latin typeface="Aptos"/>
                        </a:rPr>
                        <a:t>Property adjusted inside basis</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30" b="0">
                          <a:solidFill>
                            <a:srgbClr val="202230"/>
                          </a:solidFill>
                          <a:latin typeface="Aptos"/>
                        </a:rPr>
                        <a:t>$13,482,640.00</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499871">
                <a:tc>
                  <a:txBody>
                    <a:bodyPr wrap="square" lIns="45720" rIns="45720" tIns="27432" bIns="27432"/>
                    <a:lstStyle/>
                    <a:p>
                      <a:pPr algn="l">
                        <a:spcAft>
                          <a:spcPts val="0"/>
                        </a:spcAft>
                      </a:pPr>
                      <a:r>
                        <a:rPr sz="930" b="0">
                          <a:solidFill>
                            <a:srgbClr val="202230"/>
                          </a:solidFill>
                          <a:latin typeface="Aptos"/>
                        </a:rPr>
                        <a:t>Partnership outside basis</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30" b="0">
                          <a:solidFill>
                            <a:srgbClr val="202230"/>
                          </a:solidFill>
                          <a:latin typeface="Aptos"/>
                        </a:rPr>
                        <a:t>$12,904,380.00</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499871">
                <a:tc>
                  <a:txBody>
                    <a:bodyPr wrap="square" lIns="45720" rIns="45720" tIns="27432" bIns="27432"/>
                    <a:lstStyle/>
                    <a:p>
                      <a:pPr algn="l">
                        <a:spcAft>
                          <a:spcPts val="0"/>
                        </a:spcAft>
                      </a:pPr>
                      <a:r>
                        <a:rPr sz="930" b="0">
                          <a:solidFill>
                            <a:srgbClr val="202230"/>
                          </a:solidFill>
                          <a:latin typeface="Aptos"/>
                        </a:rPr>
                        <a:t>Inside / outside basis difference</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30" b="0">
                          <a:solidFill>
                            <a:srgbClr val="202230"/>
                          </a:solidFill>
                          <a:latin typeface="Aptos"/>
                        </a:rPr>
                        <a:t>$578,260.00</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499871">
                <a:tc>
                  <a:txBody>
                    <a:bodyPr wrap="square" lIns="45720" rIns="45720" tIns="27432" bIns="27432"/>
                    <a:lstStyle/>
                    <a:p>
                      <a:pPr algn="l">
                        <a:spcAft>
                          <a:spcPts val="0"/>
                        </a:spcAft>
                      </a:pPr>
                      <a:r>
                        <a:rPr sz="930" b="1">
                          <a:solidFill>
                            <a:srgbClr val="D90429"/>
                          </a:solidFill>
                          <a:latin typeface="Aptos"/>
                        </a:rPr>
                        <a:t>Modeled section 751 ordinary allocation</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30" b="1">
                          <a:solidFill>
                            <a:srgbClr val="D90429"/>
                          </a:solidFill>
                          <a:latin typeface="Aptos"/>
                        </a:rPr>
                        <a:t>$1,011,760.00</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499871">
                <a:tc>
                  <a:txBody>
                    <a:bodyPr wrap="square" lIns="45720" rIns="45720" tIns="27432" bIns="27432"/>
                    <a:lstStyle/>
                    <a:p>
                      <a:pPr algn="l">
                        <a:spcAft>
                          <a:spcPts val="0"/>
                        </a:spcAft>
                      </a:pPr>
                      <a:r>
                        <a:rPr sz="930" b="1">
                          <a:solidFill>
                            <a:srgbClr val="D90429"/>
                          </a:solidFill>
                          <a:latin typeface="Aptos"/>
                        </a:rPr>
                        <a:t>Remaining section 741 capital gain</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30" b="1">
                          <a:solidFill>
                            <a:srgbClr val="D90429"/>
                          </a:solidFill>
                          <a:latin typeface="Aptos"/>
                        </a:rPr>
                        <a:t>$14,459,672.00</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bl>
          </a:graphicData>
        </a:graphic>
      </p:graphicFrame>
      <p:sp>
        <p:nvSpPr>
          <p:cNvPr id="13" name="Rounded Rectangle 12"/>
          <p:cNvSpPr/>
          <p:nvPr/>
        </p:nvSpPr>
        <p:spPr>
          <a:xfrm>
            <a:off x="548640" y="4279392"/>
            <a:ext cx="4572000" cy="1298448"/>
          </a:xfrm>
          <a:prstGeom prst="roundRect">
            <a:avLst>
              <a:gd name="adj" fmla="val 8000"/>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4480560"/>
            <a:ext cx="1280160" cy="192024"/>
          </a:xfrm>
          <a:prstGeom prst="rect">
            <a:avLst/>
          </a:prstGeom>
          <a:noFill/>
        </p:spPr>
        <p:txBody>
          <a:bodyPr wrap="square" lIns="0" rIns="0" tIns="0" bIns="0" anchor="t">
            <a:spAutoFit/>
          </a:bodyPr>
          <a:lstStyle/>
          <a:p>
            <a:pPr algn="l">
              <a:spcAft>
                <a:spcPts val="0"/>
              </a:spcAft>
            </a:pPr>
            <a:r>
              <a:rPr sz="900" b="1" i="0">
                <a:solidFill>
                  <a:srgbClr val="60697A"/>
                </a:solidFill>
                <a:latin typeface="Aptos"/>
              </a:rPr>
              <a:t>Execution review</a:t>
            </a:r>
          </a:p>
        </p:txBody>
      </p:sp>
      <p:sp>
        <p:nvSpPr>
          <p:cNvPr id="15" name="TextBox 14"/>
          <p:cNvSpPr txBox="1"/>
          <p:nvPr/>
        </p:nvSpPr>
        <p:spPr>
          <a:xfrm>
            <a:off x="749808" y="4791456"/>
            <a:ext cx="4069080" cy="347472"/>
          </a:xfrm>
          <a:prstGeom prst="rect">
            <a:avLst/>
          </a:prstGeom>
          <a:noFill/>
        </p:spPr>
        <p:txBody>
          <a:bodyPr wrap="square" lIns="0" rIns="0" tIns="0" bIns="0" anchor="t">
            <a:spAutoFit/>
          </a:bodyPr>
          <a:lstStyle/>
          <a:p>
            <a:pPr algn="l">
              <a:spcAft>
                <a:spcPts val="0"/>
              </a:spcAft>
            </a:pPr>
            <a:r>
              <a:rPr sz="1100" b="1" i="0">
                <a:solidFill>
                  <a:srgbClr val="2B2D42"/>
                </a:solidFill>
                <a:latin typeface="Aptos"/>
              </a:rPr>
              <a:t>More-than-50% control change triggers documentary transfer-tax review.</a:t>
            </a:r>
          </a:p>
        </p:txBody>
      </p:sp>
      <p:sp>
        <p:nvSpPr>
          <p:cNvPr id="16" name="TextBox 15"/>
          <p:cNvSpPr txBox="1"/>
          <p:nvPr/>
        </p:nvSpPr>
        <p:spPr>
          <a:xfrm>
            <a:off x="749808" y="5193792"/>
            <a:ext cx="4069080" cy="237744"/>
          </a:xfrm>
          <a:prstGeom prst="rect">
            <a:avLst/>
          </a:prstGeom>
          <a:noFill/>
        </p:spPr>
        <p:txBody>
          <a:bodyPr wrap="square" lIns="0" rIns="0" tIns="0" bIns="0" anchor="t">
            <a:spAutoFit/>
          </a:bodyPr>
          <a:lstStyle/>
          <a:p>
            <a:pPr algn="l">
              <a:spcAft>
                <a:spcPts val="0"/>
              </a:spcAft>
            </a:pPr>
            <a:r>
              <a:rPr sz="950" b="0" i="0">
                <a:solidFill>
                  <a:srgbClr val="60697A"/>
                </a:solidFill>
                <a:latin typeface="Aptos"/>
              </a:rPr>
              <a:t>Buyer withholding diligence: IRC sections 1445 and 1446(f).</a:t>
            </a:r>
          </a:p>
        </p:txBody>
      </p:sp>
      <p:sp>
        <p:nvSpPr>
          <p:cNvPr id="17" name="Rounded Rectangle 16"/>
          <p:cNvSpPr/>
          <p:nvPr/>
        </p:nvSpPr>
        <p:spPr>
          <a:xfrm>
            <a:off x="8458200" y="4709160"/>
            <a:ext cx="2834640" cy="822960"/>
          </a:xfrm>
          <a:prstGeom prst="roundRect">
            <a:avLst>
              <a:gd name="adj" fmla="val 8000"/>
            </a:avLst>
          </a:prstGeom>
          <a:solidFill>
            <a:srgbClr val="FFF3D6"/>
          </a:solidFill>
          <a:ln w="889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68512" y="4882896"/>
            <a:ext cx="2377440" cy="164592"/>
          </a:xfrm>
          <a:prstGeom prst="rect">
            <a:avLst/>
          </a:prstGeom>
          <a:noFill/>
        </p:spPr>
        <p:txBody>
          <a:bodyPr wrap="square" lIns="0" rIns="0" tIns="0" bIns="0" anchor="t">
            <a:spAutoFit/>
          </a:bodyPr>
          <a:lstStyle/>
          <a:p>
            <a:pPr algn="l">
              <a:spcAft>
                <a:spcPts val="0"/>
              </a:spcAft>
            </a:pPr>
            <a:r>
              <a:rPr sz="819" b="1" i="0">
                <a:solidFill>
                  <a:srgbClr val="D90429"/>
                </a:solidFill>
                <a:latin typeface="Aptos"/>
              </a:rPr>
              <a:t>COUNSEL CONFIRM</a:t>
            </a:r>
          </a:p>
        </p:txBody>
      </p:sp>
      <p:sp>
        <p:nvSpPr>
          <p:cNvPr id="19" name="TextBox 18"/>
          <p:cNvSpPr txBox="1"/>
          <p:nvPr/>
        </p:nvSpPr>
        <p:spPr>
          <a:xfrm>
            <a:off x="8668512" y="5129784"/>
            <a:ext cx="2377440" cy="228600"/>
          </a:xfrm>
          <a:prstGeom prst="rect">
            <a:avLst/>
          </a:prstGeom>
          <a:noFill/>
        </p:spPr>
        <p:txBody>
          <a:bodyPr wrap="square" lIns="0" rIns="0" tIns="0" bIns="0" anchor="t">
            <a:spAutoFit/>
          </a:bodyPr>
          <a:lstStyle/>
          <a:p>
            <a:pPr algn="l">
              <a:spcAft>
                <a:spcPts val="0"/>
              </a:spcAft>
            </a:pPr>
            <a:r>
              <a:rPr sz="919" b="1" i="0">
                <a:solidFill>
                  <a:srgbClr val="2B2D42"/>
                </a:solidFill>
                <a:latin typeface="Aptos"/>
              </a:rPr>
              <a:t>Controlling-interest filing mechanics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50292"/>
            <a:ext cx="594360" cy="228600"/>
          </a:xfrm>
          <a:prstGeom prst="rect">
            <a:avLst/>
          </a:prstGeom>
          <a:noFill/>
        </p:spPr>
        <p:txBody>
          <a:bodyPr wrap="square" lIns="0" rIns="0" tIns="0" bIns="0" anchor="t">
            <a:spAutoFit/>
          </a:bodyPr>
          <a:lstStyle/>
          <a:p>
            <a:pPr algn="l">
              <a:spcAft>
                <a:spcPts val="0"/>
              </a:spcAft>
            </a:pPr>
            <a:r>
              <a:rPr sz="1300" b="1" i="0">
                <a:solidFill>
                  <a:srgbClr val="FFFFFF"/>
                </a:solidFill>
                <a:latin typeface="Aptos Display Semibold"/>
              </a:rPr>
              <a:t>ADC</a:t>
            </a:r>
          </a:p>
        </p:txBody>
      </p:sp>
      <p:sp>
        <p:nvSpPr>
          <p:cNvPr id="4" name="Rectangle 3"/>
          <p:cNvSpPr/>
          <p:nvPr/>
        </p:nvSpPr>
        <p:spPr>
          <a:xfrm>
            <a:off x="1005840" y="105156"/>
            <a:ext cx="16459" cy="155448"/>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64008"/>
            <a:ext cx="2103120" cy="201168"/>
          </a:xfrm>
          <a:prstGeom prst="rect">
            <a:avLst/>
          </a:prstGeom>
          <a:noFill/>
        </p:spPr>
        <p:txBody>
          <a:bodyPr wrap="square" lIns="0" rIns="0" tIns="0" bIns="0" anchor="t">
            <a:spAutoFit/>
          </a:bodyPr>
          <a:lstStyle/>
          <a:p>
            <a:pPr algn="l">
              <a:spcAft>
                <a:spcPts val="0"/>
              </a:spcAft>
            </a:pPr>
            <a:r>
              <a:rPr sz="850" b="1" i="0">
                <a:solidFill>
                  <a:srgbClr val="EDF2F4"/>
                </a:solidFill>
                <a:latin typeface="Aptos"/>
              </a:rPr>
              <a:t>02 | COMPARISON</a:t>
            </a:r>
          </a:p>
        </p:txBody>
      </p:sp>
      <p:sp>
        <p:nvSpPr>
          <p:cNvPr id="6" name="TextBox 5"/>
          <p:cNvSpPr txBox="1"/>
          <p:nvPr/>
        </p:nvSpPr>
        <p:spPr>
          <a:xfrm>
            <a:off x="7680960" y="68580"/>
            <a:ext cx="4069080" cy="192024"/>
          </a:xfrm>
          <a:prstGeom prst="rect">
            <a:avLst/>
          </a:prstGeom>
          <a:noFill/>
        </p:spPr>
        <p:txBody>
          <a:bodyPr wrap="square" lIns="0" rIns="0" tIns="0" bIns="0" anchor="t">
            <a:spAutoFit/>
          </a:bodyPr>
          <a:lstStyle/>
          <a:p>
            <a:pPr algn="r">
              <a:spcAft>
                <a:spcPts val="0"/>
              </a:spcAft>
            </a:pPr>
            <a:r>
              <a:rPr sz="810" b="1" i="0">
                <a:solidFill>
                  <a:srgbClr val="EDF2F4"/>
                </a:solidFill>
                <a:latin typeface="Aptos"/>
              </a:rPr>
              <a:t>PRIVILEGED &amp; CONFIDENTIAL — TAX PLANNING DRAFT</a:t>
            </a:r>
          </a:p>
        </p:txBody>
      </p:sp>
      <p:sp>
        <p:nvSpPr>
          <p:cNvPr id="7" name="Rectangle 6"/>
          <p:cNvSpPr/>
          <p:nvPr/>
        </p:nvSpPr>
        <p:spPr>
          <a:xfrm>
            <a:off x="0" y="6547104"/>
            <a:ext cx="12191695" cy="310896"/>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6624828"/>
            <a:ext cx="9052560" cy="128016"/>
          </a:xfrm>
          <a:prstGeom prst="rect">
            <a:avLst/>
          </a:prstGeom>
          <a:noFill/>
        </p:spPr>
        <p:txBody>
          <a:bodyPr wrap="square" lIns="0" rIns="0" tIns="0" bIns="0" anchor="t">
            <a:spAutoFit/>
          </a:bodyPr>
          <a:lstStyle/>
          <a:p>
            <a:pPr algn="l">
              <a:spcAft>
                <a:spcPts val="0"/>
              </a:spcAft>
            </a:pPr>
            <a:r>
              <a:rPr sz="720" b="0" i="0">
                <a:solidFill>
                  <a:srgbClr val="EDF2F4"/>
                </a:solidFill>
                <a:latin typeface="Aptos"/>
              </a:rPr>
              <a:t>Internal tax model v7 | 2025-Q3 planning scenario</a:t>
            </a:r>
          </a:p>
        </p:txBody>
      </p:sp>
      <p:sp>
        <p:nvSpPr>
          <p:cNvPr id="9" name="TextBox 8"/>
          <p:cNvSpPr txBox="1"/>
          <p:nvPr/>
        </p:nvSpPr>
        <p:spPr>
          <a:xfrm>
            <a:off x="11201400" y="6597396"/>
            <a:ext cx="566928" cy="164592"/>
          </a:xfrm>
          <a:prstGeom prst="rect">
            <a:avLst/>
          </a:prstGeom>
          <a:noFill/>
        </p:spPr>
        <p:txBody>
          <a:bodyPr wrap="square" lIns="0" rIns="0" tIns="0" bIns="0" anchor="t">
            <a:spAutoFit/>
          </a:bodyPr>
          <a:lstStyle/>
          <a:p>
            <a:pPr algn="r">
              <a:spcAft>
                <a:spcPts val="0"/>
              </a:spcAft>
            </a:pPr>
            <a:r>
              <a:rPr sz="900" b="1" i="0">
                <a:solidFill>
                  <a:srgbClr val="FFFFFF"/>
                </a:solidFill>
                <a:latin typeface="Aptos"/>
              </a:rPr>
              <a:t>10</a:t>
            </a:r>
          </a:p>
        </p:txBody>
      </p:sp>
      <p:sp>
        <p:nvSpPr>
          <p:cNvPr id="10" name="TextBox 9"/>
          <p:cNvSpPr txBox="1"/>
          <p:nvPr/>
        </p:nvSpPr>
        <p:spPr>
          <a:xfrm>
            <a:off x="475488" y="566928"/>
            <a:ext cx="10972800" cy="502920"/>
          </a:xfrm>
          <a:prstGeom prst="rect">
            <a:avLst/>
          </a:prstGeom>
          <a:noFill/>
        </p:spPr>
        <p:txBody>
          <a:bodyPr wrap="square" lIns="0" rIns="0" tIns="0" bIns="0" anchor="t">
            <a:spAutoFit/>
          </a:bodyPr>
          <a:lstStyle/>
          <a:p>
            <a:pPr algn="l">
              <a:spcAft>
                <a:spcPts val="0"/>
              </a:spcAft>
            </a:pPr>
            <a:r>
              <a:rPr sz="2700" b="1" i="0">
                <a:solidFill>
                  <a:srgbClr val="2B2D42"/>
                </a:solidFill>
                <a:latin typeface="Aptos Display Semibold"/>
              </a:rPr>
              <a:t>Installment Asset Sale | Deferral with Front-Loaded Recapture</a:t>
            </a:r>
          </a:p>
        </p:txBody>
      </p:sp>
      <p:graphicFrame>
        <p:nvGraphicFramePr>
          <p:cNvPr id="11" name="Chart 10"/>
          <p:cNvGraphicFramePr>
            <a:graphicFrameLocks noGrp="1"/>
          </p:cNvGraphicFramePr>
          <p:nvPr/>
        </p:nvGraphicFramePr>
        <p:xfrm>
          <a:off x="502920" y="1389888"/>
          <a:ext cx="7818120" cy="4443984"/>
        </p:xfrm>
        <a:graphic>
          <a:graphicData uri="http://schemas.openxmlformats.org/drawingml/2006/chart">
            <c:chart xmlns:c="http://schemas.openxmlformats.org/drawingml/2006/chart" r:id="rId2"/>
          </a:graphicData>
        </a:graphic>
      </p:graphicFrame>
      <p:sp>
        <p:nvSpPr>
          <p:cNvPr id="12" name="Rectangle 11"/>
          <p:cNvSpPr/>
          <p:nvPr/>
        </p:nvSpPr>
        <p:spPr>
          <a:xfrm>
            <a:off x="941832" y="1865376"/>
            <a:ext cx="109728" cy="603504"/>
          </a:xfrm>
          <a:prstGeom prst="rect">
            <a:avLst/>
          </a:prstGeom>
          <a:solidFill>
            <a:srgbClr val="EF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1901952"/>
            <a:ext cx="1417320" cy="210312"/>
          </a:xfrm>
          <a:prstGeom prst="rect">
            <a:avLst/>
          </a:prstGeom>
          <a:noFill/>
        </p:spPr>
        <p:txBody>
          <a:bodyPr wrap="square" lIns="0" rIns="0" tIns="0" bIns="0" anchor="t">
            <a:spAutoFit/>
          </a:bodyPr>
          <a:lstStyle/>
          <a:p>
            <a:pPr algn="l">
              <a:spcAft>
                <a:spcPts val="0"/>
              </a:spcAft>
            </a:pPr>
            <a:r>
              <a:rPr sz="880" b="1" i="0">
                <a:solidFill>
                  <a:srgbClr val="EF233C"/>
                </a:solidFill>
                <a:latin typeface="Aptos"/>
              </a:rPr>
              <a:t>$1.286M recapture</a:t>
            </a:r>
          </a:p>
        </p:txBody>
      </p:sp>
      <p:sp>
        <p:nvSpPr>
          <p:cNvPr id="14" name="Rounded Rectangle 13"/>
          <p:cNvSpPr/>
          <p:nvPr/>
        </p:nvSpPr>
        <p:spPr>
          <a:xfrm>
            <a:off x="8595360" y="1417320"/>
            <a:ext cx="2980944" cy="1078992"/>
          </a:xfrm>
          <a:prstGeom prst="roundRect">
            <a:avLst>
              <a:gd name="adj" fmla="val 8000"/>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95360" y="1417320"/>
            <a:ext cx="64008" cy="1078992"/>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0" y="1563624"/>
            <a:ext cx="2660903" cy="210312"/>
          </a:xfrm>
          <a:prstGeom prst="rect">
            <a:avLst/>
          </a:prstGeom>
          <a:noFill/>
        </p:spPr>
        <p:txBody>
          <a:bodyPr wrap="square" lIns="0" rIns="0" tIns="0" bIns="0" anchor="t">
            <a:spAutoFit/>
          </a:bodyPr>
          <a:lstStyle/>
          <a:p>
            <a:pPr algn="l">
              <a:spcAft>
                <a:spcPts val="0"/>
              </a:spcAft>
            </a:pPr>
            <a:r>
              <a:rPr sz="869" b="1" i="0">
                <a:solidFill>
                  <a:srgbClr val="60697A"/>
                </a:solidFill>
                <a:latin typeface="Aptos"/>
              </a:rPr>
              <a:t>CLOSING PRINCIPAL</a:t>
            </a:r>
          </a:p>
        </p:txBody>
      </p:sp>
      <p:sp>
        <p:nvSpPr>
          <p:cNvPr id="17" name="TextBox 16"/>
          <p:cNvSpPr txBox="1"/>
          <p:nvPr/>
        </p:nvSpPr>
        <p:spPr>
          <a:xfrm>
            <a:off x="8778240" y="1856232"/>
            <a:ext cx="2660903" cy="402336"/>
          </a:xfrm>
          <a:prstGeom prst="rect">
            <a:avLst/>
          </a:prstGeom>
          <a:noFill/>
        </p:spPr>
        <p:txBody>
          <a:bodyPr wrap="square" lIns="0" rIns="0" tIns="0" bIns="0" anchor="t">
            <a:spAutoFit/>
          </a:bodyPr>
          <a:lstStyle/>
          <a:p>
            <a:pPr algn="l">
              <a:spcAft>
                <a:spcPts val="0"/>
              </a:spcAft>
            </a:pPr>
            <a:r>
              <a:rPr sz="2300" b="1" i="0">
                <a:solidFill>
                  <a:srgbClr val="2B2D42"/>
                </a:solidFill>
                <a:latin typeface="Aptos Display Semibold"/>
              </a:rPr>
              <a:t>25.0%</a:t>
            </a:r>
          </a:p>
        </p:txBody>
      </p:sp>
      <p:sp>
        <p:nvSpPr>
          <p:cNvPr id="18" name="TextBox 17"/>
          <p:cNvSpPr txBox="1"/>
          <p:nvPr/>
        </p:nvSpPr>
        <p:spPr>
          <a:xfrm>
            <a:off x="8778240" y="2185416"/>
            <a:ext cx="2660903" cy="192024"/>
          </a:xfrm>
          <a:prstGeom prst="rect">
            <a:avLst/>
          </a:prstGeom>
          <a:noFill/>
        </p:spPr>
        <p:txBody>
          <a:bodyPr wrap="square" lIns="0" rIns="0" tIns="0" bIns="0" anchor="t">
            <a:spAutoFit/>
          </a:bodyPr>
          <a:lstStyle/>
          <a:p>
            <a:pPr algn="l">
              <a:spcAft>
                <a:spcPts val="0"/>
              </a:spcAft>
            </a:pPr>
            <a:r>
              <a:rPr sz="819" b="0" i="0">
                <a:solidFill>
                  <a:srgbClr val="60697A"/>
                </a:solidFill>
                <a:latin typeface="Aptos"/>
              </a:rPr>
              <a:t>$7,183,750.00</a:t>
            </a:r>
          </a:p>
        </p:txBody>
      </p:sp>
      <p:sp>
        <p:nvSpPr>
          <p:cNvPr id="19" name="Rounded Rectangle 18"/>
          <p:cNvSpPr/>
          <p:nvPr/>
        </p:nvSpPr>
        <p:spPr>
          <a:xfrm>
            <a:off x="8595360" y="2679192"/>
            <a:ext cx="2980944" cy="1078992"/>
          </a:xfrm>
          <a:prstGeom prst="roundRect">
            <a:avLst>
              <a:gd name="adj" fmla="val 8000"/>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595360" y="2679192"/>
            <a:ext cx="64008" cy="1078992"/>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0" y="2825496"/>
            <a:ext cx="2660903" cy="210312"/>
          </a:xfrm>
          <a:prstGeom prst="rect">
            <a:avLst/>
          </a:prstGeom>
          <a:noFill/>
        </p:spPr>
        <p:txBody>
          <a:bodyPr wrap="square" lIns="0" rIns="0" tIns="0" bIns="0" anchor="t">
            <a:spAutoFit/>
          </a:bodyPr>
          <a:lstStyle/>
          <a:p>
            <a:pPr algn="l">
              <a:spcAft>
                <a:spcPts val="0"/>
              </a:spcAft>
            </a:pPr>
            <a:r>
              <a:rPr sz="869" b="1" i="0">
                <a:solidFill>
                  <a:srgbClr val="60697A"/>
                </a:solidFill>
                <a:latin typeface="Aptos"/>
              </a:rPr>
              <a:t>GROSS-PROFIT PERCENTAGE</a:t>
            </a:r>
          </a:p>
        </p:txBody>
      </p:sp>
      <p:sp>
        <p:nvSpPr>
          <p:cNvPr id="22" name="TextBox 21"/>
          <p:cNvSpPr txBox="1"/>
          <p:nvPr/>
        </p:nvSpPr>
        <p:spPr>
          <a:xfrm>
            <a:off x="8778240" y="3118104"/>
            <a:ext cx="2660903" cy="402336"/>
          </a:xfrm>
          <a:prstGeom prst="rect">
            <a:avLst/>
          </a:prstGeom>
          <a:noFill/>
        </p:spPr>
        <p:txBody>
          <a:bodyPr wrap="square" lIns="0" rIns="0" tIns="0" bIns="0" anchor="t">
            <a:spAutoFit/>
          </a:bodyPr>
          <a:lstStyle/>
          <a:p>
            <a:pPr algn="l">
              <a:spcAft>
                <a:spcPts val="0"/>
              </a:spcAft>
            </a:pPr>
            <a:r>
              <a:rPr sz="2300" b="1" i="0">
                <a:solidFill>
                  <a:srgbClr val="2B2D42"/>
                </a:solidFill>
                <a:latin typeface="Aptos Display Semibold"/>
              </a:rPr>
              <a:t>47.1021%</a:t>
            </a:r>
          </a:p>
        </p:txBody>
      </p:sp>
      <p:sp>
        <p:nvSpPr>
          <p:cNvPr id="23" name="TextBox 22"/>
          <p:cNvSpPr txBox="1"/>
          <p:nvPr/>
        </p:nvSpPr>
        <p:spPr>
          <a:xfrm>
            <a:off x="8778240" y="3447288"/>
            <a:ext cx="2660903" cy="192024"/>
          </a:xfrm>
          <a:prstGeom prst="rect">
            <a:avLst/>
          </a:prstGeom>
          <a:noFill/>
        </p:spPr>
        <p:txBody>
          <a:bodyPr wrap="square" lIns="0" rIns="0" tIns="0" bIns="0" anchor="t">
            <a:spAutoFit/>
          </a:bodyPr>
          <a:lstStyle/>
          <a:p>
            <a:pPr algn="l">
              <a:spcAft>
                <a:spcPts val="0"/>
              </a:spcAft>
            </a:pPr>
            <a:r>
              <a:rPr sz="819" b="0" i="0">
                <a:solidFill>
                  <a:srgbClr val="60697A"/>
                </a:solidFill>
                <a:latin typeface="Aptos"/>
              </a:rPr>
              <a:t>Eligible gain: $13,534,895.00</a:t>
            </a:r>
          </a:p>
        </p:txBody>
      </p:sp>
      <p:sp>
        <p:nvSpPr>
          <p:cNvPr id="24" name="Rounded Rectangle 23"/>
          <p:cNvSpPr/>
          <p:nvPr/>
        </p:nvSpPr>
        <p:spPr>
          <a:xfrm>
            <a:off x="8595360" y="3968496"/>
            <a:ext cx="2980944" cy="1572768"/>
          </a:xfrm>
          <a:prstGeom prst="roundRect">
            <a:avLst>
              <a:gd name="adj" fmla="val 8000"/>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33104" y="4178808"/>
            <a:ext cx="2514600" cy="192024"/>
          </a:xfrm>
          <a:prstGeom prst="rect">
            <a:avLst/>
          </a:prstGeom>
          <a:noFill/>
        </p:spPr>
        <p:txBody>
          <a:bodyPr wrap="square" lIns="0" rIns="0" tIns="0" bIns="0" anchor="t">
            <a:spAutoFit/>
          </a:bodyPr>
          <a:lstStyle/>
          <a:p>
            <a:pPr algn="l">
              <a:spcAft>
                <a:spcPts val="0"/>
              </a:spcAft>
            </a:pPr>
            <a:r>
              <a:rPr sz="900" b="1" i="0">
                <a:solidFill>
                  <a:srgbClr val="60697A"/>
                </a:solidFill>
                <a:latin typeface="Aptos"/>
              </a:rPr>
              <a:t>2025 recognition</a:t>
            </a:r>
          </a:p>
        </p:txBody>
      </p:sp>
      <p:sp>
        <p:nvSpPr>
          <p:cNvPr id="26" name="TextBox 25"/>
          <p:cNvSpPr txBox="1"/>
          <p:nvPr/>
        </p:nvSpPr>
        <p:spPr>
          <a:xfrm>
            <a:off x="8833104" y="4489704"/>
            <a:ext cx="2514600" cy="219456"/>
          </a:xfrm>
          <a:prstGeom prst="rect">
            <a:avLst/>
          </a:prstGeom>
          <a:noFill/>
        </p:spPr>
        <p:txBody>
          <a:bodyPr wrap="square" lIns="0" rIns="0" tIns="0" bIns="0" anchor="t">
            <a:spAutoFit/>
          </a:bodyPr>
          <a:lstStyle/>
          <a:p>
            <a:pPr algn="l">
              <a:spcAft>
                <a:spcPts val="0"/>
              </a:spcAft>
            </a:pPr>
            <a:r>
              <a:rPr sz="1050" b="1" i="0">
                <a:solidFill>
                  <a:srgbClr val="2B2D42"/>
                </a:solidFill>
                <a:latin typeface="Aptos"/>
              </a:rPr>
              <a:t>$3,383,723.75 eligible gain</a:t>
            </a:r>
          </a:p>
        </p:txBody>
      </p:sp>
      <p:sp>
        <p:nvSpPr>
          <p:cNvPr id="27" name="TextBox 26"/>
          <p:cNvSpPr txBox="1"/>
          <p:nvPr/>
        </p:nvSpPr>
        <p:spPr>
          <a:xfrm>
            <a:off x="8833104" y="4818888"/>
            <a:ext cx="2514600" cy="219456"/>
          </a:xfrm>
          <a:prstGeom prst="rect">
            <a:avLst/>
          </a:prstGeom>
          <a:noFill/>
        </p:spPr>
        <p:txBody>
          <a:bodyPr wrap="square" lIns="0" rIns="0" tIns="0" bIns="0" anchor="t">
            <a:spAutoFit/>
          </a:bodyPr>
          <a:lstStyle/>
          <a:p>
            <a:pPr algn="l">
              <a:spcAft>
                <a:spcPts val="0"/>
              </a:spcAft>
            </a:pPr>
            <a:r>
              <a:rPr sz="1050" b="1" i="0">
                <a:solidFill>
                  <a:srgbClr val="EF233C"/>
                </a:solidFill>
                <a:latin typeface="Aptos"/>
              </a:rPr>
              <a:t>+ $1,286,440.00 recapture</a:t>
            </a:r>
          </a:p>
        </p:txBody>
      </p:sp>
      <p:sp>
        <p:nvSpPr>
          <p:cNvPr id="28" name="TextBox 27"/>
          <p:cNvSpPr txBox="1"/>
          <p:nvPr/>
        </p:nvSpPr>
        <p:spPr>
          <a:xfrm>
            <a:off x="8833104" y="5166360"/>
            <a:ext cx="2514600" cy="182880"/>
          </a:xfrm>
          <a:prstGeom prst="rect">
            <a:avLst/>
          </a:prstGeom>
          <a:noFill/>
        </p:spPr>
        <p:txBody>
          <a:bodyPr wrap="square" lIns="0" rIns="0" tIns="0" bIns="0" anchor="t">
            <a:spAutoFit/>
          </a:bodyPr>
          <a:lstStyle/>
          <a:p>
            <a:pPr algn="l">
              <a:spcAft>
                <a:spcPts val="0"/>
              </a:spcAft>
            </a:pPr>
            <a:r>
              <a:rPr sz="860" b="0" i="0">
                <a:solidFill>
                  <a:srgbClr val="60697A"/>
                </a:solidFill>
                <a:latin typeface="Aptos"/>
              </a:rPr>
              <a:t>6.35% stated interest reported separately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50292"/>
            <a:ext cx="594360" cy="228600"/>
          </a:xfrm>
          <a:prstGeom prst="rect">
            <a:avLst/>
          </a:prstGeom>
          <a:noFill/>
        </p:spPr>
        <p:txBody>
          <a:bodyPr wrap="square" lIns="0" rIns="0" tIns="0" bIns="0" anchor="t">
            <a:spAutoFit/>
          </a:bodyPr>
          <a:lstStyle/>
          <a:p>
            <a:pPr algn="l">
              <a:spcAft>
                <a:spcPts val="0"/>
              </a:spcAft>
            </a:pPr>
            <a:r>
              <a:rPr sz="1300" b="1" i="0">
                <a:solidFill>
                  <a:srgbClr val="FFFFFF"/>
                </a:solidFill>
                <a:latin typeface="Aptos Display Semibold"/>
              </a:rPr>
              <a:t>ADC</a:t>
            </a:r>
          </a:p>
        </p:txBody>
      </p:sp>
      <p:sp>
        <p:nvSpPr>
          <p:cNvPr id="4" name="Rectangle 3"/>
          <p:cNvSpPr/>
          <p:nvPr/>
        </p:nvSpPr>
        <p:spPr>
          <a:xfrm>
            <a:off x="1005840" y="105156"/>
            <a:ext cx="16459" cy="155448"/>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64008"/>
            <a:ext cx="2103120" cy="201168"/>
          </a:xfrm>
          <a:prstGeom prst="rect">
            <a:avLst/>
          </a:prstGeom>
          <a:noFill/>
        </p:spPr>
        <p:txBody>
          <a:bodyPr wrap="square" lIns="0" rIns="0" tIns="0" bIns="0" anchor="t">
            <a:spAutoFit/>
          </a:bodyPr>
          <a:lstStyle/>
          <a:p>
            <a:pPr algn="l">
              <a:spcAft>
                <a:spcPts val="0"/>
              </a:spcAft>
            </a:pPr>
            <a:r>
              <a:rPr sz="850" b="1" i="0">
                <a:solidFill>
                  <a:srgbClr val="EDF2F4"/>
                </a:solidFill>
                <a:latin typeface="Aptos"/>
              </a:rPr>
              <a:t>03 | EXECUTION</a:t>
            </a:r>
          </a:p>
        </p:txBody>
      </p:sp>
      <p:sp>
        <p:nvSpPr>
          <p:cNvPr id="6" name="TextBox 5"/>
          <p:cNvSpPr txBox="1"/>
          <p:nvPr/>
        </p:nvSpPr>
        <p:spPr>
          <a:xfrm>
            <a:off x="7680960" y="68580"/>
            <a:ext cx="4069080" cy="192024"/>
          </a:xfrm>
          <a:prstGeom prst="rect">
            <a:avLst/>
          </a:prstGeom>
          <a:noFill/>
        </p:spPr>
        <p:txBody>
          <a:bodyPr wrap="square" lIns="0" rIns="0" tIns="0" bIns="0" anchor="t">
            <a:spAutoFit/>
          </a:bodyPr>
          <a:lstStyle/>
          <a:p>
            <a:pPr algn="r">
              <a:spcAft>
                <a:spcPts val="0"/>
              </a:spcAft>
            </a:pPr>
            <a:r>
              <a:rPr sz="810" b="1" i="0">
                <a:solidFill>
                  <a:srgbClr val="EDF2F4"/>
                </a:solidFill>
                <a:latin typeface="Aptos"/>
              </a:rPr>
              <a:t>PRIVILEGED &amp; CONFIDENTIAL — TAX PLANNING DRAFT</a:t>
            </a:r>
          </a:p>
        </p:txBody>
      </p:sp>
      <p:sp>
        <p:nvSpPr>
          <p:cNvPr id="7" name="Rectangle 6"/>
          <p:cNvSpPr/>
          <p:nvPr/>
        </p:nvSpPr>
        <p:spPr>
          <a:xfrm>
            <a:off x="0" y="6547104"/>
            <a:ext cx="12191695" cy="310896"/>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6624828"/>
            <a:ext cx="9052560" cy="128016"/>
          </a:xfrm>
          <a:prstGeom prst="rect">
            <a:avLst/>
          </a:prstGeom>
          <a:noFill/>
        </p:spPr>
        <p:txBody>
          <a:bodyPr wrap="square" lIns="0" rIns="0" tIns="0" bIns="0" anchor="t">
            <a:spAutoFit/>
          </a:bodyPr>
          <a:lstStyle/>
          <a:p>
            <a:pPr algn="l">
              <a:spcAft>
                <a:spcPts val="0"/>
              </a:spcAft>
            </a:pPr>
            <a:r>
              <a:rPr sz="720" b="0" i="0">
                <a:solidFill>
                  <a:srgbClr val="EDF2F4"/>
                </a:solidFill>
                <a:latin typeface="Aptos"/>
              </a:rPr>
              <a:t>Source: Los Angeles County Registrar-Recorder/County Clerk, Declaration of Documentary Transfer Tax</a:t>
            </a:r>
          </a:p>
        </p:txBody>
      </p:sp>
      <p:sp>
        <p:nvSpPr>
          <p:cNvPr id="9" name="TextBox 8"/>
          <p:cNvSpPr txBox="1"/>
          <p:nvPr/>
        </p:nvSpPr>
        <p:spPr>
          <a:xfrm>
            <a:off x="11201400" y="6597396"/>
            <a:ext cx="566928" cy="164592"/>
          </a:xfrm>
          <a:prstGeom prst="rect">
            <a:avLst/>
          </a:prstGeom>
          <a:noFill/>
        </p:spPr>
        <p:txBody>
          <a:bodyPr wrap="square" lIns="0" rIns="0" tIns="0" bIns="0" anchor="t">
            <a:spAutoFit/>
          </a:bodyPr>
          <a:lstStyle/>
          <a:p>
            <a:pPr algn="r">
              <a:spcAft>
                <a:spcPts val="0"/>
              </a:spcAft>
            </a:pPr>
            <a:r>
              <a:rPr sz="900" b="1" i="0">
                <a:solidFill>
                  <a:srgbClr val="FFFFFF"/>
                </a:solidFill>
                <a:latin typeface="Aptos"/>
              </a:rPr>
              <a:t>11</a:t>
            </a:r>
          </a:p>
        </p:txBody>
      </p:sp>
      <p:sp>
        <p:nvSpPr>
          <p:cNvPr id="10" name="TextBox 9"/>
          <p:cNvSpPr txBox="1"/>
          <p:nvPr/>
        </p:nvSpPr>
        <p:spPr>
          <a:xfrm>
            <a:off x="475488" y="566928"/>
            <a:ext cx="10972800" cy="502920"/>
          </a:xfrm>
          <a:prstGeom prst="rect">
            <a:avLst/>
          </a:prstGeom>
          <a:noFill/>
        </p:spPr>
        <p:txBody>
          <a:bodyPr wrap="square" lIns="0" rIns="0" tIns="0" bIns="0" anchor="t">
            <a:spAutoFit/>
          </a:bodyPr>
          <a:lstStyle/>
          <a:p>
            <a:pPr algn="l">
              <a:spcAft>
                <a:spcPts val="0"/>
              </a:spcAft>
            </a:pPr>
            <a:r>
              <a:rPr sz="2700" b="1" i="0">
                <a:solidFill>
                  <a:srgbClr val="2B2D42"/>
                </a:solidFill>
                <a:latin typeface="Aptos Display Semibold"/>
              </a:rPr>
              <a:t>Transfer Tax | $160,916 Modeled Across All Structures</a:t>
            </a:r>
          </a:p>
        </p:txBody>
      </p:sp>
      <p:graphicFrame>
        <p:nvGraphicFramePr>
          <p:cNvPr id="11" name="Table 10"/>
          <p:cNvGraphicFramePr>
            <a:graphicFrameLocks noGrp="1"/>
          </p:cNvGraphicFramePr>
          <p:nvPr/>
        </p:nvGraphicFramePr>
        <p:xfrm>
          <a:off x="502920" y="1417320"/>
          <a:ext cx="11155679" cy="2057400"/>
        </p:xfrm>
        <a:graphic>
          <a:graphicData uri="http://schemas.openxmlformats.org/drawingml/2006/table">
            <a:tbl>
              <a:tblPr firstRow="1" bandRow="1">
                <a:tableStyleId>{5C22544A-7EE6-4342-B048-85BDC9FD1C3A}</a:tableStyleId>
              </a:tblPr>
              <a:tblGrid>
                <a:gridCol w="2880360"/>
                <a:gridCol w="2057400"/>
                <a:gridCol w="1920240"/>
                <a:gridCol w="2423160"/>
                <a:gridCol w="1874519"/>
              </a:tblGrid>
              <a:tr h="514350">
                <a:tc>
                  <a:txBody>
                    <a:bodyPr wrap="square" lIns="45720" rIns="45720" tIns="27432" bIns="27432"/>
                    <a:lstStyle/>
                    <a:p>
                      <a:pPr algn="l">
                        <a:spcAft>
                          <a:spcPts val="0"/>
                        </a:spcAft>
                      </a:pPr>
                      <a:r>
                        <a:rPr sz="940" b="1">
                          <a:solidFill>
                            <a:srgbClr val="FFFFFF"/>
                          </a:solidFill>
                          <a:latin typeface="Aptos"/>
                        </a:rPr>
                        <a:t>Structure</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940" b="1">
                          <a:solidFill>
                            <a:srgbClr val="FFFFFF"/>
                          </a:solidFill>
                          <a:latin typeface="Aptos"/>
                        </a:rPr>
                        <a:t>Taxable value</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940" b="1">
                          <a:solidFill>
                            <a:srgbClr val="FFFFFF"/>
                          </a:solidFill>
                          <a:latin typeface="Aptos"/>
                        </a:rPr>
                        <a:t>LA County tax</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940" b="1">
                          <a:solidFill>
                            <a:srgbClr val="FFFFFF"/>
                          </a:solidFill>
                          <a:latin typeface="Aptos"/>
                        </a:rPr>
                        <a:t>City of Los Angeles tax</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940" b="1">
                          <a:solidFill>
                            <a:srgbClr val="FFFFFF"/>
                          </a:solidFill>
                          <a:latin typeface="Aptos"/>
                        </a:rPr>
                        <a:t>Total</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514350">
                <a:tc>
                  <a:txBody>
                    <a:bodyPr wrap="square" lIns="45720" rIns="45720" tIns="27432" bIns="27432"/>
                    <a:lstStyle/>
                    <a:p>
                      <a:pPr algn="l">
                        <a:spcAft>
                          <a:spcPts val="0"/>
                        </a:spcAft>
                      </a:pPr>
                      <a:r>
                        <a:rPr sz="960" b="1">
                          <a:solidFill>
                            <a:srgbClr val="D90429"/>
                          </a:solidFill>
                          <a:latin typeface="Aptos"/>
                        </a:rPr>
                        <a:t>Direct Asset Sale</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60" b="1">
                          <a:solidFill>
                            <a:srgbClr val="D90429"/>
                          </a:solidFill>
                          <a:latin typeface="Aptos"/>
                        </a:rPr>
                        <a:t>$28,735,000.00</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60" b="1">
                          <a:solidFill>
                            <a:srgbClr val="D90429"/>
                          </a:solidFill>
                          <a:latin typeface="Aptos"/>
                        </a:rPr>
                        <a:t>$31,609.00</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60" b="1">
                          <a:solidFill>
                            <a:srgbClr val="D90429"/>
                          </a:solidFill>
                          <a:latin typeface="Aptos"/>
                        </a:rPr>
                        <a:t>$129,307.00</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60" b="1">
                          <a:solidFill>
                            <a:srgbClr val="D90429"/>
                          </a:solidFill>
                          <a:latin typeface="Aptos"/>
                        </a:rPr>
                        <a:t>$160,916.00</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514350">
                <a:tc>
                  <a:txBody>
                    <a:bodyPr wrap="square" lIns="45720" rIns="45720" tIns="27432" bIns="27432"/>
                    <a:lstStyle/>
                    <a:p>
                      <a:pPr algn="l">
                        <a:spcAft>
                          <a:spcPts val="0"/>
                        </a:spcAft>
                      </a:pPr>
                      <a:r>
                        <a:rPr sz="960" b="1">
                          <a:solidFill>
                            <a:srgbClr val="D90429"/>
                          </a:solidFill>
                          <a:latin typeface="Aptos"/>
                        </a:rPr>
                        <a:t>Partnership-Interest Transfer</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60" b="1">
                          <a:solidFill>
                            <a:srgbClr val="D90429"/>
                          </a:solidFill>
                          <a:latin typeface="Aptos"/>
                        </a:rPr>
                        <a:t>$28,735,000.00</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60" b="1">
                          <a:solidFill>
                            <a:srgbClr val="D90429"/>
                          </a:solidFill>
                          <a:latin typeface="Aptos"/>
                        </a:rPr>
                        <a:t>$31,609.00</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60" b="1">
                          <a:solidFill>
                            <a:srgbClr val="D90429"/>
                          </a:solidFill>
                          <a:latin typeface="Aptos"/>
                        </a:rPr>
                        <a:t>$129,307.00</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60" b="1">
                          <a:solidFill>
                            <a:srgbClr val="D90429"/>
                          </a:solidFill>
                          <a:latin typeface="Aptos"/>
                        </a:rPr>
                        <a:t>$160,916.00</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514350">
                <a:tc>
                  <a:txBody>
                    <a:bodyPr wrap="square" lIns="45720" rIns="45720" tIns="27432" bIns="27432"/>
                    <a:lstStyle/>
                    <a:p>
                      <a:pPr algn="l">
                        <a:spcAft>
                          <a:spcPts val="0"/>
                        </a:spcAft>
                      </a:pPr>
                      <a:r>
                        <a:rPr sz="960" b="1">
                          <a:solidFill>
                            <a:srgbClr val="D90429"/>
                          </a:solidFill>
                          <a:latin typeface="Aptos"/>
                        </a:rPr>
                        <a:t>Installment Asset Sale</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60" b="1">
                          <a:solidFill>
                            <a:srgbClr val="D90429"/>
                          </a:solidFill>
                          <a:latin typeface="Aptos"/>
                        </a:rPr>
                        <a:t>$28,735,000.00</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60" b="1">
                          <a:solidFill>
                            <a:srgbClr val="D90429"/>
                          </a:solidFill>
                          <a:latin typeface="Aptos"/>
                        </a:rPr>
                        <a:t>$31,609.00</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60" b="1">
                          <a:solidFill>
                            <a:srgbClr val="D90429"/>
                          </a:solidFill>
                          <a:latin typeface="Aptos"/>
                        </a:rPr>
                        <a:t>$129,307.00</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60" b="1">
                          <a:solidFill>
                            <a:srgbClr val="D90429"/>
                          </a:solidFill>
                          <a:latin typeface="Aptos"/>
                        </a:rPr>
                        <a:t>$160,916.00</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bl>
          </a:graphicData>
        </a:graphic>
      </p:graphicFrame>
      <p:sp>
        <p:nvSpPr>
          <p:cNvPr id="12" name="Rounded Rectangle 11"/>
          <p:cNvSpPr/>
          <p:nvPr/>
        </p:nvSpPr>
        <p:spPr>
          <a:xfrm>
            <a:off x="502920" y="3776472"/>
            <a:ext cx="2542032" cy="1133856"/>
          </a:xfrm>
          <a:prstGeom prst="roundRect">
            <a:avLst>
              <a:gd name="adj" fmla="val 8000"/>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3776472"/>
            <a:ext cx="64008" cy="1133856"/>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922776"/>
            <a:ext cx="2221991" cy="210312"/>
          </a:xfrm>
          <a:prstGeom prst="rect">
            <a:avLst/>
          </a:prstGeom>
          <a:noFill/>
        </p:spPr>
        <p:txBody>
          <a:bodyPr wrap="square" lIns="0" rIns="0" tIns="0" bIns="0" anchor="t">
            <a:spAutoFit/>
          </a:bodyPr>
          <a:lstStyle/>
          <a:p>
            <a:pPr algn="l">
              <a:spcAft>
                <a:spcPts val="0"/>
              </a:spcAft>
            </a:pPr>
            <a:r>
              <a:rPr sz="869" b="1" i="0">
                <a:solidFill>
                  <a:srgbClr val="60697A"/>
                </a:solidFill>
                <a:latin typeface="Aptos"/>
              </a:rPr>
              <a:t>COUNTY RATE</a:t>
            </a:r>
          </a:p>
        </p:txBody>
      </p:sp>
      <p:sp>
        <p:nvSpPr>
          <p:cNvPr id="15" name="TextBox 14"/>
          <p:cNvSpPr txBox="1"/>
          <p:nvPr/>
        </p:nvSpPr>
        <p:spPr>
          <a:xfrm>
            <a:off x="685800" y="4215383"/>
            <a:ext cx="2221991" cy="402336"/>
          </a:xfrm>
          <a:prstGeom prst="rect">
            <a:avLst/>
          </a:prstGeom>
          <a:noFill/>
        </p:spPr>
        <p:txBody>
          <a:bodyPr wrap="square" lIns="0" rIns="0" tIns="0" bIns="0" anchor="t">
            <a:spAutoFit/>
          </a:bodyPr>
          <a:lstStyle/>
          <a:p>
            <a:pPr algn="l">
              <a:spcAft>
                <a:spcPts val="0"/>
              </a:spcAft>
            </a:pPr>
            <a:r>
              <a:rPr sz="2300" b="1" i="0">
                <a:solidFill>
                  <a:srgbClr val="2B2D42"/>
                </a:solidFill>
                <a:latin typeface="Aptos Display Semibold"/>
              </a:rPr>
              <a:t>$1.10 / $1,000</a:t>
            </a:r>
          </a:p>
        </p:txBody>
      </p:sp>
      <p:sp>
        <p:nvSpPr>
          <p:cNvPr id="16" name="TextBox 15"/>
          <p:cNvSpPr txBox="1"/>
          <p:nvPr/>
        </p:nvSpPr>
        <p:spPr>
          <a:xfrm>
            <a:off x="685800" y="4599432"/>
            <a:ext cx="2221991" cy="192024"/>
          </a:xfrm>
          <a:prstGeom prst="rect">
            <a:avLst/>
          </a:prstGeom>
          <a:noFill/>
        </p:spPr>
        <p:txBody>
          <a:bodyPr wrap="square" lIns="0" rIns="0" tIns="0" bIns="0" anchor="t">
            <a:spAutoFit/>
          </a:bodyPr>
          <a:lstStyle/>
          <a:p>
            <a:pPr algn="l">
              <a:spcAft>
                <a:spcPts val="0"/>
              </a:spcAft>
            </a:pPr>
            <a:r>
              <a:rPr sz="819" b="0" i="0">
                <a:solidFill>
                  <a:srgbClr val="60697A"/>
                </a:solidFill>
                <a:latin typeface="Aptos"/>
              </a:rPr>
              <a:t>Fractional-unit rounding</a:t>
            </a:r>
          </a:p>
        </p:txBody>
      </p:sp>
      <p:sp>
        <p:nvSpPr>
          <p:cNvPr id="17" name="Rounded Rectangle 16"/>
          <p:cNvSpPr/>
          <p:nvPr/>
        </p:nvSpPr>
        <p:spPr>
          <a:xfrm>
            <a:off x="3291839" y="3776472"/>
            <a:ext cx="2542032" cy="1133856"/>
          </a:xfrm>
          <a:prstGeom prst="roundRect">
            <a:avLst>
              <a:gd name="adj" fmla="val 8000"/>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91839" y="3776472"/>
            <a:ext cx="64008" cy="1133856"/>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0" y="3922776"/>
            <a:ext cx="2221991" cy="210312"/>
          </a:xfrm>
          <a:prstGeom prst="rect">
            <a:avLst/>
          </a:prstGeom>
          <a:noFill/>
        </p:spPr>
        <p:txBody>
          <a:bodyPr wrap="square" lIns="0" rIns="0" tIns="0" bIns="0" anchor="t">
            <a:spAutoFit/>
          </a:bodyPr>
          <a:lstStyle/>
          <a:p>
            <a:pPr algn="l">
              <a:spcAft>
                <a:spcPts val="0"/>
              </a:spcAft>
            </a:pPr>
            <a:r>
              <a:rPr sz="869" b="1" i="0">
                <a:solidFill>
                  <a:srgbClr val="60697A"/>
                </a:solidFill>
                <a:latin typeface="Aptos"/>
              </a:rPr>
              <a:t>CITY RATE</a:t>
            </a:r>
          </a:p>
        </p:txBody>
      </p:sp>
      <p:sp>
        <p:nvSpPr>
          <p:cNvPr id="20" name="TextBox 19"/>
          <p:cNvSpPr txBox="1"/>
          <p:nvPr/>
        </p:nvSpPr>
        <p:spPr>
          <a:xfrm>
            <a:off x="3474720" y="4215383"/>
            <a:ext cx="2221991" cy="402336"/>
          </a:xfrm>
          <a:prstGeom prst="rect">
            <a:avLst/>
          </a:prstGeom>
          <a:noFill/>
        </p:spPr>
        <p:txBody>
          <a:bodyPr wrap="square" lIns="0" rIns="0" tIns="0" bIns="0" anchor="t">
            <a:spAutoFit/>
          </a:bodyPr>
          <a:lstStyle/>
          <a:p>
            <a:pPr algn="l">
              <a:spcAft>
                <a:spcPts val="0"/>
              </a:spcAft>
            </a:pPr>
            <a:r>
              <a:rPr sz="2300" b="1" i="0">
                <a:solidFill>
                  <a:srgbClr val="2B2D42"/>
                </a:solidFill>
                <a:latin typeface="Aptos Display Semibold"/>
              </a:rPr>
              <a:t>$4.50 / $1,000</a:t>
            </a:r>
          </a:p>
        </p:txBody>
      </p:sp>
      <p:sp>
        <p:nvSpPr>
          <p:cNvPr id="21" name="TextBox 20"/>
          <p:cNvSpPr txBox="1"/>
          <p:nvPr/>
        </p:nvSpPr>
        <p:spPr>
          <a:xfrm>
            <a:off x="3474720" y="4599432"/>
            <a:ext cx="2221991" cy="192024"/>
          </a:xfrm>
          <a:prstGeom prst="rect">
            <a:avLst/>
          </a:prstGeom>
          <a:noFill/>
        </p:spPr>
        <p:txBody>
          <a:bodyPr wrap="square" lIns="0" rIns="0" tIns="0" bIns="0" anchor="t">
            <a:spAutoFit/>
          </a:bodyPr>
          <a:lstStyle/>
          <a:p>
            <a:pPr algn="l">
              <a:spcAft>
                <a:spcPts val="0"/>
              </a:spcAft>
            </a:pPr>
            <a:r>
              <a:rPr sz="819" b="0" i="0">
                <a:solidFill>
                  <a:srgbClr val="60697A"/>
                </a:solidFill>
                <a:latin typeface="Aptos"/>
              </a:rPr>
              <a:t>Los Angeles</a:t>
            </a:r>
          </a:p>
        </p:txBody>
      </p:sp>
      <p:sp>
        <p:nvSpPr>
          <p:cNvPr id="22" name="Rounded Rectangle 21"/>
          <p:cNvSpPr/>
          <p:nvPr/>
        </p:nvSpPr>
        <p:spPr>
          <a:xfrm>
            <a:off x="6080759" y="3776472"/>
            <a:ext cx="2542032" cy="1133856"/>
          </a:xfrm>
          <a:prstGeom prst="roundRect">
            <a:avLst>
              <a:gd name="adj" fmla="val 8000"/>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80759" y="3776472"/>
            <a:ext cx="64008" cy="1133856"/>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3640" y="3922776"/>
            <a:ext cx="2221991" cy="210312"/>
          </a:xfrm>
          <a:prstGeom prst="rect">
            <a:avLst/>
          </a:prstGeom>
          <a:noFill/>
        </p:spPr>
        <p:txBody>
          <a:bodyPr wrap="square" lIns="0" rIns="0" tIns="0" bIns="0" anchor="t">
            <a:spAutoFit/>
          </a:bodyPr>
          <a:lstStyle/>
          <a:p>
            <a:pPr algn="l">
              <a:spcAft>
                <a:spcPts val="0"/>
              </a:spcAft>
            </a:pPr>
            <a:r>
              <a:rPr sz="869" b="1" i="0">
                <a:solidFill>
                  <a:srgbClr val="60697A"/>
                </a:solidFill>
                <a:latin typeface="Aptos"/>
              </a:rPr>
              <a:t>EXEMPTION</a:t>
            </a:r>
          </a:p>
        </p:txBody>
      </p:sp>
      <p:sp>
        <p:nvSpPr>
          <p:cNvPr id="25" name="TextBox 24"/>
          <p:cNvSpPr txBox="1"/>
          <p:nvPr/>
        </p:nvSpPr>
        <p:spPr>
          <a:xfrm>
            <a:off x="6263640" y="4215383"/>
            <a:ext cx="2221991" cy="402336"/>
          </a:xfrm>
          <a:prstGeom prst="rect">
            <a:avLst/>
          </a:prstGeom>
          <a:noFill/>
        </p:spPr>
        <p:txBody>
          <a:bodyPr wrap="square" lIns="0" rIns="0" tIns="0" bIns="0" anchor="t">
            <a:spAutoFit/>
          </a:bodyPr>
          <a:lstStyle/>
          <a:p>
            <a:pPr algn="l">
              <a:spcAft>
                <a:spcPts val="0"/>
              </a:spcAft>
            </a:pPr>
            <a:r>
              <a:rPr sz="2300" b="1" i="0">
                <a:solidFill>
                  <a:srgbClr val="2B2D42"/>
                </a:solidFill>
                <a:latin typeface="Aptos Display Semibold"/>
              </a:rPr>
              <a:t>None assumed</a:t>
            </a:r>
          </a:p>
        </p:txBody>
      </p:sp>
      <p:sp>
        <p:nvSpPr>
          <p:cNvPr id="26" name="TextBox 25"/>
          <p:cNvSpPr txBox="1"/>
          <p:nvPr/>
        </p:nvSpPr>
        <p:spPr>
          <a:xfrm>
            <a:off x="6263640" y="4599432"/>
            <a:ext cx="2221991" cy="192024"/>
          </a:xfrm>
          <a:prstGeom prst="rect">
            <a:avLst/>
          </a:prstGeom>
          <a:noFill/>
        </p:spPr>
        <p:txBody>
          <a:bodyPr wrap="square" lIns="0" rIns="0" tIns="0" bIns="0" anchor="t">
            <a:spAutoFit/>
          </a:bodyPr>
          <a:lstStyle/>
          <a:p>
            <a:pPr algn="l">
              <a:spcAft>
                <a:spcPts val="0"/>
              </a:spcAft>
            </a:pPr>
            <a:r>
              <a:rPr sz="819" b="0" i="0">
                <a:solidFill>
                  <a:srgbClr val="60697A"/>
                </a:solidFill>
                <a:latin typeface="Aptos"/>
              </a:rPr>
              <a:t>Support required</a:t>
            </a:r>
          </a:p>
        </p:txBody>
      </p:sp>
      <p:sp>
        <p:nvSpPr>
          <p:cNvPr id="27" name="Rounded Rectangle 26"/>
          <p:cNvSpPr/>
          <p:nvPr/>
        </p:nvSpPr>
        <p:spPr>
          <a:xfrm>
            <a:off x="8869680" y="3776472"/>
            <a:ext cx="2542032" cy="1133856"/>
          </a:xfrm>
          <a:prstGeom prst="roundRect">
            <a:avLst>
              <a:gd name="adj" fmla="val 8000"/>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69680" y="3776472"/>
            <a:ext cx="64008" cy="1133856"/>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52559" y="3922776"/>
            <a:ext cx="2221991" cy="210312"/>
          </a:xfrm>
          <a:prstGeom prst="rect">
            <a:avLst/>
          </a:prstGeom>
          <a:noFill/>
        </p:spPr>
        <p:txBody>
          <a:bodyPr wrap="square" lIns="0" rIns="0" tIns="0" bIns="0" anchor="t">
            <a:spAutoFit/>
          </a:bodyPr>
          <a:lstStyle/>
          <a:p>
            <a:pPr algn="l">
              <a:spcAft>
                <a:spcPts val="0"/>
              </a:spcAft>
            </a:pPr>
            <a:r>
              <a:rPr sz="869" b="1" i="0">
                <a:solidFill>
                  <a:srgbClr val="60697A"/>
                </a:solidFill>
                <a:latin typeface="Aptos"/>
              </a:rPr>
              <a:t>CONTROL CHANGE</a:t>
            </a:r>
          </a:p>
        </p:txBody>
      </p:sp>
      <p:sp>
        <p:nvSpPr>
          <p:cNvPr id="30" name="TextBox 29"/>
          <p:cNvSpPr txBox="1"/>
          <p:nvPr/>
        </p:nvSpPr>
        <p:spPr>
          <a:xfrm>
            <a:off x="9052559" y="4215383"/>
            <a:ext cx="2221991" cy="402336"/>
          </a:xfrm>
          <a:prstGeom prst="rect">
            <a:avLst/>
          </a:prstGeom>
          <a:noFill/>
        </p:spPr>
        <p:txBody>
          <a:bodyPr wrap="square" lIns="0" rIns="0" tIns="0" bIns="0" anchor="t">
            <a:spAutoFit/>
          </a:bodyPr>
          <a:lstStyle/>
          <a:p>
            <a:pPr algn="l">
              <a:spcAft>
                <a:spcPts val="0"/>
              </a:spcAft>
            </a:pPr>
            <a:r>
              <a:rPr sz="2300" b="1" i="0">
                <a:solidFill>
                  <a:srgbClr val="2B2D42"/>
                </a:solidFill>
                <a:latin typeface="Aptos Display Semibold"/>
              </a:rPr>
              <a:t>&gt;50% reviewed</a:t>
            </a:r>
          </a:p>
        </p:txBody>
      </p:sp>
      <p:sp>
        <p:nvSpPr>
          <p:cNvPr id="31" name="TextBox 30"/>
          <p:cNvSpPr txBox="1"/>
          <p:nvPr/>
        </p:nvSpPr>
        <p:spPr>
          <a:xfrm>
            <a:off x="9052559" y="4599432"/>
            <a:ext cx="2221991" cy="192024"/>
          </a:xfrm>
          <a:prstGeom prst="rect">
            <a:avLst/>
          </a:prstGeom>
          <a:noFill/>
        </p:spPr>
        <p:txBody>
          <a:bodyPr wrap="square" lIns="0" rIns="0" tIns="0" bIns="0" anchor="t">
            <a:spAutoFit/>
          </a:bodyPr>
          <a:lstStyle/>
          <a:p>
            <a:pPr algn="l">
              <a:spcAft>
                <a:spcPts val="0"/>
              </a:spcAft>
            </a:pPr>
            <a:r>
              <a:rPr sz="819" b="0" i="0">
                <a:solidFill>
                  <a:srgbClr val="60697A"/>
                </a:solidFill>
                <a:latin typeface="Aptos"/>
              </a:rPr>
              <a:t>FMV less liens remaining</a:t>
            </a:r>
          </a:p>
        </p:txBody>
      </p:sp>
      <p:sp>
        <p:nvSpPr>
          <p:cNvPr id="32" name="Rounded Rectangle 31"/>
          <p:cNvSpPr/>
          <p:nvPr/>
        </p:nvSpPr>
        <p:spPr>
          <a:xfrm>
            <a:off x="7296912" y="5230368"/>
            <a:ext cx="4279392" cy="557784"/>
          </a:xfrm>
          <a:prstGeom prst="roundRect">
            <a:avLst>
              <a:gd name="adj" fmla="val 8000"/>
            </a:avLst>
          </a:prstGeom>
          <a:solidFill>
            <a:srgbClr val="FFF3D6"/>
          </a:solidFill>
          <a:ln w="889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98079" y="5404104"/>
            <a:ext cx="804672" cy="146304"/>
          </a:xfrm>
          <a:prstGeom prst="rect">
            <a:avLst/>
          </a:prstGeom>
          <a:noFill/>
        </p:spPr>
        <p:txBody>
          <a:bodyPr wrap="square" lIns="0" rIns="0" tIns="0" bIns="0" anchor="t">
            <a:spAutoFit/>
          </a:bodyPr>
          <a:lstStyle/>
          <a:p>
            <a:pPr algn="l">
              <a:spcAft>
                <a:spcPts val="0"/>
              </a:spcAft>
            </a:pPr>
            <a:r>
              <a:rPr sz="800" b="1" i="0">
                <a:solidFill>
                  <a:srgbClr val="D90429"/>
                </a:solidFill>
                <a:latin typeface="Aptos"/>
              </a:rPr>
              <a:t>WORK NOTE</a:t>
            </a:r>
          </a:p>
        </p:txBody>
      </p:sp>
      <p:sp>
        <p:nvSpPr>
          <p:cNvPr id="34" name="TextBox 33"/>
          <p:cNvSpPr txBox="1"/>
          <p:nvPr/>
        </p:nvSpPr>
        <p:spPr>
          <a:xfrm>
            <a:off x="8385048" y="5367528"/>
            <a:ext cx="2907792" cy="246888"/>
          </a:xfrm>
          <a:prstGeom prst="rect">
            <a:avLst/>
          </a:prstGeom>
          <a:noFill/>
        </p:spPr>
        <p:txBody>
          <a:bodyPr wrap="square" lIns="0" rIns="0" tIns="0" bIns="0" anchor="t">
            <a:spAutoFit/>
          </a:bodyPr>
          <a:lstStyle/>
          <a:p>
            <a:pPr algn="l">
              <a:spcAft>
                <a:spcPts val="0"/>
              </a:spcAft>
            </a:pPr>
            <a:r>
              <a:rPr sz="850" b="1" i="0">
                <a:solidFill>
                  <a:srgbClr val="2B2D42"/>
                </a:solidFill>
                <a:latin typeface="Aptos"/>
              </a:rPr>
              <a:t>Escrow to validate statutory rounding and filing party before execution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50292"/>
            <a:ext cx="594360" cy="228600"/>
          </a:xfrm>
          <a:prstGeom prst="rect">
            <a:avLst/>
          </a:prstGeom>
          <a:noFill/>
        </p:spPr>
        <p:txBody>
          <a:bodyPr wrap="square" lIns="0" rIns="0" tIns="0" bIns="0" anchor="t">
            <a:spAutoFit/>
          </a:bodyPr>
          <a:lstStyle/>
          <a:p>
            <a:pPr algn="l">
              <a:spcAft>
                <a:spcPts val="0"/>
              </a:spcAft>
            </a:pPr>
            <a:r>
              <a:rPr sz="1300" b="1" i="0">
                <a:solidFill>
                  <a:srgbClr val="FFFFFF"/>
                </a:solidFill>
                <a:latin typeface="Aptos Display Semibold"/>
              </a:rPr>
              <a:t>ADC</a:t>
            </a:r>
          </a:p>
        </p:txBody>
      </p:sp>
      <p:sp>
        <p:nvSpPr>
          <p:cNvPr id="4" name="Rectangle 3"/>
          <p:cNvSpPr/>
          <p:nvPr/>
        </p:nvSpPr>
        <p:spPr>
          <a:xfrm>
            <a:off x="1005840" y="105156"/>
            <a:ext cx="16459" cy="155448"/>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64008"/>
            <a:ext cx="2103120" cy="201168"/>
          </a:xfrm>
          <a:prstGeom prst="rect">
            <a:avLst/>
          </a:prstGeom>
          <a:noFill/>
        </p:spPr>
        <p:txBody>
          <a:bodyPr wrap="square" lIns="0" rIns="0" tIns="0" bIns="0" anchor="t">
            <a:spAutoFit/>
          </a:bodyPr>
          <a:lstStyle/>
          <a:p>
            <a:pPr algn="l">
              <a:spcAft>
                <a:spcPts val="0"/>
              </a:spcAft>
            </a:pPr>
            <a:r>
              <a:rPr sz="850" b="1" i="0">
                <a:solidFill>
                  <a:srgbClr val="EDF2F4"/>
                </a:solidFill>
                <a:latin typeface="Aptos"/>
              </a:rPr>
              <a:t>03 | EXECUTION</a:t>
            </a:r>
          </a:p>
        </p:txBody>
      </p:sp>
      <p:sp>
        <p:nvSpPr>
          <p:cNvPr id="6" name="TextBox 5"/>
          <p:cNvSpPr txBox="1"/>
          <p:nvPr/>
        </p:nvSpPr>
        <p:spPr>
          <a:xfrm>
            <a:off x="7680960" y="68580"/>
            <a:ext cx="4069080" cy="192024"/>
          </a:xfrm>
          <a:prstGeom prst="rect">
            <a:avLst/>
          </a:prstGeom>
          <a:noFill/>
        </p:spPr>
        <p:txBody>
          <a:bodyPr wrap="square" lIns="0" rIns="0" tIns="0" bIns="0" anchor="t">
            <a:spAutoFit/>
          </a:bodyPr>
          <a:lstStyle/>
          <a:p>
            <a:pPr algn="r">
              <a:spcAft>
                <a:spcPts val="0"/>
              </a:spcAft>
            </a:pPr>
            <a:r>
              <a:rPr sz="810" b="1" i="0">
                <a:solidFill>
                  <a:srgbClr val="EDF2F4"/>
                </a:solidFill>
                <a:latin typeface="Aptos"/>
              </a:rPr>
              <a:t>PRIVILEGED &amp; CONFIDENTIAL — TAX PLANNING DRAFT</a:t>
            </a:r>
          </a:p>
        </p:txBody>
      </p:sp>
      <p:sp>
        <p:nvSpPr>
          <p:cNvPr id="7" name="Rectangle 6"/>
          <p:cNvSpPr/>
          <p:nvPr/>
        </p:nvSpPr>
        <p:spPr>
          <a:xfrm>
            <a:off x="0" y="6547104"/>
            <a:ext cx="12191695" cy="310896"/>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6624828"/>
            <a:ext cx="9052560" cy="128016"/>
          </a:xfrm>
          <a:prstGeom prst="rect">
            <a:avLst/>
          </a:prstGeom>
          <a:noFill/>
        </p:spPr>
        <p:txBody>
          <a:bodyPr wrap="square" lIns="0" rIns="0" tIns="0" bIns="0" anchor="t">
            <a:spAutoFit/>
          </a:bodyPr>
          <a:lstStyle/>
          <a:p>
            <a:pPr algn="l">
              <a:spcAft>
                <a:spcPts val="0"/>
              </a:spcAft>
            </a:pPr>
            <a:r>
              <a:rPr sz="720" b="0" i="0">
                <a:solidFill>
                  <a:srgbClr val="EDF2F4"/>
                </a:solidFill>
                <a:latin typeface="Aptos"/>
              </a:rPr>
              <a:t>Internal tax model v7 | 2025-Q3 planning scenario</a:t>
            </a:r>
          </a:p>
        </p:txBody>
      </p:sp>
      <p:sp>
        <p:nvSpPr>
          <p:cNvPr id="9" name="TextBox 8"/>
          <p:cNvSpPr txBox="1"/>
          <p:nvPr/>
        </p:nvSpPr>
        <p:spPr>
          <a:xfrm>
            <a:off x="11201400" y="6597396"/>
            <a:ext cx="566928" cy="164592"/>
          </a:xfrm>
          <a:prstGeom prst="rect">
            <a:avLst/>
          </a:prstGeom>
          <a:noFill/>
        </p:spPr>
        <p:txBody>
          <a:bodyPr wrap="square" lIns="0" rIns="0" tIns="0" bIns="0" anchor="t">
            <a:spAutoFit/>
          </a:bodyPr>
          <a:lstStyle/>
          <a:p>
            <a:pPr algn="r">
              <a:spcAft>
                <a:spcPts val="0"/>
              </a:spcAft>
            </a:pPr>
            <a:r>
              <a:rPr sz="900" b="1" i="0">
                <a:solidFill>
                  <a:srgbClr val="FFFFFF"/>
                </a:solidFill>
                <a:latin typeface="Aptos"/>
              </a:rPr>
              <a:t>12</a:t>
            </a:r>
          </a:p>
        </p:txBody>
      </p:sp>
      <p:sp>
        <p:nvSpPr>
          <p:cNvPr id="10" name="TextBox 9"/>
          <p:cNvSpPr txBox="1"/>
          <p:nvPr/>
        </p:nvSpPr>
        <p:spPr>
          <a:xfrm>
            <a:off x="475488" y="566928"/>
            <a:ext cx="10972800" cy="502920"/>
          </a:xfrm>
          <a:prstGeom prst="rect">
            <a:avLst/>
          </a:prstGeom>
          <a:noFill/>
        </p:spPr>
        <p:txBody>
          <a:bodyPr wrap="square" lIns="0" rIns="0" tIns="0" bIns="0" anchor="t">
            <a:spAutoFit/>
          </a:bodyPr>
          <a:lstStyle/>
          <a:p>
            <a:pPr algn="l">
              <a:spcAft>
                <a:spcPts val="0"/>
              </a:spcAft>
            </a:pPr>
            <a:r>
              <a:rPr sz="2700" b="1" i="0">
                <a:solidFill>
                  <a:srgbClr val="2B2D42"/>
                </a:solidFill>
                <a:latin typeface="Aptos Display Semibold"/>
              </a:rPr>
              <a:t>Principal Risks and Required Protections</a:t>
            </a:r>
          </a:p>
        </p:txBody>
      </p:sp>
      <p:graphicFrame>
        <p:nvGraphicFramePr>
          <p:cNvPr id="11" name="Table 10"/>
          <p:cNvGraphicFramePr>
            <a:graphicFrameLocks noGrp="1"/>
          </p:cNvGraphicFramePr>
          <p:nvPr/>
        </p:nvGraphicFramePr>
        <p:xfrm>
          <a:off x="347472" y="1307592"/>
          <a:ext cx="11484864" cy="4535424"/>
        </p:xfrm>
        <a:graphic>
          <a:graphicData uri="http://schemas.openxmlformats.org/drawingml/2006/table">
            <a:tbl>
              <a:tblPr firstRow="1" bandRow="1">
                <a:tableStyleId>{5C22544A-7EE6-4342-B048-85BDC9FD1C3A}</a:tableStyleId>
              </a:tblPr>
              <a:tblGrid>
                <a:gridCol w="1901952"/>
                <a:gridCol w="1143000"/>
                <a:gridCol w="841248"/>
                <a:gridCol w="658368"/>
                <a:gridCol w="4846320"/>
                <a:gridCol w="2093976"/>
              </a:tblGrid>
              <a:tr h="755904">
                <a:tc>
                  <a:txBody>
                    <a:bodyPr wrap="square" lIns="45720" rIns="45720" tIns="27432" bIns="27432"/>
                    <a:lstStyle/>
                    <a:p>
                      <a:pPr algn="l">
                        <a:spcAft>
                          <a:spcPts val="0"/>
                        </a:spcAft>
                      </a:pPr>
                      <a:r>
                        <a:rPr sz="765" b="1">
                          <a:solidFill>
                            <a:srgbClr val="FFFFFF"/>
                          </a:solidFill>
                          <a:latin typeface="Aptos"/>
                        </a:rPr>
                        <a:t>Risk</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65" b="1">
                          <a:solidFill>
                            <a:srgbClr val="FFFFFF"/>
                          </a:solidFill>
                          <a:latin typeface="Aptos"/>
                        </a:rPr>
                        <a:t>Most exposed</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65" b="1">
                          <a:solidFill>
                            <a:srgbClr val="FFFFFF"/>
                          </a:solidFill>
                          <a:latin typeface="Aptos"/>
                        </a:rPr>
                        <a:t>Likelihood</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65" b="1">
                          <a:solidFill>
                            <a:srgbClr val="FFFFFF"/>
                          </a:solidFill>
                          <a:latin typeface="Aptos"/>
                        </a:rPr>
                        <a:t>Impact</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65" b="1">
                          <a:solidFill>
                            <a:srgbClr val="FFFFFF"/>
                          </a:solidFill>
                          <a:latin typeface="Aptos"/>
                        </a:rPr>
                        <a:t>Required mitigation</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65" b="1">
                          <a:solidFill>
                            <a:srgbClr val="FFFFFF"/>
                          </a:solidFill>
                          <a:latin typeface="Aptos"/>
                        </a:rPr>
                        <a:t>Owner</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755904">
                <a:tc>
                  <a:txBody>
                    <a:bodyPr wrap="square" lIns="45720" rIns="45720" tIns="27432" bIns="27432"/>
                    <a:lstStyle/>
                    <a:p>
                      <a:pPr algn="l">
                        <a:spcAft>
                          <a:spcPts val="0"/>
                        </a:spcAft>
                      </a:pPr>
                      <a:r>
                        <a:rPr sz="785" b="1">
                          <a:solidFill>
                            <a:srgbClr val="D90429"/>
                          </a:solidFill>
                          <a:latin typeface="Aptos"/>
                        </a:rPr>
                        <a:t>Buyer default on seller note</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1">
                          <a:solidFill>
                            <a:srgbClr val="D90429"/>
                          </a:solidFill>
                          <a:latin typeface="Aptos"/>
                        </a:rPr>
                        <a:t>Installment</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1">
                          <a:solidFill>
                            <a:srgbClr val="D90429"/>
                          </a:solidFill>
                          <a:latin typeface="Aptos"/>
                        </a:rPr>
                        <a:t>Medium</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1">
                          <a:solidFill>
                            <a:srgbClr val="D90429"/>
                          </a:solidFill>
                          <a:latin typeface="Aptos"/>
                        </a:rPr>
                        <a:t>High</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1">
                          <a:solidFill>
                            <a:srgbClr val="D90429"/>
                          </a:solidFill>
                          <a:latin typeface="Aptos"/>
                        </a:rPr>
                        <a:t>First-priority deed of trust or equivalent collateral; DSCR / leverage covenants; cash sweep; reporting; default interest; acceleration</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1">
                          <a:solidFill>
                            <a:srgbClr val="D90429"/>
                          </a:solidFill>
                          <a:latin typeface="Aptos"/>
                        </a:rPr>
                        <a:t>Treasury / Legal</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755904">
                <a:tc>
                  <a:txBody>
                    <a:bodyPr wrap="square" lIns="45720" rIns="45720" tIns="27432" bIns="27432"/>
                    <a:lstStyle/>
                    <a:p>
                      <a:pPr algn="l">
                        <a:spcAft>
                          <a:spcPts val="0"/>
                        </a:spcAft>
                      </a:pPr>
                      <a:r>
                        <a:rPr sz="785" b="0">
                          <a:solidFill>
                            <a:srgbClr val="202230"/>
                          </a:solidFill>
                          <a:latin typeface="Aptos"/>
                        </a:rPr>
                        <a:t>California installment withholding</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0">
                          <a:solidFill>
                            <a:srgbClr val="202230"/>
                          </a:solidFill>
                          <a:latin typeface="Aptos"/>
                        </a:rPr>
                        <a:t>Installment</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0">
                          <a:solidFill>
                            <a:srgbClr val="202230"/>
                          </a:solidFill>
                          <a:latin typeface="Aptos"/>
                        </a:rPr>
                        <a:t>Medium</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0">
                          <a:solidFill>
                            <a:srgbClr val="202230"/>
                          </a:solidFill>
                          <a:latin typeface="Aptos"/>
                        </a:rPr>
                        <a:t>Medium</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0">
                          <a:solidFill>
                            <a:srgbClr val="202230"/>
                          </a:solidFill>
                          <a:latin typeface="Aptos"/>
                        </a:rPr>
                        <a:t>Obtain FTB withholding clearance or withhold on principal payments</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0">
                          <a:solidFill>
                            <a:srgbClr val="202230"/>
                          </a:solidFill>
                          <a:latin typeface="Aptos"/>
                        </a:rPr>
                        <a:t>Tax</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755904">
                <a:tc>
                  <a:txBody>
                    <a:bodyPr wrap="square" lIns="45720" rIns="45720" tIns="27432" bIns="27432"/>
                    <a:lstStyle/>
                    <a:p>
                      <a:pPr algn="l">
                        <a:spcAft>
                          <a:spcPts val="0"/>
                        </a:spcAft>
                      </a:pPr>
                      <a:r>
                        <a:rPr sz="785" b="0">
                          <a:solidFill>
                            <a:srgbClr val="202230"/>
                          </a:solidFill>
                          <a:latin typeface="Aptos"/>
                        </a:rPr>
                        <a:t>Recapture or section 751 allocation challenge</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0">
                          <a:solidFill>
                            <a:srgbClr val="202230"/>
                          </a:solidFill>
                          <a:latin typeface="Aptos"/>
                        </a:rPr>
                        <a:t>All / Equity</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0">
                          <a:solidFill>
                            <a:srgbClr val="202230"/>
                          </a:solidFill>
                          <a:latin typeface="Aptos"/>
                        </a:rPr>
                        <a:t>Low–Medium</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0">
                          <a:solidFill>
                            <a:srgbClr val="202230"/>
                          </a:solidFill>
                          <a:latin typeface="Aptos"/>
                        </a:rPr>
                        <a:t>High</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0">
                          <a:solidFill>
                            <a:srgbClr val="202230"/>
                          </a:solidFill>
                          <a:latin typeface="Aptos"/>
                        </a:rPr>
                        <a:t>Fixed-asset ledger tie-out and tax counsel allocation memorandum</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0">
                          <a:solidFill>
                            <a:srgbClr val="202230"/>
                          </a:solidFill>
                          <a:latin typeface="Aptos"/>
                        </a:rPr>
                        <a:t>Tax / KPMG</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755904">
                <a:tc>
                  <a:txBody>
                    <a:bodyPr wrap="square" lIns="45720" rIns="45720" tIns="27432" bIns="27432"/>
                    <a:lstStyle/>
                    <a:p>
                      <a:pPr algn="l">
                        <a:spcAft>
                          <a:spcPts val="0"/>
                        </a:spcAft>
                      </a:pPr>
                      <a:r>
                        <a:rPr sz="785" b="0">
                          <a:solidFill>
                            <a:srgbClr val="202230"/>
                          </a:solidFill>
                          <a:latin typeface="Aptos"/>
                        </a:rPr>
                        <a:t>Controlling-interest DTT filing</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0">
                          <a:solidFill>
                            <a:srgbClr val="202230"/>
                          </a:solidFill>
                          <a:latin typeface="Aptos"/>
                        </a:rPr>
                        <a:t>Equity</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0">
                          <a:solidFill>
                            <a:srgbClr val="202230"/>
                          </a:solidFill>
                          <a:latin typeface="Aptos"/>
                        </a:rPr>
                        <a:t>Medium</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0">
                          <a:solidFill>
                            <a:srgbClr val="202230"/>
                          </a:solidFill>
                          <a:latin typeface="Aptos"/>
                        </a:rPr>
                        <a:t>Medium</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0">
                          <a:solidFill>
                            <a:srgbClr val="202230"/>
                          </a:solidFill>
                          <a:latin typeface="Aptos"/>
                        </a:rPr>
                        <a:t>County declaration and supporting ownership schedule</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0">
                          <a:solidFill>
                            <a:srgbClr val="202230"/>
                          </a:solidFill>
                          <a:latin typeface="Aptos"/>
                        </a:rPr>
                        <a:t>Legal / Escrow</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755904">
                <a:tc>
                  <a:txBody>
                    <a:bodyPr wrap="square" lIns="45720" rIns="45720" tIns="27432" bIns="27432"/>
                    <a:lstStyle/>
                    <a:p>
                      <a:pPr algn="l">
                        <a:spcAft>
                          <a:spcPts val="0"/>
                        </a:spcAft>
                      </a:pPr>
                      <a:r>
                        <a:rPr sz="785" b="0">
                          <a:solidFill>
                            <a:srgbClr val="202230"/>
                          </a:solidFill>
                          <a:latin typeface="Aptos"/>
                        </a:rPr>
                        <a:t>Buyer foreign-status withholding</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0">
                          <a:solidFill>
                            <a:srgbClr val="202230"/>
                          </a:solidFill>
                          <a:latin typeface="Aptos"/>
                        </a:rPr>
                        <a:t>All</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0">
                          <a:solidFill>
                            <a:srgbClr val="202230"/>
                          </a:solidFill>
                          <a:latin typeface="Aptos"/>
                        </a:rPr>
                        <a:t>Low</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0">
                          <a:solidFill>
                            <a:srgbClr val="202230"/>
                          </a:solidFill>
                          <a:latin typeface="Aptos"/>
                        </a:rPr>
                        <a:t>High</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0">
                          <a:solidFill>
                            <a:srgbClr val="202230"/>
                          </a:solidFill>
                          <a:latin typeface="Aptos"/>
                        </a:rPr>
                        <a:t>Federal nonforeign affidavits and beneficial-owner diligence</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785" b="0">
                          <a:solidFill>
                            <a:srgbClr val="202230"/>
                          </a:solidFill>
                          <a:latin typeface="Aptos"/>
                        </a:rPr>
                        <a:t>Legal</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bl>
          </a:graphicData>
        </a:graphic>
      </p:graphicFrame>
      <p:sp>
        <p:nvSpPr>
          <p:cNvPr id="12" name="Rounded Rectangle 11"/>
          <p:cNvSpPr/>
          <p:nvPr/>
        </p:nvSpPr>
        <p:spPr>
          <a:xfrm>
            <a:off x="502920" y="5971032"/>
            <a:ext cx="11137392" cy="384048"/>
          </a:xfrm>
          <a:prstGeom prst="roundRect">
            <a:avLst>
              <a:gd name="adj" fmla="val 8000"/>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6080760"/>
            <a:ext cx="10716768" cy="155448"/>
          </a:xfrm>
          <a:prstGeom prst="rect">
            <a:avLst/>
          </a:prstGeom>
          <a:noFill/>
        </p:spPr>
        <p:txBody>
          <a:bodyPr wrap="square" lIns="0" rIns="0" tIns="0" bIns="0" anchor="t">
            <a:spAutoFit/>
          </a:bodyPr>
          <a:lstStyle/>
          <a:p>
            <a:pPr algn="l">
              <a:spcAft>
                <a:spcPts val="0"/>
              </a:spcAft>
            </a:pPr>
            <a:r>
              <a:rPr sz="880" b="1" i="0">
                <a:solidFill>
                  <a:srgbClr val="FFFFFF"/>
                </a:solidFill>
                <a:latin typeface="Aptos"/>
              </a:rPr>
              <a:t>Risk acceptance is conditional—not structural. Credit protections determine whether installment deferral is financeable; tax documentation is a closing deliverable.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50292"/>
            <a:ext cx="594360" cy="228600"/>
          </a:xfrm>
          <a:prstGeom prst="rect">
            <a:avLst/>
          </a:prstGeom>
          <a:noFill/>
        </p:spPr>
        <p:txBody>
          <a:bodyPr wrap="square" lIns="0" rIns="0" tIns="0" bIns="0" anchor="t">
            <a:spAutoFit/>
          </a:bodyPr>
          <a:lstStyle/>
          <a:p>
            <a:pPr algn="l">
              <a:spcAft>
                <a:spcPts val="0"/>
              </a:spcAft>
            </a:pPr>
            <a:r>
              <a:rPr sz="1300" b="1" i="0">
                <a:solidFill>
                  <a:srgbClr val="FFFFFF"/>
                </a:solidFill>
                <a:latin typeface="Aptos Display Semibold"/>
              </a:rPr>
              <a:t>ADC</a:t>
            </a:r>
          </a:p>
        </p:txBody>
      </p:sp>
      <p:sp>
        <p:nvSpPr>
          <p:cNvPr id="4" name="Rectangle 3"/>
          <p:cNvSpPr/>
          <p:nvPr/>
        </p:nvSpPr>
        <p:spPr>
          <a:xfrm>
            <a:off x="1005840" y="105156"/>
            <a:ext cx="16459" cy="155448"/>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64008"/>
            <a:ext cx="2103120" cy="201168"/>
          </a:xfrm>
          <a:prstGeom prst="rect">
            <a:avLst/>
          </a:prstGeom>
          <a:noFill/>
        </p:spPr>
        <p:txBody>
          <a:bodyPr wrap="square" lIns="0" rIns="0" tIns="0" bIns="0" anchor="t">
            <a:spAutoFit/>
          </a:bodyPr>
          <a:lstStyle/>
          <a:p>
            <a:pPr algn="l">
              <a:spcAft>
                <a:spcPts val="0"/>
              </a:spcAft>
            </a:pPr>
            <a:r>
              <a:rPr sz="850" b="1" i="0">
                <a:solidFill>
                  <a:srgbClr val="EDF2F4"/>
                </a:solidFill>
                <a:latin typeface="Aptos"/>
              </a:rPr>
              <a:t>04 | RECOMMENDATION</a:t>
            </a:r>
          </a:p>
        </p:txBody>
      </p:sp>
      <p:sp>
        <p:nvSpPr>
          <p:cNvPr id="6" name="TextBox 5"/>
          <p:cNvSpPr txBox="1"/>
          <p:nvPr/>
        </p:nvSpPr>
        <p:spPr>
          <a:xfrm>
            <a:off x="7680960" y="68580"/>
            <a:ext cx="4069080" cy="192024"/>
          </a:xfrm>
          <a:prstGeom prst="rect">
            <a:avLst/>
          </a:prstGeom>
          <a:noFill/>
        </p:spPr>
        <p:txBody>
          <a:bodyPr wrap="square" lIns="0" rIns="0" tIns="0" bIns="0" anchor="t">
            <a:spAutoFit/>
          </a:bodyPr>
          <a:lstStyle/>
          <a:p>
            <a:pPr algn="r">
              <a:spcAft>
                <a:spcPts val="0"/>
              </a:spcAft>
            </a:pPr>
            <a:r>
              <a:rPr sz="810" b="1" i="0">
                <a:solidFill>
                  <a:srgbClr val="EDF2F4"/>
                </a:solidFill>
                <a:latin typeface="Aptos"/>
              </a:rPr>
              <a:t>PRIVILEGED &amp; CONFIDENTIAL — TAX PLANNING DRAFT</a:t>
            </a:r>
          </a:p>
        </p:txBody>
      </p:sp>
      <p:sp>
        <p:nvSpPr>
          <p:cNvPr id="7" name="Rectangle 6"/>
          <p:cNvSpPr/>
          <p:nvPr/>
        </p:nvSpPr>
        <p:spPr>
          <a:xfrm>
            <a:off x="0" y="6547104"/>
            <a:ext cx="12191695" cy="310896"/>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6624828"/>
            <a:ext cx="9052560" cy="128016"/>
          </a:xfrm>
          <a:prstGeom prst="rect">
            <a:avLst/>
          </a:prstGeom>
          <a:noFill/>
        </p:spPr>
        <p:txBody>
          <a:bodyPr wrap="square" lIns="0" rIns="0" tIns="0" bIns="0" anchor="t">
            <a:spAutoFit/>
          </a:bodyPr>
          <a:lstStyle/>
          <a:p>
            <a:pPr algn="l">
              <a:spcAft>
                <a:spcPts val="0"/>
              </a:spcAft>
            </a:pPr>
            <a:r>
              <a:rPr sz="720" b="0" i="0">
                <a:solidFill>
                  <a:srgbClr val="EDF2F4"/>
                </a:solidFill>
                <a:latin typeface="Aptos"/>
              </a:rPr>
              <a:t>Internal tax model v7 | 2025-Q3 planning scenario</a:t>
            </a:r>
          </a:p>
        </p:txBody>
      </p:sp>
      <p:sp>
        <p:nvSpPr>
          <p:cNvPr id="9" name="TextBox 8"/>
          <p:cNvSpPr txBox="1"/>
          <p:nvPr/>
        </p:nvSpPr>
        <p:spPr>
          <a:xfrm>
            <a:off x="11201400" y="6597396"/>
            <a:ext cx="566928" cy="164592"/>
          </a:xfrm>
          <a:prstGeom prst="rect">
            <a:avLst/>
          </a:prstGeom>
          <a:noFill/>
        </p:spPr>
        <p:txBody>
          <a:bodyPr wrap="square" lIns="0" rIns="0" tIns="0" bIns="0" anchor="t">
            <a:spAutoFit/>
          </a:bodyPr>
          <a:lstStyle/>
          <a:p>
            <a:pPr algn="r">
              <a:spcAft>
                <a:spcPts val="0"/>
              </a:spcAft>
            </a:pPr>
            <a:r>
              <a:rPr sz="900" b="1" i="0">
                <a:solidFill>
                  <a:srgbClr val="FFFFFF"/>
                </a:solidFill>
                <a:latin typeface="Aptos"/>
              </a:rPr>
              <a:t>13</a:t>
            </a:r>
          </a:p>
        </p:txBody>
      </p:sp>
      <p:sp>
        <p:nvSpPr>
          <p:cNvPr id="10" name="TextBox 9"/>
          <p:cNvSpPr txBox="1"/>
          <p:nvPr/>
        </p:nvSpPr>
        <p:spPr>
          <a:xfrm>
            <a:off x="475488" y="566928"/>
            <a:ext cx="10972800" cy="502920"/>
          </a:xfrm>
          <a:prstGeom prst="rect">
            <a:avLst/>
          </a:prstGeom>
          <a:noFill/>
        </p:spPr>
        <p:txBody>
          <a:bodyPr wrap="square" lIns="0" rIns="0" tIns="0" bIns="0" anchor="t">
            <a:spAutoFit/>
          </a:bodyPr>
          <a:lstStyle/>
          <a:p>
            <a:pPr algn="l">
              <a:spcAft>
                <a:spcPts val="0"/>
              </a:spcAft>
            </a:pPr>
            <a:r>
              <a:rPr sz="2700" b="1" i="0">
                <a:solidFill>
                  <a:srgbClr val="2B2D42"/>
                </a:solidFill>
                <a:latin typeface="Aptos Display Semibold"/>
              </a:rPr>
              <a:t>Decision Scorecard</a:t>
            </a:r>
          </a:p>
        </p:txBody>
      </p:sp>
      <p:graphicFrame>
        <p:nvGraphicFramePr>
          <p:cNvPr id="11" name="Chart 10"/>
          <p:cNvGraphicFramePr>
            <a:graphicFrameLocks noGrp="1"/>
          </p:cNvGraphicFramePr>
          <p:nvPr/>
        </p:nvGraphicFramePr>
        <p:xfrm>
          <a:off x="502920" y="1371600"/>
          <a:ext cx="6080760" cy="4443984"/>
        </p:xfrm>
        <a:graphic>
          <a:graphicData uri="http://schemas.openxmlformats.org/drawingml/2006/chart">
            <c:chart xmlns:c="http://schemas.openxmlformats.org/drawingml/2006/chart" r:id="rId2"/>
          </a:graphicData>
        </a:graphic>
      </p:graphicFrame>
      <p:sp>
        <p:nvSpPr>
          <p:cNvPr id="12" name="Rectangle 11"/>
          <p:cNvSpPr/>
          <p:nvPr/>
        </p:nvSpPr>
        <p:spPr>
          <a:xfrm>
            <a:off x="6793992" y="1490472"/>
            <a:ext cx="2395728" cy="490728"/>
          </a:xfrm>
          <a:prstGeom prst="rect">
            <a:avLst/>
          </a:prstGeom>
          <a:solidFill>
            <a:srgbClr val="8D99AE"/>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39712" y="1527048"/>
            <a:ext cx="2304288" cy="417576"/>
          </a:xfrm>
          <a:prstGeom prst="rect">
            <a:avLst/>
          </a:prstGeom>
          <a:noFill/>
        </p:spPr>
        <p:txBody>
          <a:bodyPr wrap="square" lIns="9144" rIns="9144" tIns="9144" bIns="9144" anchor="t">
            <a:spAutoFit/>
          </a:bodyPr>
          <a:lstStyle/>
          <a:p>
            <a:pPr algn="l">
              <a:spcAft>
                <a:spcPts val="0"/>
              </a:spcAft>
            </a:pPr>
            <a:r>
              <a:rPr sz="850" b="1" i="0">
                <a:solidFill>
                  <a:srgbClr val="FFFFFF"/>
                </a:solidFill>
                <a:latin typeface="Aptos"/>
              </a:rPr>
              <a:t>Criterion / weight</a:t>
            </a:r>
          </a:p>
        </p:txBody>
      </p:sp>
      <p:sp>
        <p:nvSpPr>
          <p:cNvPr id="14" name="Rectangle 13"/>
          <p:cNvSpPr/>
          <p:nvPr/>
        </p:nvSpPr>
        <p:spPr>
          <a:xfrm>
            <a:off x="9189720" y="1490472"/>
            <a:ext cx="822960" cy="490728"/>
          </a:xfrm>
          <a:prstGeom prst="rect">
            <a:avLst/>
          </a:prstGeom>
          <a:solidFill>
            <a:srgbClr val="8D99AE"/>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0" y="1527048"/>
            <a:ext cx="731520" cy="417576"/>
          </a:xfrm>
          <a:prstGeom prst="rect">
            <a:avLst/>
          </a:prstGeom>
          <a:noFill/>
        </p:spPr>
        <p:txBody>
          <a:bodyPr wrap="square" lIns="9144" rIns="9144" tIns="9144" bIns="9144" anchor="t">
            <a:spAutoFit/>
          </a:bodyPr>
          <a:lstStyle/>
          <a:p>
            <a:pPr algn="l">
              <a:spcAft>
                <a:spcPts val="0"/>
              </a:spcAft>
            </a:pPr>
            <a:r>
              <a:rPr sz="850" b="1" i="0">
                <a:solidFill>
                  <a:srgbClr val="FFFFFF"/>
                </a:solidFill>
                <a:latin typeface="Aptos"/>
              </a:rPr>
              <a:t>Installment</a:t>
            </a:r>
          </a:p>
        </p:txBody>
      </p:sp>
      <p:sp>
        <p:nvSpPr>
          <p:cNvPr id="16" name="Rectangle 15"/>
          <p:cNvSpPr/>
          <p:nvPr/>
        </p:nvSpPr>
        <p:spPr>
          <a:xfrm>
            <a:off x="10012680" y="1490472"/>
            <a:ext cx="749808" cy="490728"/>
          </a:xfrm>
          <a:prstGeom prst="rect">
            <a:avLst/>
          </a:prstGeom>
          <a:solidFill>
            <a:srgbClr val="8D99AE"/>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0" y="1527048"/>
            <a:ext cx="658368" cy="417576"/>
          </a:xfrm>
          <a:prstGeom prst="rect">
            <a:avLst/>
          </a:prstGeom>
          <a:noFill/>
        </p:spPr>
        <p:txBody>
          <a:bodyPr wrap="square" lIns="9144" rIns="9144" tIns="9144" bIns="9144" anchor="t">
            <a:spAutoFit/>
          </a:bodyPr>
          <a:lstStyle/>
          <a:p>
            <a:pPr algn="l">
              <a:spcAft>
                <a:spcPts val="0"/>
              </a:spcAft>
            </a:pPr>
            <a:r>
              <a:rPr sz="850" b="1" i="0">
                <a:solidFill>
                  <a:srgbClr val="FFFFFF"/>
                </a:solidFill>
                <a:latin typeface="Aptos"/>
              </a:rPr>
              <a:t>Direct</a:t>
            </a:r>
          </a:p>
        </p:txBody>
      </p:sp>
      <p:sp>
        <p:nvSpPr>
          <p:cNvPr id="18" name="Rectangle 17"/>
          <p:cNvSpPr/>
          <p:nvPr/>
        </p:nvSpPr>
        <p:spPr>
          <a:xfrm>
            <a:off x="10762488" y="1490472"/>
            <a:ext cx="841248" cy="490728"/>
          </a:xfrm>
          <a:prstGeom prst="rect">
            <a:avLst/>
          </a:prstGeom>
          <a:solidFill>
            <a:srgbClr val="8D99AE"/>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08208" y="1527048"/>
            <a:ext cx="749808" cy="417576"/>
          </a:xfrm>
          <a:prstGeom prst="rect">
            <a:avLst/>
          </a:prstGeom>
          <a:noFill/>
        </p:spPr>
        <p:txBody>
          <a:bodyPr wrap="square" lIns="9144" rIns="9144" tIns="9144" bIns="9144" anchor="t">
            <a:spAutoFit/>
          </a:bodyPr>
          <a:lstStyle/>
          <a:p>
            <a:pPr algn="l">
              <a:spcAft>
                <a:spcPts val="0"/>
              </a:spcAft>
            </a:pPr>
            <a:r>
              <a:rPr sz="850" b="1" i="0">
                <a:solidFill>
                  <a:srgbClr val="FFFFFF"/>
                </a:solidFill>
                <a:latin typeface="Aptos"/>
              </a:rPr>
              <a:t>Equity</a:t>
            </a:r>
          </a:p>
        </p:txBody>
      </p:sp>
      <p:sp>
        <p:nvSpPr>
          <p:cNvPr id="20" name="Rectangle 19"/>
          <p:cNvSpPr/>
          <p:nvPr/>
        </p:nvSpPr>
        <p:spPr>
          <a:xfrm>
            <a:off x="6793992" y="1981199"/>
            <a:ext cx="2395728" cy="490728"/>
          </a:xfrm>
          <a:prstGeom prst="rect">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39712" y="2017776"/>
            <a:ext cx="2304288" cy="417576"/>
          </a:xfrm>
          <a:prstGeom prst="rect">
            <a:avLst/>
          </a:prstGeom>
          <a:noFill/>
        </p:spPr>
        <p:txBody>
          <a:bodyPr wrap="square" lIns="9144" rIns="9144" tIns="9144" bIns="9144" anchor="t">
            <a:spAutoFit/>
          </a:bodyPr>
          <a:lstStyle/>
          <a:p>
            <a:pPr algn="l">
              <a:spcAft>
                <a:spcPts val="0"/>
              </a:spcAft>
            </a:pPr>
            <a:r>
              <a:rPr sz="869" b="0" i="0">
                <a:solidFill>
                  <a:srgbClr val="202230"/>
                </a:solidFill>
                <a:latin typeface="Aptos"/>
              </a:rPr>
              <a:t>2025 tax deferral / 35%</a:t>
            </a:r>
          </a:p>
        </p:txBody>
      </p:sp>
      <p:sp>
        <p:nvSpPr>
          <p:cNvPr id="22" name="Rectangle 21"/>
          <p:cNvSpPr/>
          <p:nvPr/>
        </p:nvSpPr>
        <p:spPr>
          <a:xfrm>
            <a:off x="9189720" y="1981199"/>
            <a:ext cx="822960" cy="490728"/>
          </a:xfrm>
          <a:prstGeom prst="rect">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2017776"/>
            <a:ext cx="731520" cy="417576"/>
          </a:xfrm>
          <a:prstGeom prst="rect">
            <a:avLst/>
          </a:prstGeom>
          <a:noFill/>
        </p:spPr>
        <p:txBody>
          <a:bodyPr wrap="square" lIns="9144" rIns="9144" tIns="9144" bIns="9144" anchor="t">
            <a:spAutoFit/>
          </a:bodyPr>
          <a:lstStyle/>
          <a:p>
            <a:pPr algn="r">
              <a:spcAft>
                <a:spcPts val="0"/>
              </a:spcAft>
            </a:pPr>
            <a:r>
              <a:rPr sz="869" b="0" i="0">
                <a:solidFill>
                  <a:srgbClr val="202230"/>
                </a:solidFill>
                <a:latin typeface="Aptos"/>
              </a:rPr>
              <a:t>100</a:t>
            </a:r>
          </a:p>
        </p:txBody>
      </p:sp>
      <p:sp>
        <p:nvSpPr>
          <p:cNvPr id="24" name="Rectangle 23"/>
          <p:cNvSpPr/>
          <p:nvPr/>
        </p:nvSpPr>
        <p:spPr>
          <a:xfrm>
            <a:off x="10012680" y="1981199"/>
            <a:ext cx="749808" cy="490728"/>
          </a:xfrm>
          <a:prstGeom prst="rect">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0" y="2017776"/>
            <a:ext cx="658368" cy="417576"/>
          </a:xfrm>
          <a:prstGeom prst="rect">
            <a:avLst/>
          </a:prstGeom>
          <a:noFill/>
        </p:spPr>
        <p:txBody>
          <a:bodyPr wrap="square" lIns="9144" rIns="9144" tIns="9144" bIns="9144" anchor="t">
            <a:spAutoFit/>
          </a:bodyPr>
          <a:lstStyle/>
          <a:p>
            <a:pPr algn="r">
              <a:spcAft>
                <a:spcPts val="0"/>
              </a:spcAft>
            </a:pPr>
            <a:r>
              <a:rPr sz="869" b="0" i="0">
                <a:solidFill>
                  <a:srgbClr val="202230"/>
                </a:solidFill>
                <a:latin typeface="Aptos"/>
              </a:rPr>
              <a:t>25</a:t>
            </a:r>
          </a:p>
        </p:txBody>
      </p:sp>
      <p:sp>
        <p:nvSpPr>
          <p:cNvPr id="26" name="Rectangle 25"/>
          <p:cNvSpPr/>
          <p:nvPr/>
        </p:nvSpPr>
        <p:spPr>
          <a:xfrm>
            <a:off x="10762488" y="1981199"/>
            <a:ext cx="841248" cy="490728"/>
          </a:xfrm>
          <a:prstGeom prst="rect">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08208" y="2017776"/>
            <a:ext cx="749808" cy="417576"/>
          </a:xfrm>
          <a:prstGeom prst="rect">
            <a:avLst/>
          </a:prstGeom>
          <a:noFill/>
        </p:spPr>
        <p:txBody>
          <a:bodyPr wrap="square" lIns="9144" rIns="9144" tIns="9144" bIns="9144" anchor="t">
            <a:spAutoFit/>
          </a:bodyPr>
          <a:lstStyle/>
          <a:p>
            <a:pPr algn="r">
              <a:spcAft>
                <a:spcPts val="0"/>
              </a:spcAft>
            </a:pPr>
            <a:r>
              <a:rPr sz="869" b="0" i="0">
                <a:solidFill>
                  <a:srgbClr val="202230"/>
                </a:solidFill>
                <a:latin typeface="Aptos"/>
              </a:rPr>
              <a:t>20</a:t>
            </a:r>
          </a:p>
        </p:txBody>
      </p:sp>
      <p:sp>
        <p:nvSpPr>
          <p:cNvPr id="28" name="Rectangle 27"/>
          <p:cNvSpPr/>
          <p:nvPr/>
        </p:nvSpPr>
        <p:spPr>
          <a:xfrm>
            <a:off x="6793992" y="2471928"/>
            <a:ext cx="2395728" cy="490728"/>
          </a:xfrm>
          <a:prstGeom prst="rect">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39712" y="2508504"/>
            <a:ext cx="2304288" cy="417576"/>
          </a:xfrm>
          <a:prstGeom prst="rect">
            <a:avLst/>
          </a:prstGeom>
          <a:noFill/>
        </p:spPr>
        <p:txBody>
          <a:bodyPr wrap="square" lIns="9144" rIns="9144" tIns="9144" bIns="9144" anchor="t">
            <a:spAutoFit/>
          </a:bodyPr>
          <a:lstStyle/>
          <a:p>
            <a:pPr algn="l">
              <a:spcAft>
                <a:spcPts val="0"/>
              </a:spcAft>
            </a:pPr>
            <a:r>
              <a:rPr sz="869" b="0" i="0">
                <a:solidFill>
                  <a:srgbClr val="202230"/>
                </a:solidFill>
                <a:latin typeface="Aptos"/>
              </a:rPr>
              <a:t>Proceeds certainty / 25%</a:t>
            </a:r>
          </a:p>
        </p:txBody>
      </p:sp>
      <p:sp>
        <p:nvSpPr>
          <p:cNvPr id="30" name="Rectangle 29"/>
          <p:cNvSpPr/>
          <p:nvPr/>
        </p:nvSpPr>
        <p:spPr>
          <a:xfrm>
            <a:off x="9189720" y="2471928"/>
            <a:ext cx="822960" cy="490728"/>
          </a:xfrm>
          <a:prstGeom prst="rect">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35440" y="2508504"/>
            <a:ext cx="731520" cy="417576"/>
          </a:xfrm>
          <a:prstGeom prst="rect">
            <a:avLst/>
          </a:prstGeom>
          <a:noFill/>
        </p:spPr>
        <p:txBody>
          <a:bodyPr wrap="square" lIns="9144" rIns="9144" tIns="9144" bIns="9144" anchor="t">
            <a:spAutoFit/>
          </a:bodyPr>
          <a:lstStyle/>
          <a:p>
            <a:pPr algn="r">
              <a:spcAft>
                <a:spcPts val="0"/>
              </a:spcAft>
            </a:pPr>
            <a:r>
              <a:rPr sz="869" b="0" i="0">
                <a:solidFill>
                  <a:srgbClr val="202230"/>
                </a:solidFill>
                <a:latin typeface="Aptos"/>
              </a:rPr>
              <a:t>45</a:t>
            </a:r>
          </a:p>
        </p:txBody>
      </p:sp>
      <p:sp>
        <p:nvSpPr>
          <p:cNvPr id="32" name="Rectangle 31"/>
          <p:cNvSpPr/>
          <p:nvPr/>
        </p:nvSpPr>
        <p:spPr>
          <a:xfrm>
            <a:off x="10012680" y="2471928"/>
            <a:ext cx="749808" cy="490728"/>
          </a:xfrm>
          <a:prstGeom prst="rect">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0" y="2508504"/>
            <a:ext cx="658368" cy="417576"/>
          </a:xfrm>
          <a:prstGeom prst="rect">
            <a:avLst/>
          </a:prstGeom>
          <a:noFill/>
        </p:spPr>
        <p:txBody>
          <a:bodyPr wrap="square" lIns="9144" rIns="9144" tIns="9144" bIns="9144" anchor="t">
            <a:spAutoFit/>
          </a:bodyPr>
          <a:lstStyle/>
          <a:p>
            <a:pPr algn="r">
              <a:spcAft>
                <a:spcPts val="0"/>
              </a:spcAft>
            </a:pPr>
            <a:r>
              <a:rPr sz="869" b="0" i="0">
                <a:solidFill>
                  <a:srgbClr val="202230"/>
                </a:solidFill>
                <a:latin typeface="Aptos"/>
              </a:rPr>
              <a:t>100</a:t>
            </a:r>
          </a:p>
        </p:txBody>
      </p:sp>
      <p:sp>
        <p:nvSpPr>
          <p:cNvPr id="34" name="Rectangle 33"/>
          <p:cNvSpPr/>
          <p:nvPr/>
        </p:nvSpPr>
        <p:spPr>
          <a:xfrm>
            <a:off x="10762488" y="2471928"/>
            <a:ext cx="841248" cy="490728"/>
          </a:xfrm>
          <a:prstGeom prst="rect">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808208" y="2508504"/>
            <a:ext cx="749808" cy="417576"/>
          </a:xfrm>
          <a:prstGeom prst="rect">
            <a:avLst/>
          </a:prstGeom>
          <a:noFill/>
        </p:spPr>
        <p:txBody>
          <a:bodyPr wrap="square" lIns="9144" rIns="9144" tIns="9144" bIns="9144" anchor="t">
            <a:spAutoFit/>
          </a:bodyPr>
          <a:lstStyle/>
          <a:p>
            <a:pPr algn="r">
              <a:spcAft>
                <a:spcPts val="0"/>
              </a:spcAft>
            </a:pPr>
            <a:r>
              <a:rPr sz="869" b="0" i="0">
                <a:solidFill>
                  <a:srgbClr val="202230"/>
                </a:solidFill>
                <a:latin typeface="Aptos"/>
              </a:rPr>
              <a:t>100</a:t>
            </a:r>
          </a:p>
        </p:txBody>
      </p:sp>
      <p:sp>
        <p:nvSpPr>
          <p:cNvPr id="36" name="Rectangle 35"/>
          <p:cNvSpPr/>
          <p:nvPr/>
        </p:nvSpPr>
        <p:spPr>
          <a:xfrm>
            <a:off x="6793992" y="2962656"/>
            <a:ext cx="2395728" cy="490728"/>
          </a:xfrm>
          <a:prstGeom prst="rect">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39712" y="2999232"/>
            <a:ext cx="2304288" cy="417576"/>
          </a:xfrm>
          <a:prstGeom prst="rect">
            <a:avLst/>
          </a:prstGeom>
          <a:noFill/>
        </p:spPr>
        <p:txBody>
          <a:bodyPr wrap="square" lIns="9144" rIns="9144" tIns="9144" bIns="9144" anchor="t">
            <a:spAutoFit/>
          </a:bodyPr>
          <a:lstStyle/>
          <a:p>
            <a:pPr algn="l">
              <a:spcAft>
                <a:spcPts val="0"/>
              </a:spcAft>
            </a:pPr>
            <a:r>
              <a:rPr sz="869" b="0" i="0">
                <a:solidFill>
                  <a:srgbClr val="202230"/>
                </a:solidFill>
                <a:latin typeface="Aptos"/>
              </a:rPr>
              <a:t>Legal &amp; tax complexity / 15%</a:t>
            </a:r>
          </a:p>
        </p:txBody>
      </p:sp>
      <p:sp>
        <p:nvSpPr>
          <p:cNvPr id="38" name="Rectangle 37"/>
          <p:cNvSpPr/>
          <p:nvPr/>
        </p:nvSpPr>
        <p:spPr>
          <a:xfrm>
            <a:off x="9189720" y="2962656"/>
            <a:ext cx="822960" cy="490728"/>
          </a:xfrm>
          <a:prstGeom prst="rect">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35440" y="2999232"/>
            <a:ext cx="731520" cy="417576"/>
          </a:xfrm>
          <a:prstGeom prst="rect">
            <a:avLst/>
          </a:prstGeom>
          <a:noFill/>
        </p:spPr>
        <p:txBody>
          <a:bodyPr wrap="square" lIns="9144" rIns="9144" tIns="9144" bIns="9144" anchor="t">
            <a:spAutoFit/>
          </a:bodyPr>
          <a:lstStyle/>
          <a:p>
            <a:pPr algn="r">
              <a:spcAft>
                <a:spcPts val="0"/>
              </a:spcAft>
            </a:pPr>
            <a:r>
              <a:rPr sz="869" b="0" i="0">
                <a:solidFill>
                  <a:srgbClr val="202230"/>
                </a:solidFill>
                <a:latin typeface="Aptos"/>
              </a:rPr>
              <a:t>55</a:t>
            </a:r>
          </a:p>
        </p:txBody>
      </p:sp>
      <p:sp>
        <p:nvSpPr>
          <p:cNvPr id="40" name="Rectangle 39"/>
          <p:cNvSpPr/>
          <p:nvPr/>
        </p:nvSpPr>
        <p:spPr>
          <a:xfrm>
            <a:off x="10012680" y="2962656"/>
            <a:ext cx="749808" cy="490728"/>
          </a:xfrm>
          <a:prstGeom prst="rect">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2999232"/>
            <a:ext cx="658368" cy="417576"/>
          </a:xfrm>
          <a:prstGeom prst="rect">
            <a:avLst/>
          </a:prstGeom>
          <a:noFill/>
        </p:spPr>
        <p:txBody>
          <a:bodyPr wrap="square" lIns="9144" rIns="9144" tIns="9144" bIns="9144" anchor="t">
            <a:spAutoFit/>
          </a:bodyPr>
          <a:lstStyle/>
          <a:p>
            <a:pPr algn="r">
              <a:spcAft>
                <a:spcPts val="0"/>
              </a:spcAft>
            </a:pPr>
            <a:r>
              <a:rPr sz="869" b="0" i="0">
                <a:solidFill>
                  <a:srgbClr val="202230"/>
                </a:solidFill>
                <a:latin typeface="Aptos"/>
              </a:rPr>
              <a:t>90</a:t>
            </a:r>
          </a:p>
        </p:txBody>
      </p:sp>
      <p:sp>
        <p:nvSpPr>
          <p:cNvPr id="42" name="Rectangle 41"/>
          <p:cNvSpPr/>
          <p:nvPr/>
        </p:nvSpPr>
        <p:spPr>
          <a:xfrm>
            <a:off x="10762488" y="2962656"/>
            <a:ext cx="841248" cy="490728"/>
          </a:xfrm>
          <a:prstGeom prst="rect">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808208" y="2999232"/>
            <a:ext cx="749808" cy="417576"/>
          </a:xfrm>
          <a:prstGeom prst="rect">
            <a:avLst/>
          </a:prstGeom>
          <a:noFill/>
        </p:spPr>
        <p:txBody>
          <a:bodyPr wrap="square" lIns="9144" rIns="9144" tIns="9144" bIns="9144" anchor="t">
            <a:spAutoFit/>
          </a:bodyPr>
          <a:lstStyle/>
          <a:p>
            <a:pPr algn="r">
              <a:spcAft>
                <a:spcPts val="0"/>
              </a:spcAft>
            </a:pPr>
            <a:r>
              <a:rPr sz="869" b="0" i="0">
                <a:solidFill>
                  <a:srgbClr val="202230"/>
                </a:solidFill>
                <a:latin typeface="Aptos"/>
              </a:rPr>
              <a:t>35</a:t>
            </a:r>
          </a:p>
        </p:txBody>
      </p:sp>
      <p:sp>
        <p:nvSpPr>
          <p:cNvPr id="44" name="Rectangle 43"/>
          <p:cNvSpPr/>
          <p:nvPr/>
        </p:nvSpPr>
        <p:spPr>
          <a:xfrm>
            <a:off x="6793992" y="3453384"/>
            <a:ext cx="2395728" cy="490728"/>
          </a:xfrm>
          <a:prstGeom prst="rect">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39712" y="3489960"/>
            <a:ext cx="2304288" cy="417576"/>
          </a:xfrm>
          <a:prstGeom prst="rect">
            <a:avLst/>
          </a:prstGeom>
          <a:noFill/>
        </p:spPr>
        <p:txBody>
          <a:bodyPr wrap="square" lIns="9144" rIns="9144" tIns="9144" bIns="9144" anchor="t">
            <a:spAutoFit/>
          </a:bodyPr>
          <a:lstStyle/>
          <a:p>
            <a:pPr algn="l">
              <a:spcAft>
                <a:spcPts val="0"/>
              </a:spcAft>
            </a:pPr>
            <a:r>
              <a:rPr sz="869" b="0" i="0">
                <a:solidFill>
                  <a:srgbClr val="202230"/>
                </a:solidFill>
                <a:latin typeface="Aptos"/>
              </a:rPr>
              <a:t>DTT efficiency / 10%</a:t>
            </a:r>
          </a:p>
        </p:txBody>
      </p:sp>
      <p:sp>
        <p:nvSpPr>
          <p:cNvPr id="46" name="Rectangle 45"/>
          <p:cNvSpPr/>
          <p:nvPr/>
        </p:nvSpPr>
        <p:spPr>
          <a:xfrm>
            <a:off x="9189720" y="3453384"/>
            <a:ext cx="822960" cy="490728"/>
          </a:xfrm>
          <a:prstGeom prst="rect">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235440" y="3489960"/>
            <a:ext cx="731520" cy="417576"/>
          </a:xfrm>
          <a:prstGeom prst="rect">
            <a:avLst/>
          </a:prstGeom>
          <a:noFill/>
        </p:spPr>
        <p:txBody>
          <a:bodyPr wrap="square" lIns="9144" rIns="9144" tIns="9144" bIns="9144" anchor="t">
            <a:spAutoFit/>
          </a:bodyPr>
          <a:lstStyle/>
          <a:p>
            <a:pPr algn="r">
              <a:spcAft>
                <a:spcPts val="0"/>
              </a:spcAft>
            </a:pPr>
            <a:r>
              <a:rPr sz="869" b="0" i="0">
                <a:solidFill>
                  <a:srgbClr val="202230"/>
                </a:solidFill>
                <a:latin typeface="Aptos"/>
              </a:rPr>
              <a:t>50</a:t>
            </a:r>
          </a:p>
        </p:txBody>
      </p:sp>
      <p:sp>
        <p:nvSpPr>
          <p:cNvPr id="48" name="Rectangle 47"/>
          <p:cNvSpPr/>
          <p:nvPr/>
        </p:nvSpPr>
        <p:spPr>
          <a:xfrm>
            <a:off x="10012680" y="3453384"/>
            <a:ext cx="749808" cy="490728"/>
          </a:xfrm>
          <a:prstGeom prst="rect">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58400" y="3489960"/>
            <a:ext cx="658368" cy="417576"/>
          </a:xfrm>
          <a:prstGeom prst="rect">
            <a:avLst/>
          </a:prstGeom>
          <a:noFill/>
        </p:spPr>
        <p:txBody>
          <a:bodyPr wrap="square" lIns="9144" rIns="9144" tIns="9144" bIns="9144" anchor="t">
            <a:spAutoFit/>
          </a:bodyPr>
          <a:lstStyle/>
          <a:p>
            <a:pPr algn="r">
              <a:spcAft>
                <a:spcPts val="0"/>
              </a:spcAft>
            </a:pPr>
            <a:r>
              <a:rPr sz="869" b="0" i="0">
                <a:solidFill>
                  <a:srgbClr val="202230"/>
                </a:solidFill>
                <a:latin typeface="Aptos"/>
              </a:rPr>
              <a:t>50</a:t>
            </a:r>
          </a:p>
        </p:txBody>
      </p:sp>
      <p:sp>
        <p:nvSpPr>
          <p:cNvPr id="50" name="Rectangle 49"/>
          <p:cNvSpPr/>
          <p:nvPr/>
        </p:nvSpPr>
        <p:spPr>
          <a:xfrm>
            <a:off x="10762488" y="3453384"/>
            <a:ext cx="841248" cy="490728"/>
          </a:xfrm>
          <a:prstGeom prst="rect">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808208" y="3489960"/>
            <a:ext cx="749808" cy="417576"/>
          </a:xfrm>
          <a:prstGeom prst="rect">
            <a:avLst/>
          </a:prstGeom>
          <a:noFill/>
        </p:spPr>
        <p:txBody>
          <a:bodyPr wrap="square" lIns="9144" rIns="9144" tIns="9144" bIns="9144" anchor="t">
            <a:spAutoFit/>
          </a:bodyPr>
          <a:lstStyle/>
          <a:p>
            <a:pPr algn="r">
              <a:spcAft>
                <a:spcPts val="0"/>
              </a:spcAft>
            </a:pPr>
            <a:r>
              <a:rPr sz="869" b="0" i="0">
                <a:solidFill>
                  <a:srgbClr val="202230"/>
                </a:solidFill>
                <a:latin typeface="Aptos"/>
              </a:rPr>
              <a:t>50</a:t>
            </a:r>
          </a:p>
        </p:txBody>
      </p:sp>
      <p:sp>
        <p:nvSpPr>
          <p:cNvPr id="52" name="Rectangle 51"/>
          <p:cNvSpPr/>
          <p:nvPr/>
        </p:nvSpPr>
        <p:spPr>
          <a:xfrm>
            <a:off x="6793992" y="3944112"/>
            <a:ext cx="2395728" cy="490728"/>
          </a:xfrm>
          <a:prstGeom prst="rect">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839712" y="3980688"/>
            <a:ext cx="2304288" cy="417576"/>
          </a:xfrm>
          <a:prstGeom prst="rect">
            <a:avLst/>
          </a:prstGeom>
          <a:noFill/>
        </p:spPr>
        <p:txBody>
          <a:bodyPr wrap="square" lIns="9144" rIns="9144" tIns="9144" bIns="9144" anchor="t">
            <a:spAutoFit/>
          </a:bodyPr>
          <a:lstStyle/>
          <a:p>
            <a:pPr algn="l">
              <a:spcAft>
                <a:spcPts val="0"/>
              </a:spcAft>
            </a:pPr>
            <a:r>
              <a:rPr sz="869" b="0" i="0">
                <a:solidFill>
                  <a:srgbClr val="202230"/>
                </a:solidFill>
                <a:latin typeface="Aptos"/>
              </a:rPr>
              <a:t>Execution timing / 15%</a:t>
            </a:r>
          </a:p>
        </p:txBody>
      </p:sp>
      <p:sp>
        <p:nvSpPr>
          <p:cNvPr id="54" name="Rectangle 53"/>
          <p:cNvSpPr/>
          <p:nvPr/>
        </p:nvSpPr>
        <p:spPr>
          <a:xfrm>
            <a:off x="9189720" y="3944112"/>
            <a:ext cx="822960" cy="490728"/>
          </a:xfrm>
          <a:prstGeom prst="rect">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235440" y="3980688"/>
            <a:ext cx="731520" cy="417576"/>
          </a:xfrm>
          <a:prstGeom prst="rect">
            <a:avLst/>
          </a:prstGeom>
          <a:noFill/>
        </p:spPr>
        <p:txBody>
          <a:bodyPr wrap="square" lIns="9144" rIns="9144" tIns="9144" bIns="9144" anchor="t">
            <a:spAutoFit/>
          </a:bodyPr>
          <a:lstStyle/>
          <a:p>
            <a:pPr algn="r">
              <a:spcAft>
                <a:spcPts val="0"/>
              </a:spcAft>
            </a:pPr>
            <a:r>
              <a:rPr sz="869" b="0" i="0">
                <a:solidFill>
                  <a:srgbClr val="202230"/>
                </a:solidFill>
                <a:latin typeface="Aptos"/>
              </a:rPr>
              <a:t>80</a:t>
            </a:r>
          </a:p>
        </p:txBody>
      </p:sp>
      <p:sp>
        <p:nvSpPr>
          <p:cNvPr id="56" name="Rectangle 55"/>
          <p:cNvSpPr/>
          <p:nvPr/>
        </p:nvSpPr>
        <p:spPr>
          <a:xfrm>
            <a:off x="10012680" y="3944112"/>
            <a:ext cx="749808" cy="490728"/>
          </a:xfrm>
          <a:prstGeom prst="rect">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058400" y="3980688"/>
            <a:ext cx="658368" cy="417576"/>
          </a:xfrm>
          <a:prstGeom prst="rect">
            <a:avLst/>
          </a:prstGeom>
          <a:noFill/>
        </p:spPr>
        <p:txBody>
          <a:bodyPr wrap="square" lIns="9144" rIns="9144" tIns="9144" bIns="9144" anchor="t">
            <a:spAutoFit/>
          </a:bodyPr>
          <a:lstStyle/>
          <a:p>
            <a:pPr algn="r">
              <a:spcAft>
                <a:spcPts val="0"/>
              </a:spcAft>
            </a:pPr>
            <a:r>
              <a:rPr sz="869" b="0" i="0">
                <a:solidFill>
                  <a:srgbClr val="202230"/>
                </a:solidFill>
                <a:latin typeface="Aptos"/>
              </a:rPr>
              <a:t>95</a:t>
            </a:r>
          </a:p>
        </p:txBody>
      </p:sp>
      <p:sp>
        <p:nvSpPr>
          <p:cNvPr id="58" name="Rectangle 57"/>
          <p:cNvSpPr/>
          <p:nvPr/>
        </p:nvSpPr>
        <p:spPr>
          <a:xfrm>
            <a:off x="10762488" y="3944112"/>
            <a:ext cx="841248" cy="490728"/>
          </a:xfrm>
          <a:prstGeom prst="rect">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808208" y="3980688"/>
            <a:ext cx="749808" cy="417576"/>
          </a:xfrm>
          <a:prstGeom prst="rect">
            <a:avLst/>
          </a:prstGeom>
          <a:noFill/>
        </p:spPr>
        <p:txBody>
          <a:bodyPr wrap="square" lIns="9144" rIns="9144" tIns="9144" bIns="9144" anchor="t">
            <a:spAutoFit/>
          </a:bodyPr>
          <a:lstStyle/>
          <a:p>
            <a:pPr algn="r">
              <a:spcAft>
                <a:spcPts val="0"/>
              </a:spcAft>
            </a:pPr>
            <a:r>
              <a:rPr sz="869" b="0" i="0">
                <a:solidFill>
                  <a:srgbClr val="202230"/>
                </a:solidFill>
                <a:latin typeface="Aptos"/>
              </a:rPr>
              <a:t>55</a:t>
            </a:r>
          </a:p>
        </p:txBody>
      </p:sp>
      <p:sp>
        <p:nvSpPr>
          <p:cNvPr id="60" name="Rounded Rectangle 59"/>
          <p:cNvSpPr/>
          <p:nvPr/>
        </p:nvSpPr>
        <p:spPr>
          <a:xfrm>
            <a:off x="6793992" y="4654296"/>
            <a:ext cx="4809744" cy="1097280"/>
          </a:xfrm>
          <a:prstGeom prst="roundRect">
            <a:avLst>
              <a:gd name="adj" fmla="val 8000"/>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040880" y="4855464"/>
            <a:ext cx="1097280" cy="182880"/>
          </a:xfrm>
          <a:prstGeom prst="rect">
            <a:avLst/>
          </a:prstGeom>
          <a:noFill/>
        </p:spPr>
        <p:txBody>
          <a:bodyPr wrap="square" lIns="0" rIns="0" tIns="0" bIns="0" anchor="t">
            <a:spAutoFit/>
          </a:bodyPr>
          <a:lstStyle/>
          <a:p>
            <a:pPr algn="l">
              <a:spcAft>
                <a:spcPts val="0"/>
              </a:spcAft>
            </a:pPr>
            <a:r>
              <a:rPr sz="900" b="1" i="0">
                <a:solidFill>
                  <a:srgbClr val="60697A"/>
                </a:solidFill>
                <a:latin typeface="Aptos"/>
              </a:rPr>
              <a:t>Decision rule</a:t>
            </a:r>
          </a:p>
        </p:txBody>
      </p:sp>
      <p:sp>
        <p:nvSpPr>
          <p:cNvPr id="62" name="TextBox 61"/>
          <p:cNvSpPr txBox="1"/>
          <p:nvPr/>
        </p:nvSpPr>
        <p:spPr>
          <a:xfrm>
            <a:off x="7040880" y="5166360"/>
            <a:ext cx="4133087" cy="365760"/>
          </a:xfrm>
          <a:prstGeom prst="rect">
            <a:avLst/>
          </a:prstGeom>
          <a:noFill/>
        </p:spPr>
        <p:txBody>
          <a:bodyPr wrap="square" lIns="0" rIns="0" tIns="0" bIns="0" anchor="t">
            <a:spAutoFit/>
          </a:bodyPr>
          <a:lstStyle/>
          <a:p>
            <a:pPr algn="l">
              <a:spcAft>
                <a:spcPts val="0"/>
              </a:spcAft>
            </a:pPr>
            <a:r>
              <a:rPr sz="1019" b="1" i="0">
                <a:solidFill>
                  <a:srgbClr val="2B2D42"/>
                </a:solidFill>
                <a:latin typeface="Aptos"/>
              </a:rPr>
              <a:t>Installment ranks first only with enforceable credit protection. If conditions fail, direct sale becomes preferred.</a:t>
            </a:r>
          </a:p>
        </p:txBody>
      </p:sp>
      <p:sp>
        <p:nvSpPr>
          <p:cNvPr id="63" name="TextBox 62"/>
          <p:cNvSpPr txBox="1"/>
          <p:nvPr/>
        </p:nvSpPr>
        <p:spPr>
          <a:xfrm>
            <a:off x="7040880" y="5586984"/>
            <a:ext cx="4069080" cy="155448"/>
          </a:xfrm>
          <a:prstGeom prst="rect">
            <a:avLst/>
          </a:prstGeom>
          <a:noFill/>
        </p:spPr>
        <p:txBody>
          <a:bodyPr wrap="square" lIns="0" rIns="0" tIns="0" bIns="0" anchor="t">
            <a:spAutoFit/>
          </a:bodyPr>
          <a:lstStyle/>
          <a:p>
            <a:pPr algn="l">
              <a:spcAft>
                <a:spcPts val="0"/>
              </a:spcAft>
            </a:pPr>
            <a:r>
              <a:rPr sz="819" b="0" i="0">
                <a:solidFill>
                  <a:srgbClr val="60697A"/>
                </a:solidFill>
                <a:latin typeface="Aptos"/>
              </a:rPr>
              <a:t>Scores are decision aids—not valuation outputs.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DF2F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50292"/>
            <a:ext cx="594360" cy="228600"/>
          </a:xfrm>
          <a:prstGeom prst="rect">
            <a:avLst/>
          </a:prstGeom>
          <a:noFill/>
        </p:spPr>
        <p:txBody>
          <a:bodyPr wrap="square" lIns="0" rIns="0" tIns="0" bIns="0" anchor="t">
            <a:spAutoFit/>
          </a:bodyPr>
          <a:lstStyle/>
          <a:p>
            <a:pPr algn="l">
              <a:spcAft>
                <a:spcPts val="0"/>
              </a:spcAft>
            </a:pPr>
            <a:r>
              <a:rPr sz="1300" b="1" i="0">
                <a:solidFill>
                  <a:srgbClr val="FFFFFF"/>
                </a:solidFill>
                <a:latin typeface="Aptos Display Semibold"/>
              </a:rPr>
              <a:t>ADC</a:t>
            </a:r>
          </a:p>
        </p:txBody>
      </p:sp>
      <p:sp>
        <p:nvSpPr>
          <p:cNvPr id="4" name="Rectangle 3"/>
          <p:cNvSpPr/>
          <p:nvPr/>
        </p:nvSpPr>
        <p:spPr>
          <a:xfrm>
            <a:off x="1005840" y="105156"/>
            <a:ext cx="16459" cy="155448"/>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64008"/>
            <a:ext cx="2103120" cy="201168"/>
          </a:xfrm>
          <a:prstGeom prst="rect">
            <a:avLst/>
          </a:prstGeom>
          <a:noFill/>
        </p:spPr>
        <p:txBody>
          <a:bodyPr wrap="square" lIns="0" rIns="0" tIns="0" bIns="0" anchor="t">
            <a:spAutoFit/>
          </a:bodyPr>
          <a:lstStyle/>
          <a:p>
            <a:pPr algn="l">
              <a:spcAft>
                <a:spcPts val="0"/>
              </a:spcAft>
            </a:pPr>
            <a:r>
              <a:rPr sz="850" b="1" i="0">
                <a:solidFill>
                  <a:srgbClr val="EDF2F4"/>
                </a:solidFill>
                <a:latin typeface="Aptos"/>
              </a:rPr>
              <a:t>04 | RECOMMENDATION</a:t>
            </a:r>
          </a:p>
        </p:txBody>
      </p:sp>
      <p:sp>
        <p:nvSpPr>
          <p:cNvPr id="6" name="TextBox 5"/>
          <p:cNvSpPr txBox="1"/>
          <p:nvPr/>
        </p:nvSpPr>
        <p:spPr>
          <a:xfrm>
            <a:off x="7680960" y="68580"/>
            <a:ext cx="4069080" cy="192024"/>
          </a:xfrm>
          <a:prstGeom prst="rect">
            <a:avLst/>
          </a:prstGeom>
          <a:noFill/>
        </p:spPr>
        <p:txBody>
          <a:bodyPr wrap="square" lIns="0" rIns="0" tIns="0" bIns="0" anchor="t">
            <a:spAutoFit/>
          </a:bodyPr>
          <a:lstStyle/>
          <a:p>
            <a:pPr algn="r">
              <a:spcAft>
                <a:spcPts val="0"/>
              </a:spcAft>
            </a:pPr>
            <a:r>
              <a:rPr sz="810" b="1" i="0">
                <a:solidFill>
                  <a:srgbClr val="EDF2F4"/>
                </a:solidFill>
                <a:latin typeface="Aptos"/>
              </a:rPr>
              <a:t>PRIVILEGED &amp; CONFIDENTIAL — TAX PLANNING DRAFT</a:t>
            </a:r>
          </a:p>
        </p:txBody>
      </p:sp>
      <p:sp>
        <p:nvSpPr>
          <p:cNvPr id="7" name="Rectangle 6"/>
          <p:cNvSpPr/>
          <p:nvPr/>
        </p:nvSpPr>
        <p:spPr>
          <a:xfrm>
            <a:off x="0" y="6547104"/>
            <a:ext cx="12191695" cy="310896"/>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6624828"/>
            <a:ext cx="9052560" cy="128016"/>
          </a:xfrm>
          <a:prstGeom prst="rect">
            <a:avLst/>
          </a:prstGeom>
          <a:noFill/>
        </p:spPr>
        <p:txBody>
          <a:bodyPr wrap="square" lIns="0" rIns="0" tIns="0" bIns="0" anchor="t">
            <a:spAutoFit/>
          </a:bodyPr>
          <a:lstStyle/>
          <a:p>
            <a:pPr algn="l">
              <a:spcAft>
                <a:spcPts val="0"/>
              </a:spcAft>
            </a:pPr>
            <a:r>
              <a:rPr sz="720" b="0" i="0">
                <a:solidFill>
                  <a:srgbClr val="EDF2F4"/>
                </a:solidFill>
                <a:latin typeface="Aptos"/>
              </a:rPr>
              <a:t>Decision authority | Agree Realty Corporation Investment Committee</a:t>
            </a:r>
          </a:p>
        </p:txBody>
      </p:sp>
      <p:sp>
        <p:nvSpPr>
          <p:cNvPr id="9" name="TextBox 8"/>
          <p:cNvSpPr txBox="1"/>
          <p:nvPr/>
        </p:nvSpPr>
        <p:spPr>
          <a:xfrm>
            <a:off x="11201400" y="6597396"/>
            <a:ext cx="566928" cy="164592"/>
          </a:xfrm>
          <a:prstGeom prst="rect">
            <a:avLst/>
          </a:prstGeom>
          <a:noFill/>
        </p:spPr>
        <p:txBody>
          <a:bodyPr wrap="square" lIns="0" rIns="0" tIns="0" bIns="0" anchor="t">
            <a:spAutoFit/>
          </a:bodyPr>
          <a:lstStyle/>
          <a:p>
            <a:pPr algn="r">
              <a:spcAft>
                <a:spcPts val="0"/>
              </a:spcAft>
            </a:pPr>
            <a:r>
              <a:rPr sz="900" b="1" i="0">
                <a:solidFill>
                  <a:srgbClr val="FFFFFF"/>
                </a:solidFill>
                <a:latin typeface="Aptos"/>
              </a:rPr>
              <a:t>14</a:t>
            </a:r>
          </a:p>
        </p:txBody>
      </p:sp>
      <p:sp>
        <p:nvSpPr>
          <p:cNvPr id="10" name="TextBox 9"/>
          <p:cNvSpPr txBox="1"/>
          <p:nvPr/>
        </p:nvSpPr>
        <p:spPr>
          <a:xfrm>
            <a:off x="530352" y="658368"/>
            <a:ext cx="10972800" cy="530352"/>
          </a:xfrm>
          <a:prstGeom prst="rect">
            <a:avLst/>
          </a:prstGeom>
          <a:noFill/>
        </p:spPr>
        <p:txBody>
          <a:bodyPr wrap="square" lIns="0" rIns="0" tIns="0" bIns="0" anchor="t">
            <a:spAutoFit/>
          </a:bodyPr>
          <a:lstStyle/>
          <a:p>
            <a:pPr algn="l">
              <a:spcAft>
                <a:spcPts val="0"/>
              </a:spcAft>
            </a:pPr>
            <a:r>
              <a:rPr sz="2800" b="1" i="0">
                <a:solidFill>
                  <a:srgbClr val="2B2D42"/>
                </a:solidFill>
                <a:latin typeface="Aptos Display Semibold"/>
              </a:rPr>
              <a:t>Recommendation Approved for Negotiation</a:t>
            </a:r>
          </a:p>
        </p:txBody>
      </p:sp>
      <p:sp>
        <p:nvSpPr>
          <p:cNvPr id="11" name="Rounded Rectangle 10"/>
          <p:cNvSpPr/>
          <p:nvPr/>
        </p:nvSpPr>
        <p:spPr>
          <a:xfrm>
            <a:off x="530352" y="1353312"/>
            <a:ext cx="11128248" cy="2148840"/>
          </a:xfrm>
          <a:prstGeom prst="roundRect">
            <a:avLst>
              <a:gd name="adj" fmla="val 8000"/>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0352" y="1353312"/>
            <a:ext cx="91440" cy="2148840"/>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1645920"/>
            <a:ext cx="10442448" cy="1490472"/>
          </a:xfrm>
          <a:prstGeom prst="rect">
            <a:avLst/>
          </a:prstGeom>
          <a:noFill/>
        </p:spPr>
        <p:txBody>
          <a:bodyPr wrap="square" lIns="9144" rIns="9144" tIns="9144" bIns="9144" anchor="t">
            <a:spAutoFit/>
          </a:bodyPr>
          <a:lstStyle/>
          <a:p>
            <a:pPr algn="l">
              <a:spcAft>
                <a:spcPts val="0"/>
              </a:spcAft>
            </a:pPr>
            <a:r>
              <a:rPr sz="1500" b="1" i="0">
                <a:solidFill>
                  <a:srgbClr val="FFFFFF"/>
                </a:solidFill>
                <a:latin typeface="Aptos"/>
              </a:rPr>
              <a:t>Proceed with a negotiated installment asset sale using a $7,183,750.00 closing principal payment and a $21,551,250.00 secured seller note; require commercially acceptable collateral, payment covenants, buyer solvency diligence, California withholding clearance or compliant withholding, and federal nonforeign affidavits. Retain the all-cash direct sale as the fallback and do not prioritize the partnership-interest transfer.</a:t>
            </a:r>
          </a:p>
        </p:txBody>
      </p:sp>
      <p:sp>
        <p:nvSpPr>
          <p:cNvPr id="14" name="Rounded Rectangle 13"/>
          <p:cNvSpPr/>
          <p:nvPr/>
        </p:nvSpPr>
        <p:spPr>
          <a:xfrm>
            <a:off x="530352" y="3822191"/>
            <a:ext cx="11128248" cy="621792"/>
          </a:xfrm>
          <a:prstGeom prst="roundRect">
            <a:avLst>
              <a:gd name="adj" fmla="val 8000"/>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4014215"/>
            <a:ext cx="10469880" cy="219456"/>
          </a:xfrm>
          <a:prstGeom prst="rect">
            <a:avLst/>
          </a:prstGeom>
          <a:noFill/>
        </p:spPr>
        <p:txBody>
          <a:bodyPr wrap="square" lIns="0" rIns="0" tIns="0" bIns="0" anchor="t">
            <a:spAutoFit/>
          </a:bodyPr>
          <a:lstStyle/>
          <a:p>
            <a:pPr algn="ctr">
              <a:spcAft>
                <a:spcPts val="0"/>
              </a:spcAft>
            </a:pPr>
            <a:r>
              <a:rPr sz="1200" b="1" i="0">
                <a:solidFill>
                  <a:srgbClr val="FFFFFF"/>
                </a:solidFill>
                <a:latin typeface="Aptos"/>
              </a:rPr>
              <a:t>AUTHORIZATION REQUESTED: NEGOTIATE WITHIN THESE GUARDRAILS</a:t>
            </a:r>
          </a:p>
        </p:txBody>
      </p:sp>
      <p:sp>
        <p:nvSpPr>
          <p:cNvPr id="16" name="Rounded Rectangle 15"/>
          <p:cNvSpPr/>
          <p:nvPr/>
        </p:nvSpPr>
        <p:spPr>
          <a:xfrm>
            <a:off x="530352" y="4736592"/>
            <a:ext cx="3529584" cy="1024128"/>
          </a:xfrm>
          <a:prstGeom prst="roundRect">
            <a:avLst>
              <a:gd name="adj" fmla="val 8000"/>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30352" y="4736592"/>
            <a:ext cx="64008" cy="1024128"/>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928616"/>
            <a:ext cx="841248" cy="182880"/>
          </a:xfrm>
          <a:prstGeom prst="rect">
            <a:avLst/>
          </a:prstGeom>
          <a:noFill/>
        </p:spPr>
        <p:txBody>
          <a:bodyPr wrap="square" lIns="0" rIns="0" tIns="0" bIns="0" anchor="t">
            <a:spAutoFit/>
          </a:bodyPr>
          <a:lstStyle/>
          <a:p>
            <a:pPr algn="l">
              <a:spcAft>
                <a:spcPts val="0"/>
              </a:spcAft>
            </a:pPr>
            <a:r>
              <a:rPr sz="900" b="1" i="0">
                <a:solidFill>
                  <a:srgbClr val="D90429"/>
                </a:solidFill>
                <a:latin typeface="Aptos"/>
              </a:rPr>
              <a:t>TAX</a:t>
            </a:r>
          </a:p>
        </p:txBody>
      </p:sp>
      <p:sp>
        <p:nvSpPr>
          <p:cNvPr id="19" name="TextBox 18"/>
          <p:cNvSpPr txBox="1"/>
          <p:nvPr/>
        </p:nvSpPr>
        <p:spPr>
          <a:xfrm>
            <a:off x="1517904" y="4882896"/>
            <a:ext cx="2267712" cy="438912"/>
          </a:xfrm>
          <a:prstGeom prst="rect">
            <a:avLst/>
          </a:prstGeom>
          <a:noFill/>
        </p:spPr>
        <p:txBody>
          <a:bodyPr wrap="square" lIns="0" rIns="0" tIns="0" bIns="0" anchor="t">
            <a:spAutoFit/>
          </a:bodyPr>
          <a:lstStyle/>
          <a:p>
            <a:pPr algn="l">
              <a:spcAft>
                <a:spcPts val="0"/>
              </a:spcAft>
            </a:pPr>
            <a:r>
              <a:rPr sz="1019" b="1" i="0">
                <a:solidFill>
                  <a:srgbClr val="2B2D42"/>
                </a:solidFill>
                <a:latin typeface="Aptos"/>
              </a:rPr>
              <a:t>Finalize basis, recapture, and withholding memorandum</a:t>
            </a:r>
          </a:p>
        </p:txBody>
      </p:sp>
      <p:sp>
        <p:nvSpPr>
          <p:cNvPr id="20" name="Rounded Rectangle 19"/>
          <p:cNvSpPr/>
          <p:nvPr/>
        </p:nvSpPr>
        <p:spPr>
          <a:xfrm>
            <a:off x="4343400" y="4736592"/>
            <a:ext cx="3529584" cy="1024128"/>
          </a:xfrm>
          <a:prstGeom prst="roundRect">
            <a:avLst>
              <a:gd name="adj" fmla="val 8000"/>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43400" y="4736592"/>
            <a:ext cx="64008" cy="1024128"/>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62856" y="4928616"/>
            <a:ext cx="841248" cy="182880"/>
          </a:xfrm>
          <a:prstGeom prst="rect">
            <a:avLst/>
          </a:prstGeom>
          <a:noFill/>
        </p:spPr>
        <p:txBody>
          <a:bodyPr wrap="square" lIns="0" rIns="0" tIns="0" bIns="0" anchor="t">
            <a:spAutoFit/>
          </a:bodyPr>
          <a:lstStyle/>
          <a:p>
            <a:pPr algn="l">
              <a:spcAft>
                <a:spcPts val="0"/>
              </a:spcAft>
            </a:pPr>
            <a:r>
              <a:rPr sz="900" b="1" i="0">
                <a:solidFill>
                  <a:srgbClr val="D90429"/>
                </a:solidFill>
                <a:latin typeface="Aptos"/>
              </a:rPr>
              <a:t>LEGAL</a:t>
            </a:r>
          </a:p>
        </p:txBody>
      </p:sp>
      <p:sp>
        <p:nvSpPr>
          <p:cNvPr id="23" name="TextBox 22"/>
          <p:cNvSpPr txBox="1"/>
          <p:nvPr/>
        </p:nvSpPr>
        <p:spPr>
          <a:xfrm>
            <a:off x="5330952" y="4882896"/>
            <a:ext cx="2267712" cy="438912"/>
          </a:xfrm>
          <a:prstGeom prst="rect">
            <a:avLst/>
          </a:prstGeom>
          <a:noFill/>
        </p:spPr>
        <p:txBody>
          <a:bodyPr wrap="square" lIns="0" rIns="0" tIns="0" bIns="0" anchor="t">
            <a:spAutoFit/>
          </a:bodyPr>
          <a:lstStyle/>
          <a:p>
            <a:pPr algn="l">
              <a:spcAft>
                <a:spcPts val="0"/>
              </a:spcAft>
            </a:pPr>
            <a:r>
              <a:rPr sz="1019" b="1" i="0">
                <a:solidFill>
                  <a:srgbClr val="2B2D42"/>
                </a:solidFill>
                <a:latin typeface="Aptos"/>
              </a:rPr>
              <a:t>Document collateral, covenants, remedies, and affidavits</a:t>
            </a:r>
          </a:p>
        </p:txBody>
      </p:sp>
      <p:sp>
        <p:nvSpPr>
          <p:cNvPr id="24" name="Rounded Rectangle 23"/>
          <p:cNvSpPr/>
          <p:nvPr/>
        </p:nvSpPr>
        <p:spPr>
          <a:xfrm>
            <a:off x="8156448" y="4736592"/>
            <a:ext cx="3529584" cy="1024128"/>
          </a:xfrm>
          <a:prstGeom prst="roundRect">
            <a:avLst>
              <a:gd name="adj" fmla="val 8000"/>
            </a:avLst>
          </a:prstGeom>
          <a:solidFill>
            <a:srgbClr val="FFFFFF"/>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56448" y="4736592"/>
            <a:ext cx="64008" cy="1024128"/>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75904" y="4928616"/>
            <a:ext cx="841248" cy="182880"/>
          </a:xfrm>
          <a:prstGeom prst="rect">
            <a:avLst/>
          </a:prstGeom>
          <a:noFill/>
        </p:spPr>
        <p:txBody>
          <a:bodyPr wrap="square" lIns="0" rIns="0" tIns="0" bIns="0" anchor="t">
            <a:spAutoFit/>
          </a:bodyPr>
          <a:lstStyle/>
          <a:p>
            <a:pPr algn="l">
              <a:spcAft>
                <a:spcPts val="0"/>
              </a:spcAft>
            </a:pPr>
            <a:r>
              <a:rPr sz="900" b="1" i="0">
                <a:solidFill>
                  <a:srgbClr val="D90429"/>
                </a:solidFill>
                <a:latin typeface="Aptos"/>
              </a:rPr>
              <a:t>TREASURY</a:t>
            </a:r>
          </a:p>
        </p:txBody>
      </p:sp>
      <p:sp>
        <p:nvSpPr>
          <p:cNvPr id="27" name="TextBox 26"/>
          <p:cNvSpPr txBox="1"/>
          <p:nvPr/>
        </p:nvSpPr>
        <p:spPr>
          <a:xfrm>
            <a:off x="9144000" y="4882896"/>
            <a:ext cx="2267712" cy="438912"/>
          </a:xfrm>
          <a:prstGeom prst="rect">
            <a:avLst/>
          </a:prstGeom>
          <a:noFill/>
        </p:spPr>
        <p:txBody>
          <a:bodyPr wrap="square" lIns="0" rIns="0" tIns="0" bIns="0" anchor="t">
            <a:spAutoFit/>
          </a:bodyPr>
          <a:lstStyle/>
          <a:p>
            <a:pPr algn="l">
              <a:spcAft>
                <a:spcPts val="0"/>
              </a:spcAft>
            </a:pPr>
            <a:r>
              <a:rPr sz="1019" b="1" i="0">
                <a:solidFill>
                  <a:srgbClr val="2B2D42"/>
                </a:solidFill>
                <a:latin typeface="Aptos"/>
              </a:rPr>
              <a:t>Complete buyer credit review before exclusivity</a:t>
            </a:r>
          </a:p>
        </p:txBody>
      </p:sp>
      <p:sp>
        <p:nvSpPr>
          <p:cNvPr id="28" name="TextBox 27"/>
          <p:cNvSpPr txBox="1"/>
          <p:nvPr/>
        </p:nvSpPr>
        <p:spPr>
          <a:xfrm>
            <a:off x="594360" y="6044184"/>
            <a:ext cx="10972800" cy="219456"/>
          </a:xfrm>
          <a:prstGeom prst="rect">
            <a:avLst/>
          </a:prstGeom>
          <a:noFill/>
        </p:spPr>
        <p:txBody>
          <a:bodyPr wrap="square" lIns="0" rIns="0" tIns="0" bIns="0" anchor="t">
            <a:spAutoFit/>
          </a:bodyPr>
          <a:lstStyle/>
          <a:p>
            <a:pPr algn="ctr">
              <a:spcAft>
                <a:spcPts val="0"/>
              </a:spcAft>
            </a:pPr>
            <a:r>
              <a:rPr sz="869" b="1" i="0">
                <a:solidFill>
                  <a:srgbClr val="60697A"/>
                </a:solidFill>
                <a:latin typeface="Aptos"/>
              </a:rPr>
              <a:t>Recapture is not deferred | Interest is separately taxable | California withholding must be addressed | DTT may apply to a controlling-interest transfer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50292"/>
            <a:ext cx="594360" cy="228600"/>
          </a:xfrm>
          <a:prstGeom prst="rect">
            <a:avLst/>
          </a:prstGeom>
          <a:noFill/>
        </p:spPr>
        <p:txBody>
          <a:bodyPr wrap="square" lIns="0" rIns="0" tIns="0" bIns="0" anchor="t">
            <a:spAutoFit/>
          </a:bodyPr>
          <a:lstStyle/>
          <a:p>
            <a:pPr algn="l">
              <a:spcAft>
                <a:spcPts val="0"/>
              </a:spcAft>
            </a:pPr>
            <a:r>
              <a:rPr sz="1300" b="1" i="0">
                <a:solidFill>
                  <a:srgbClr val="FFFFFF"/>
                </a:solidFill>
                <a:latin typeface="Aptos Display Semibold"/>
              </a:rPr>
              <a:t>ADC</a:t>
            </a:r>
          </a:p>
        </p:txBody>
      </p:sp>
      <p:sp>
        <p:nvSpPr>
          <p:cNvPr id="4" name="Rectangle 3"/>
          <p:cNvSpPr/>
          <p:nvPr/>
        </p:nvSpPr>
        <p:spPr>
          <a:xfrm>
            <a:off x="1005840" y="105156"/>
            <a:ext cx="16459" cy="155448"/>
          </a:xfrm>
          <a:prstGeom prst="rect">
            <a:avLst/>
          </a:prstGeom>
          <a:solidFill>
            <a:srgbClr val="D90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64008"/>
            <a:ext cx="2103120" cy="201168"/>
          </a:xfrm>
          <a:prstGeom prst="rect">
            <a:avLst/>
          </a:prstGeom>
          <a:noFill/>
        </p:spPr>
        <p:txBody>
          <a:bodyPr wrap="square" lIns="0" rIns="0" tIns="0" bIns="0" anchor="t">
            <a:spAutoFit/>
          </a:bodyPr>
          <a:lstStyle/>
          <a:p>
            <a:pPr algn="l">
              <a:spcAft>
                <a:spcPts val="0"/>
              </a:spcAft>
            </a:pPr>
            <a:r>
              <a:rPr sz="850" b="1" i="0">
                <a:solidFill>
                  <a:srgbClr val="EDF2F4"/>
                </a:solidFill>
                <a:latin typeface="Aptos"/>
              </a:rPr>
              <a:t>WORKING ANALYSIS</a:t>
            </a:r>
          </a:p>
        </p:txBody>
      </p:sp>
      <p:sp>
        <p:nvSpPr>
          <p:cNvPr id="6" name="TextBox 5"/>
          <p:cNvSpPr txBox="1"/>
          <p:nvPr/>
        </p:nvSpPr>
        <p:spPr>
          <a:xfrm>
            <a:off x="7680960" y="68580"/>
            <a:ext cx="4069080" cy="192024"/>
          </a:xfrm>
          <a:prstGeom prst="rect">
            <a:avLst/>
          </a:prstGeom>
          <a:noFill/>
        </p:spPr>
        <p:txBody>
          <a:bodyPr wrap="square" lIns="0" rIns="0" tIns="0" bIns="0" anchor="t">
            <a:spAutoFit/>
          </a:bodyPr>
          <a:lstStyle/>
          <a:p>
            <a:pPr algn="r">
              <a:spcAft>
                <a:spcPts val="0"/>
              </a:spcAft>
            </a:pPr>
            <a:r>
              <a:rPr sz="810" b="1" i="0">
                <a:solidFill>
                  <a:srgbClr val="EDF2F4"/>
                </a:solidFill>
                <a:latin typeface="Aptos"/>
              </a:rPr>
              <a:t>PRIVILEGED &amp; CONFIDENTIAL — TAX PLANNING DRAFT</a:t>
            </a:r>
          </a:p>
        </p:txBody>
      </p:sp>
      <p:sp>
        <p:nvSpPr>
          <p:cNvPr id="7" name="Rectangle 6"/>
          <p:cNvSpPr/>
          <p:nvPr/>
        </p:nvSpPr>
        <p:spPr>
          <a:xfrm>
            <a:off x="0" y="6547104"/>
            <a:ext cx="12191695" cy="310896"/>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6624828"/>
            <a:ext cx="9052560" cy="128016"/>
          </a:xfrm>
          <a:prstGeom prst="rect">
            <a:avLst/>
          </a:prstGeom>
          <a:noFill/>
        </p:spPr>
        <p:txBody>
          <a:bodyPr wrap="square" lIns="0" rIns="0" tIns="0" bIns="0" anchor="t">
            <a:spAutoFit/>
          </a:bodyPr>
          <a:lstStyle/>
          <a:p>
            <a:pPr algn="l">
              <a:spcAft>
                <a:spcPts val="0"/>
              </a:spcAft>
            </a:pPr>
            <a:r>
              <a:rPr sz="720" b="0" i="0">
                <a:solidFill>
                  <a:srgbClr val="EDF2F4"/>
                </a:solidFill>
                <a:latin typeface="Aptos"/>
              </a:rPr>
              <a:t>Internal tax model v7 | 2025-Q3 planning scenario</a:t>
            </a:r>
          </a:p>
        </p:txBody>
      </p:sp>
      <p:sp>
        <p:nvSpPr>
          <p:cNvPr id="9" name="TextBox 8"/>
          <p:cNvSpPr txBox="1"/>
          <p:nvPr/>
        </p:nvSpPr>
        <p:spPr>
          <a:xfrm>
            <a:off x="11201400" y="6597396"/>
            <a:ext cx="566928" cy="164592"/>
          </a:xfrm>
          <a:prstGeom prst="rect">
            <a:avLst/>
          </a:prstGeom>
          <a:noFill/>
        </p:spPr>
        <p:txBody>
          <a:bodyPr wrap="square" lIns="0" rIns="0" tIns="0" bIns="0" anchor="t">
            <a:spAutoFit/>
          </a:bodyPr>
          <a:lstStyle/>
          <a:p>
            <a:pPr algn="r">
              <a:spcAft>
                <a:spcPts val="0"/>
              </a:spcAft>
            </a:pPr>
            <a:r>
              <a:rPr sz="900" b="1" i="0">
                <a:solidFill>
                  <a:srgbClr val="FFFFFF"/>
                </a:solidFill>
                <a:latin typeface="Aptos"/>
              </a:rPr>
              <a:t>15</a:t>
            </a:r>
          </a:p>
        </p:txBody>
      </p:sp>
      <p:sp>
        <p:nvSpPr>
          <p:cNvPr id="10" name="TextBox 9"/>
          <p:cNvSpPr txBox="1"/>
          <p:nvPr/>
        </p:nvSpPr>
        <p:spPr>
          <a:xfrm>
            <a:off x="475488" y="566928"/>
            <a:ext cx="10972800" cy="502920"/>
          </a:xfrm>
          <a:prstGeom prst="rect">
            <a:avLst/>
          </a:prstGeom>
          <a:noFill/>
        </p:spPr>
        <p:txBody>
          <a:bodyPr wrap="square" lIns="0" rIns="0" tIns="0" bIns="0" anchor="t">
            <a:spAutoFit/>
          </a:bodyPr>
          <a:lstStyle/>
          <a:p>
            <a:pPr algn="l">
              <a:spcAft>
                <a:spcPts val="0"/>
              </a:spcAft>
            </a:pPr>
            <a:r>
              <a:rPr sz="2700" b="1" i="0">
                <a:solidFill>
                  <a:srgbClr val="2B2D42"/>
                </a:solidFill>
                <a:latin typeface="Aptos Display Semibold"/>
              </a:rPr>
              <a:t>Backup | Sensitivity to Seller-Note Recovery</a:t>
            </a:r>
          </a:p>
        </p:txBody>
      </p:sp>
      <p:sp>
        <p:nvSpPr>
          <p:cNvPr id="11" name="Rounded Rectangle 10"/>
          <p:cNvSpPr/>
          <p:nvPr/>
        </p:nvSpPr>
        <p:spPr>
          <a:xfrm>
            <a:off x="9729216" y="621792"/>
            <a:ext cx="1691640" cy="384048"/>
          </a:xfrm>
          <a:prstGeom prst="roundRect">
            <a:avLst>
              <a:gd name="adj" fmla="val 8000"/>
            </a:avLst>
          </a:prstGeom>
          <a:solidFill>
            <a:srgbClr val="FFF3D6"/>
          </a:solidFill>
          <a:ln w="889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93808" y="731520"/>
            <a:ext cx="1371600" cy="137160"/>
          </a:xfrm>
          <a:prstGeom prst="rect">
            <a:avLst/>
          </a:prstGeom>
          <a:noFill/>
        </p:spPr>
        <p:txBody>
          <a:bodyPr wrap="square" lIns="0" rIns="0" tIns="0" bIns="0" anchor="t">
            <a:spAutoFit/>
          </a:bodyPr>
          <a:lstStyle/>
          <a:p>
            <a:pPr algn="ctr">
              <a:spcAft>
                <a:spcPts val="0"/>
              </a:spcAft>
            </a:pPr>
            <a:r>
              <a:rPr sz="819" b="1" i="0">
                <a:solidFill>
                  <a:srgbClr val="D90429"/>
                </a:solidFill>
                <a:latin typeface="Aptos"/>
              </a:rPr>
              <a:t>HIDDEN BACKUP</a:t>
            </a:r>
          </a:p>
        </p:txBody>
      </p:sp>
      <p:graphicFrame>
        <p:nvGraphicFramePr>
          <p:cNvPr id="13" name="Table 12"/>
          <p:cNvGraphicFramePr>
            <a:graphicFrameLocks noGrp="1"/>
          </p:cNvGraphicFramePr>
          <p:nvPr/>
        </p:nvGraphicFramePr>
        <p:xfrm>
          <a:off x="594360" y="1481328"/>
          <a:ext cx="10972799" cy="3264405"/>
        </p:xfrm>
        <a:graphic>
          <a:graphicData uri="http://schemas.openxmlformats.org/drawingml/2006/table">
            <a:tbl>
              <a:tblPr firstRow="1" bandRow="1">
                <a:tableStyleId>{5C22544A-7EE6-4342-B048-85BDC9FD1C3A}</a:tableStyleId>
              </a:tblPr>
              <a:tblGrid>
                <a:gridCol w="1874519"/>
                <a:gridCol w="2395728"/>
                <a:gridCol w="2578608"/>
                <a:gridCol w="4123944"/>
              </a:tblGrid>
              <a:tr h="652881">
                <a:tc>
                  <a:txBody>
                    <a:bodyPr wrap="square" lIns="45720" rIns="45720" tIns="27432" bIns="27432"/>
                    <a:lstStyle/>
                    <a:p>
                      <a:pPr algn="l">
                        <a:spcAft>
                          <a:spcPts val="0"/>
                        </a:spcAft>
                      </a:pPr>
                      <a:r>
                        <a:rPr sz="880" b="1">
                          <a:solidFill>
                            <a:srgbClr val="FFFFFF"/>
                          </a:solidFill>
                          <a:latin typeface="Aptos"/>
                        </a:rPr>
                        <a:t>Seller-note recovery</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80" b="1">
                          <a:solidFill>
                            <a:srgbClr val="FFFFFF"/>
                          </a:solidFill>
                          <a:latin typeface="Aptos"/>
                        </a:rPr>
                        <a:t>Cash principal recovered</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80" b="1">
                          <a:solidFill>
                            <a:srgbClr val="FFFFFF"/>
                          </a:solidFill>
                          <a:latin typeface="Aptos"/>
                        </a:rPr>
                        <a:t>Principal shortfall vs. full recovery</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880" b="1">
                          <a:solidFill>
                            <a:srgbClr val="FFFFFF"/>
                          </a:solidFill>
                          <a:latin typeface="Aptos"/>
                        </a:rPr>
                        <a:t>Committee interpretation</a:t>
                      </a:r>
                    </a:p>
                  </a:txBody>
                  <a:tcPr>
                    <a:solidFill>
                      <a:srgbClr val="8D99AE"/>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652881">
                <a:tc>
                  <a:txBody>
                    <a:bodyPr wrap="square" lIns="45720" rIns="45720" tIns="27432" bIns="27432"/>
                    <a:lstStyle/>
                    <a:p>
                      <a:pPr algn="l">
                        <a:spcAft>
                          <a:spcPts val="0"/>
                        </a:spcAft>
                      </a:pPr>
                      <a:r>
                        <a:rPr sz="900" b="0">
                          <a:solidFill>
                            <a:srgbClr val="202230"/>
                          </a:solidFill>
                          <a:latin typeface="Aptos"/>
                        </a:rPr>
                        <a:t>100%</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00" b="0">
                          <a:solidFill>
                            <a:srgbClr val="202230"/>
                          </a:solidFill>
                          <a:latin typeface="Aptos"/>
                        </a:rPr>
                        <a:t>$28,735,000.00</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00" b="0">
                          <a:solidFill>
                            <a:srgbClr val="202230"/>
                          </a:solidFill>
                          <a:latin typeface="Aptos"/>
                        </a:rPr>
                        <a:t>$0.00</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900" b="0">
                          <a:solidFill>
                            <a:srgbClr val="202230"/>
                          </a:solidFill>
                          <a:latin typeface="Aptos"/>
                        </a:rPr>
                        <a:t>Base case; all principal collected</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652881">
                <a:tc>
                  <a:txBody>
                    <a:bodyPr wrap="square" lIns="45720" rIns="45720" tIns="27432" bIns="27432"/>
                    <a:lstStyle/>
                    <a:p>
                      <a:pPr algn="l">
                        <a:spcAft>
                          <a:spcPts val="0"/>
                        </a:spcAft>
                      </a:pPr>
                      <a:r>
                        <a:rPr sz="900" b="0">
                          <a:solidFill>
                            <a:srgbClr val="202230"/>
                          </a:solidFill>
                          <a:latin typeface="Aptos"/>
                        </a:rPr>
                        <a:t>95%</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00" b="0">
                          <a:solidFill>
                            <a:srgbClr val="202230"/>
                          </a:solidFill>
                          <a:latin typeface="Aptos"/>
                        </a:rPr>
                        <a:t>$27,657,437.50</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00" b="0">
                          <a:solidFill>
                            <a:srgbClr val="202230"/>
                          </a:solidFill>
                          <a:latin typeface="Aptos"/>
                        </a:rPr>
                        <a:t>$1,077,562.50</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900" b="0">
                          <a:solidFill>
                            <a:srgbClr val="202230"/>
                          </a:solidFill>
                          <a:latin typeface="Aptos"/>
                        </a:rPr>
                        <a:t>Credit leakage begins to offset timing value</a:t>
                      </a:r>
                    </a:p>
                  </a:txBody>
                  <a:tcPr>
                    <a:solidFill>
                      <a:srgbClr val="EDF2F4"/>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652881">
                <a:tc>
                  <a:txBody>
                    <a:bodyPr wrap="square" lIns="45720" rIns="45720" tIns="27432" bIns="27432"/>
                    <a:lstStyle/>
                    <a:p>
                      <a:pPr algn="l">
                        <a:spcAft>
                          <a:spcPts val="0"/>
                        </a:spcAft>
                      </a:pPr>
                      <a:r>
                        <a:rPr sz="900" b="0">
                          <a:solidFill>
                            <a:srgbClr val="202230"/>
                          </a:solidFill>
                          <a:latin typeface="Aptos"/>
                        </a:rPr>
                        <a:t>90%</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00" b="0">
                          <a:solidFill>
                            <a:srgbClr val="202230"/>
                          </a:solidFill>
                          <a:latin typeface="Aptos"/>
                        </a:rPr>
                        <a:t>$26,579,875.00</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00" b="0">
                          <a:solidFill>
                            <a:srgbClr val="202230"/>
                          </a:solidFill>
                          <a:latin typeface="Aptos"/>
                        </a:rPr>
                        <a:t>$2,155,125.00</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900" b="0">
                          <a:solidFill>
                            <a:srgbClr val="202230"/>
                          </a:solidFill>
                          <a:latin typeface="Aptos"/>
                        </a:rPr>
                        <a:t>Material erosion of economics</a:t>
                      </a:r>
                    </a:p>
                  </a:txBody>
                  <a:tcPr>
                    <a:solidFill>
                      <a:srgbClr val="FFFFFF"/>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r h="652881">
                <a:tc>
                  <a:txBody>
                    <a:bodyPr wrap="square" lIns="45720" rIns="45720" tIns="27432" bIns="27432"/>
                    <a:lstStyle/>
                    <a:p>
                      <a:pPr algn="l">
                        <a:spcAft>
                          <a:spcPts val="0"/>
                        </a:spcAft>
                      </a:pPr>
                      <a:r>
                        <a:rPr sz="900" b="1">
                          <a:solidFill>
                            <a:srgbClr val="D90429"/>
                          </a:solidFill>
                          <a:latin typeface="Aptos"/>
                        </a:rPr>
                        <a:t>80%</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00" b="1">
                          <a:solidFill>
                            <a:srgbClr val="D90429"/>
                          </a:solidFill>
                          <a:latin typeface="Aptos"/>
                        </a:rPr>
                        <a:t>$24,424,750.00</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r">
                        <a:spcAft>
                          <a:spcPts val="0"/>
                        </a:spcAft>
                      </a:pPr>
                      <a:r>
                        <a:rPr sz="900" b="1">
                          <a:solidFill>
                            <a:srgbClr val="D90429"/>
                          </a:solidFill>
                          <a:latin typeface="Aptos"/>
                        </a:rPr>
                        <a:t>$4,310,250.00</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c>
                  <a:txBody>
                    <a:bodyPr wrap="square" lIns="45720" rIns="45720" tIns="27432" bIns="27432"/>
                    <a:lstStyle/>
                    <a:p>
                      <a:pPr algn="l">
                        <a:spcAft>
                          <a:spcPts val="0"/>
                        </a:spcAft>
                      </a:pPr>
                      <a:r>
                        <a:rPr sz="900" b="1">
                          <a:solidFill>
                            <a:srgbClr val="D90429"/>
                          </a:solidFill>
                          <a:latin typeface="Aptos"/>
                        </a:rPr>
                        <a:t>Deferral does not compensate for principal loss</a:t>
                      </a:r>
                    </a:p>
                  </a:txBody>
                  <a:tcPr>
                    <a:solidFill>
                      <a:srgbClr val="FBEAEC"/>
                    </a:solidFill>
                    <a:lnL w="6350">
                      <a:solidFill>
                        <a:srgbClr val="CDD4DA"/>
                      </a:solidFill>
                      <a:prstDash val="solid"/>
                    </a:lnL>
                    <a:lnR w="6350">
                      <a:solidFill>
                        <a:srgbClr val="CDD4DA"/>
                      </a:solidFill>
                      <a:prstDash val="solid"/>
                    </a:lnR>
                    <a:lnT w="6350">
                      <a:solidFill>
                        <a:srgbClr val="CDD4DA"/>
                      </a:solidFill>
                      <a:prstDash val="solid"/>
                    </a:lnT>
                    <a:lnB w="6350">
                      <a:solidFill>
                        <a:srgbClr val="CDD4DA"/>
                      </a:solidFill>
                      <a:prstDash val="solid"/>
                    </a:lnB>
                  </a:tcPr>
                </a:tc>
              </a:tr>
            </a:tbl>
          </a:graphicData>
        </a:graphic>
      </p:graphicFrame>
      <p:sp>
        <p:nvSpPr>
          <p:cNvPr id="14" name="Rounded Rectangle 13"/>
          <p:cNvSpPr/>
          <p:nvPr/>
        </p:nvSpPr>
        <p:spPr>
          <a:xfrm>
            <a:off x="594360" y="5047488"/>
            <a:ext cx="10972800" cy="859536"/>
          </a:xfrm>
          <a:prstGeom prst="roundRect">
            <a:avLst>
              <a:gd name="adj" fmla="val 8000"/>
            </a:avLst>
          </a:prstGeom>
          <a:solidFill>
            <a:srgbClr val="EDF2F4"/>
          </a:solidFill>
          <a:ln w="8890">
            <a:solidFill>
              <a:srgbClr val="CDD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5257800"/>
            <a:ext cx="1965960" cy="201168"/>
          </a:xfrm>
          <a:prstGeom prst="rect">
            <a:avLst/>
          </a:prstGeom>
          <a:noFill/>
        </p:spPr>
        <p:txBody>
          <a:bodyPr wrap="square" lIns="0" rIns="0" tIns="0" bIns="0" anchor="t">
            <a:spAutoFit/>
          </a:bodyPr>
          <a:lstStyle/>
          <a:p>
            <a:pPr algn="l">
              <a:spcAft>
                <a:spcPts val="0"/>
              </a:spcAft>
            </a:pPr>
            <a:r>
              <a:rPr sz="900" b="1" i="0">
                <a:solidFill>
                  <a:srgbClr val="60697A"/>
                </a:solidFill>
                <a:latin typeface="Aptos"/>
              </a:rPr>
              <a:t>Excluded from this sensitivity</a:t>
            </a:r>
          </a:p>
        </p:txBody>
      </p:sp>
      <p:sp>
        <p:nvSpPr>
          <p:cNvPr id="16" name="TextBox 15"/>
          <p:cNvSpPr txBox="1"/>
          <p:nvPr/>
        </p:nvSpPr>
        <p:spPr>
          <a:xfrm>
            <a:off x="2862072" y="5212080"/>
            <a:ext cx="8183879" cy="320040"/>
          </a:xfrm>
          <a:prstGeom prst="rect">
            <a:avLst/>
          </a:prstGeom>
          <a:noFill/>
        </p:spPr>
        <p:txBody>
          <a:bodyPr wrap="square" lIns="0" rIns="0" tIns="0" bIns="0" anchor="t">
            <a:spAutoFit/>
          </a:bodyPr>
          <a:lstStyle/>
          <a:p>
            <a:pPr algn="l">
              <a:spcAft>
                <a:spcPts val="0"/>
              </a:spcAft>
            </a:pPr>
            <a:r>
              <a:rPr sz="1030" b="1" i="0">
                <a:solidFill>
                  <a:srgbClr val="2B2D42"/>
                </a:solidFill>
                <a:latin typeface="Aptos"/>
              </a:rPr>
              <a:t>Bad-debt tax treatment, timing, accrued interest, legal costs, and collateral proceeds require separate analysis.</a:t>
            </a:r>
          </a:p>
        </p:txBody>
      </p:sp>
      <p:sp>
        <p:nvSpPr>
          <p:cNvPr id="17" name="TextBox 16"/>
          <p:cNvSpPr txBox="1"/>
          <p:nvPr/>
        </p:nvSpPr>
        <p:spPr>
          <a:xfrm>
            <a:off x="2862072" y="5577840"/>
            <a:ext cx="8183879" cy="201168"/>
          </a:xfrm>
          <a:prstGeom prst="rect">
            <a:avLst/>
          </a:prstGeom>
          <a:noFill/>
        </p:spPr>
        <p:txBody>
          <a:bodyPr wrap="square" lIns="0" rIns="0" tIns="0" bIns="0" anchor="t">
            <a:spAutoFit/>
          </a:bodyPr>
          <a:lstStyle/>
          <a:p>
            <a:pPr algn="l">
              <a:spcAft>
                <a:spcPts val="0"/>
              </a:spcAft>
            </a:pPr>
            <a:r>
              <a:rPr sz="900" b="1" i="0">
                <a:solidFill>
                  <a:srgbClr val="D90429"/>
                </a:solidFill>
                <a:latin typeface="Aptos"/>
              </a:rPr>
              <a:t>Credit approval remains a condition precedent.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Fairfax &amp; 3rd Disposition Tax Structuring</dc:title>
  <dc:subject>Investment Committee executive briefing — 2025-Q3</dc:subject>
  <dc:creator>Agree Realty Corporation Tax Planning and Transactions team</dc:creator>
  <cp:keywords/>
  <dc:description>Privileged &amp; Confidential — Tax Planning Draft</dc:description>
  <cp:lastModifiedBy>Steve Canny</cp:lastModifiedBy>
  <cp:revision>1</cp:revision>
  <dcterms:created xsi:type="dcterms:W3CDTF">2013-01-27T09:14:16Z</dcterms:created>
  <dcterms:modified xsi:type="dcterms:W3CDTF">2013-01-27T09:15:58Z</dcterms:modified>
  <cp:category/>
</cp:coreProperties>
</file>